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  <p:sldMasterId id="2147483663" r:id="rId2"/>
  </p:sldMasterIdLst>
  <p:notesMasterIdLst>
    <p:notesMasterId r:id="rId28"/>
  </p:notesMasterIdLst>
  <p:sldIdLst>
    <p:sldId id="3394" r:id="rId3"/>
    <p:sldId id="3395" r:id="rId4"/>
    <p:sldId id="3396" r:id="rId5"/>
    <p:sldId id="284" r:id="rId6"/>
    <p:sldId id="259" r:id="rId7"/>
    <p:sldId id="262" r:id="rId8"/>
    <p:sldId id="3401" r:id="rId9"/>
    <p:sldId id="263" r:id="rId10"/>
    <p:sldId id="287" r:id="rId11"/>
    <p:sldId id="275" r:id="rId12"/>
    <p:sldId id="268" r:id="rId13"/>
    <p:sldId id="288" r:id="rId14"/>
    <p:sldId id="289" r:id="rId15"/>
    <p:sldId id="290" r:id="rId16"/>
    <p:sldId id="291" r:id="rId17"/>
    <p:sldId id="285" r:id="rId18"/>
    <p:sldId id="281" r:id="rId19"/>
    <p:sldId id="292" r:id="rId20"/>
    <p:sldId id="3393" r:id="rId21"/>
    <p:sldId id="3397" r:id="rId22"/>
    <p:sldId id="256" r:id="rId23"/>
    <p:sldId id="3398" r:id="rId24"/>
    <p:sldId id="3399" r:id="rId25"/>
    <p:sldId id="3400" r:id="rId26"/>
    <p:sldId id="286" r:id="rId27"/>
  </p:sldIdLst>
  <p:sldSz cx="18288000" cy="10287000"/>
  <p:notesSz cx="6858000" cy="9144000"/>
  <p:embeddedFontLst>
    <p:embeddedFont>
      <p:font typeface="Microsoft Sans Serif" panose="020B0604020202020204" pitchFamily="34" charset="0"/>
      <p:regular r:id="rId29"/>
    </p:embeddedFont>
    <p:embeddedFont>
      <p:font typeface="Roboto" panose="020B0604020202020204" charset="0"/>
      <p:regular r:id="rId30"/>
      <p:bold r:id="rId31"/>
    </p:embeddedFont>
    <p:embeddedFont>
      <p:font typeface="Garamond" panose="02020404030301010803" pitchFamily="18" charset="0"/>
      <p:regular r:id="rId32"/>
      <p:bold r:id="rId33"/>
      <p:italic r:id="rId34"/>
    </p:embeddedFont>
    <p:embeddedFont>
      <p:font typeface="Calibri" panose="020F0502020204030204" pitchFamily="34" charset="0"/>
      <p:regular r:id="rId35"/>
      <p:bold r:id="rId36"/>
      <p:italic r:id="rId37"/>
      <p:boldItalic r:id="rId38"/>
    </p:embeddedFont>
    <p:embeddedFont>
      <p:font typeface="Poppins" panose="020B0604020202020204" charset="0"/>
      <p:regular r:id="rId39"/>
      <p:bold r:id="rId40"/>
      <p:italic r:id="rId41"/>
      <p:boldItalic r:id="rId42"/>
    </p:embeddedFont>
    <p:embeddedFont>
      <p:font typeface="Berlin Sans FB" panose="020E0602020502020306" pitchFamily="34" charset="0"/>
      <p:regular r:id="rId43"/>
      <p:bold r:id="rId44"/>
    </p:embeddedFont>
    <p:embeddedFont>
      <p:font typeface="Lato Light" panose="020B0604020202020204" charset="0"/>
      <p:regular r:id="rId45"/>
      <p:italic r:id="rId46"/>
    </p:embeddedFont>
    <p:embeddedFont>
      <p:font typeface="Open Sans Light" panose="020B0604020202020204" charset="0"/>
      <p:regular r:id="rId47"/>
      <p:italic r:id="rId48"/>
    </p:embeddedFont>
    <p:embeddedFont>
      <p:font typeface="Arial Rounded MT Bold" panose="020F0704030504030204" pitchFamily="34" charset="0"/>
      <p:regular r:id="rId4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88E"/>
    <a:srgbClr val="5252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203" autoAdjust="0"/>
    <p:restoredTop sz="94622" autoAdjust="0"/>
  </p:normalViewPr>
  <p:slideViewPr>
    <p:cSldViewPr>
      <p:cViewPr varScale="1">
        <p:scale>
          <a:sx n="43" d="100"/>
          <a:sy n="43" d="100"/>
        </p:scale>
        <p:origin x="98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11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font" Target="fonts/font6.fntdata"/><Relationship Id="rId42" Type="http://schemas.openxmlformats.org/officeDocument/2006/relationships/font" Target="fonts/font14.fntdata"/><Relationship Id="rId47" Type="http://schemas.openxmlformats.org/officeDocument/2006/relationships/font" Target="fonts/font19.fntdata"/><Relationship Id="rId50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46" Type="http://schemas.openxmlformats.org/officeDocument/2006/relationships/font" Target="fonts/font18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1.fntdata"/><Relationship Id="rId41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45" Type="http://schemas.openxmlformats.org/officeDocument/2006/relationships/font" Target="fonts/font17.fntdata"/><Relationship Id="rId53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49" Type="http://schemas.openxmlformats.org/officeDocument/2006/relationships/font" Target="fonts/font21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3.fntdata"/><Relationship Id="rId44" Type="http://schemas.openxmlformats.org/officeDocument/2006/relationships/font" Target="fonts/font16.fntdata"/><Relationship Id="rId52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font" Target="fonts/font15.fntdata"/><Relationship Id="rId48" Type="http://schemas.openxmlformats.org/officeDocument/2006/relationships/font" Target="fonts/font20.fntdata"/><Relationship Id="rId8" Type="http://schemas.openxmlformats.org/officeDocument/2006/relationships/slide" Target="slides/slide6.xml"/><Relationship Id="rId5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11D351-32DE-4807-80FC-BCEBF253771B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2F2807-927D-4930-950F-E44328B4C6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4417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solidFill>
                  <a:prstClr val="black"/>
                </a:solidFill>
              </a:rPr>
              <a:pPr/>
              <a:t>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6446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2F2807-927D-4930-950F-E44328B4C6ED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8152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E2F2807-927D-4930-950F-E44328B4C6ED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8152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90EF5-C352-43F5-9B0E-E5341B69BE1A}" type="datetime1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DCE30-A2D3-455A-A052-F59A7EE17397}" type="datetime1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97A4E-FCE9-4CDC-81E9-95D34617755F}" type="datetime1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95DD9-A9F8-4D60-8697-FB43EC6B1710}" type="datetime1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B001-D2CB-4BA2-A88F-C2DD3BA01ABA}" type="datetime1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D80D6-8582-4D58-AAE9-36D763AC42B3}" type="datetime1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6BB61-EE14-4779-9C73-4C9D8963F684}" type="datetime1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5D608-CC2E-4E94-AEC0-BCA8C103E61F}" type="datetime1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CBEC2-C59E-4672-AADA-30B14D92EB75}" type="datetime1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5ED7E-DEF6-436D-995A-26EF858C7D07}" type="datetime1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E5C0C-493E-4AAF-A682-54606BF9BFC9}" type="datetime1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7">
            <a:extLst>
              <a:ext uri="{FF2B5EF4-FFF2-40B4-BE49-F238E27FC236}">
                <a16:creationId xmlns="" xmlns:a16="http://schemas.microsoft.com/office/drawing/2014/main" id="{203AD769-FC64-1343-B821-6DD90E2432A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1" y="1983923"/>
            <a:ext cx="18288002" cy="63191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96232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A2F3C88B-1F55-4105-9C1D-5E64BBD0FA2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"/>
            <a:ext cx="18288000" cy="10287000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="" xmlns:a16="http://schemas.microsoft.com/office/drawing/2014/main" id="{CA6B491E-988A-A9DA-EF60-DC4D3C588996}"/>
              </a:ext>
            </a:extLst>
          </p:cNvPr>
          <p:cNvSpPr txBox="1">
            <a:spLocks/>
          </p:cNvSpPr>
          <p:nvPr userDrawn="1"/>
        </p:nvSpPr>
        <p:spPr>
          <a:xfrm>
            <a:off x="274320" y="9488805"/>
            <a:ext cx="1562100" cy="600075"/>
          </a:xfrm>
          <a:prstGeom prst="rect">
            <a:avLst/>
          </a:prstGeom>
        </p:spPr>
        <p:txBody>
          <a:bodyPr vert="horz" lIns="137160" tIns="68580" rIns="137160" bIns="6858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C2D301A1-2F21-458D-B739-FC390CBE8736}" type="slidenum">
              <a:rPr lang="en-IN" sz="2100" b="1" smtClean="0"/>
              <a:pPr algn="l"/>
              <a:t>‹#›</a:t>
            </a:fld>
            <a:endParaRPr lang="en-IN" sz="2100" b="1" dirty="0"/>
          </a:p>
        </p:txBody>
      </p:sp>
    </p:spTree>
    <p:extLst>
      <p:ext uri="{BB962C8B-B14F-4D97-AF65-F5344CB8AC3E}">
        <p14:creationId xmlns:p14="http://schemas.microsoft.com/office/powerpoint/2010/main" val="41013788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07008" y="480060"/>
            <a:ext cx="5486400" cy="48006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48A87A34-81AB-432B-8DAE-1953F412C126}" type="datetimeFigureOut">
              <a:rPr lang="en-US" dirty="0"/>
              <a:pPr/>
              <a:t>4/10/2026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5704820" y="480060"/>
            <a:ext cx="1371600" cy="48006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4663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2373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2D490-2B2E-4893-A3E3-CFCB1AE5A940}" type="datetime1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2719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hf sldNum="0" hdr="0" ftr="0" dt="0"/>
  <p:txStyles>
    <p:titleStyle>
      <a:lvl1pPr algn="ctr" defTabSz="1828800" rtl="0" eaLnBrk="1" latinLnBrk="0" hangingPunct="1"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85800" indent="-685800" algn="l" defTabSz="1828800" rtl="0" eaLnBrk="1" latinLnBrk="0" hangingPunct="1">
        <a:spcBef>
          <a:spcPct val="20000"/>
        </a:spcBef>
        <a:buFont typeface="Arial" pitchFamily="34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1pPr>
      <a:lvl2pPr marL="1485900" indent="-571500" algn="l" defTabSz="1828800" rtl="0" eaLnBrk="1" latinLnBrk="0" hangingPunct="1">
        <a:spcBef>
          <a:spcPct val="20000"/>
        </a:spcBef>
        <a:buFont typeface="Arial" pitchFamily="34" charset="0"/>
        <a:buChar char="–"/>
        <a:defRPr sz="56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spcBef>
          <a:spcPct val="20000"/>
        </a:spcBef>
        <a:buFont typeface="Arial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spcBef>
          <a:spcPct val="20000"/>
        </a:spcBef>
        <a:buFont typeface="Arial" pitchFamily="34" charset="0"/>
        <a:buChar char="–"/>
        <a:defRPr sz="40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spcBef>
          <a:spcPct val="20000"/>
        </a:spcBef>
        <a:buFont typeface="Arial" pitchFamily="34" charset="0"/>
        <a:buChar char="»"/>
        <a:defRPr sz="40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spcBef>
          <a:spcPct val="20000"/>
        </a:spcBef>
        <a:buFont typeface="Arial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spcBef>
          <a:spcPct val="20000"/>
        </a:spcBef>
        <a:buFont typeface="Arial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spcBef>
          <a:spcPct val="20000"/>
        </a:spcBef>
        <a:buFont typeface="Arial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spcBef>
          <a:spcPct val="20000"/>
        </a:spcBef>
        <a:buFont typeface="Arial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hyperlink" Target="https://geoportal.mp.gov.in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17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eg"/><Relationship Id="rId3" Type="http://schemas.openxmlformats.org/officeDocument/2006/relationships/image" Target="../media/image4.png"/><Relationship Id="rId7" Type="http://schemas.openxmlformats.org/officeDocument/2006/relationships/image" Target="../media/image2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Relationship Id="rId9" Type="http://schemas.openxmlformats.org/officeDocument/2006/relationships/image" Target="../media/image2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9.svg"/><Relationship Id="rId7" Type="http://schemas.openxmlformats.org/officeDocument/2006/relationships/image" Target="../media/image41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11.png"/><Relationship Id="rId10" Type="http://schemas.openxmlformats.org/officeDocument/2006/relationships/image" Target="../media/image44.png"/><Relationship Id="rId4" Type="http://schemas.openxmlformats.org/officeDocument/2006/relationships/image" Target="../media/image4.png"/><Relationship Id="rId9" Type="http://schemas.openxmlformats.org/officeDocument/2006/relationships/image" Target="../media/image4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7" Type="http://schemas.openxmlformats.org/officeDocument/2006/relationships/image" Target="../media/image47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jp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33.jpe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11" Type="http://schemas.openxmlformats.org/officeDocument/2006/relationships/image" Target="../media/image11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15.jpeg"/><Relationship Id="rId9" Type="http://schemas.openxmlformats.org/officeDocument/2006/relationships/image" Target="../media/image5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7" Type="http://schemas.openxmlformats.org/officeDocument/2006/relationships/image" Target="../media/image59.jpe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8.jpeg"/><Relationship Id="rId5" Type="http://schemas.openxmlformats.org/officeDocument/2006/relationships/image" Target="../media/image57.jpg"/><Relationship Id="rId4" Type="http://schemas.openxmlformats.org/officeDocument/2006/relationships/image" Target="../media/image56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2.png"/><Relationship Id="rId4" Type="http://schemas.openxmlformats.org/officeDocument/2006/relationships/image" Target="../media/image61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7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4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4.png"/><Relationship Id="rId7" Type="http://schemas.openxmlformats.org/officeDocument/2006/relationships/image" Target="../media/image68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67.png"/><Relationship Id="rId5" Type="http://schemas.openxmlformats.org/officeDocument/2006/relationships/hyperlink" Target="https://play.google.com/store/apps/details?id=com.mpssdi.parakh&amp;pcampaignid=web_share" TargetMode="External"/><Relationship Id="rId4" Type="http://schemas.openxmlformats.org/officeDocument/2006/relationships/image" Target="../media/image6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="" xmlns:a16="http://schemas.microsoft.com/office/drawing/2014/main" id="{AC66E5D9-10A0-F283-CB92-57185FC05C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09800" y="3467100"/>
            <a:ext cx="16089086" cy="68199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0665B44B-47F0-119D-002B-62D820A117AA}"/>
              </a:ext>
            </a:extLst>
          </p:cNvPr>
          <p:cNvSpPr txBox="1"/>
          <p:nvPr/>
        </p:nvSpPr>
        <p:spPr>
          <a:xfrm>
            <a:off x="7924800" y="1837372"/>
            <a:ext cx="10374086" cy="147732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5400" b="1" spc="-145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Dynamic Forms </a:t>
            </a:r>
          </a:p>
          <a:p>
            <a:r>
              <a:rPr lang="en-US" sz="3600" b="1" spc="-145" dirty="0">
                <a:solidFill>
                  <a:srgbClr val="00B88E"/>
                </a:solidFill>
                <a:latin typeface="Poppins" pitchFamily="2" charset="77"/>
                <a:cs typeface="Poppins" pitchFamily="2" charset="77"/>
              </a:rPr>
              <a:t>Survey, Inspection and General Purpose </a:t>
            </a:r>
            <a:endParaRPr lang="en-US" sz="2400" b="1" spc="-145" dirty="0">
              <a:solidFill>
                <a:srgbClr val="00B88E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5" name="Google Shape;416;p93">
            <a:extLst>
              <a:ext uri="{FF2B5EF4-FFF2-40B4-BE49-F238E27FC236}">
                <a16:creationId xmlns="" xmlns:a16="http://schemas.microsoft.com/office/drawing/2014/main" id="{ADBAA99E-6E15-3E92-ACD3-4C0B34FD2FDC}"/>
              </a:ext>
            </a:extLst>
          </p:cNvPr>
          <p:cNvSpPr txBox="1"/>
          <p:nvPr/>
        </p:nvSpPr>
        <p:spPr>
          <a:xfrm>
            <a:off x="8763000" y="9182100"/>
            <a:ext cx="10515599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D515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M.P. State Electronics Development Corporation Ltd.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D515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 Government of MP Undertaking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Garamond" panose="02020404030301010803" pitchFamily="18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371BDD1D-12A9-5012-7102-AB8A5927490C}"/>
              </a:ext>
            </a:extLst>
          </p:cNvPr>
          <p:cNvSpPr txBox="1"/>
          <p:nvPr/>
        </p:nvSpPr>
        <p:spPr>
          <a:xfrm>
            <a:off x="10363200" y="9682843"/>
            <a:ext cx="73270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67"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4"/>
              </a:rPr>
              <a:t>https://geoportal.mp.gov.in/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80C007F4-9D64-2296-EB09-7E544E53016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46" t="7778" r="3535" b="64815"/>
          <a:stretch/>
        </p:blipFill>
        <p:spPr>
          <a:xfrm>
            <a:off x="-392874" y="800100"/>
            <a:ext cx="7555674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990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16078200" y="242906"/>
            <a:ext cx="1915029" cy="1477646"/>
          </a:xfrm>
          <a:custGeom>
            <a:avLst/>
            <a:gdLst/>
            <a:ahLst/>
            <a:cxnLst/>
            <a:rect l="l" t="t" r="r" b="b"/>
            <a:pathLst>
              <a:path w="1915029" h="1477646">
                <a:moveTo>
                  <a:pt x="0" y="0"/>
                </a:moveTo>
                <a:lnTo>
                  <a:pt x="1915029" y="0"/>
                </a:lnTo>
                <a:lnTo>
                  <a:pt x="1915029" y="1477646"/>
                </a:lnTo>
                <a:lnTo>
                  <a:pt x="0" y="14776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792960" y="2933700"/>
            <a:ext cx="14702080" cy="3016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just">
              <a:buNone/>
            </a:pPr>
            <a:endParaRPr lang="en-US" sz="2800" dirty="0">
              <a:solidFill>
                <a:srgbClr val="00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800" dirty="0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800" dirty="0">
              <a:solidFill>
                <a:srgbClr val="00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800" dirty="0">
              <a:solidFill>
                <a:srgbClr val="00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800" dirty="0">
              <a:solidFill>
                <a:srgbClr val="00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800" dirty="0">
              <a:solidFill>
                <a:srgbClr val="00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800" dirty="0">
              <a:solidFill>
                <a:srgbClr val="00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63386" y="557578"/>
            <a:ext cx="13008356" cy="10252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8259"/>
              </a:lnSpc>
              <a:spcBef>
                <a:spcPct val="0"/>
              </a:spcBef>
            </a:pPr>
            <a:r>
              <a:rPr lang="en-US" sz="6000" b="1" spc="200" dirty="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About Parakh</a:t>
            </a:r>
            <a:endParaRPr lang="en-US" sz="5899" dirty="0">
              <a:solidFill>
                <a:srgbClr val="000000"/>
              </a:solidFill>
              <a:cs typeface="Canva Sans Bold"/>
            </a:endParaRPr>
          </a:p>
        </p:txBody>
      </p:sp>
      <p:sp>
        <p:nvSpPr>
          <p:cNvPr id="2" name="TextBox 6">
            <a:extLst>
              <a:ext uri="{FF2B5EF4-FFF2-40B4-BE49-F238E27FC236}">
                <a16:creationId xmlns="" xmlns:a16="http://schemas.microsoft.com/office/drawing/2014/main" id="{F5050848-6AC9-C331-0F0F-E04C951CF553}"/>
              </a:ext>
            </a:extLst>
          </p:cNvPr>
          <p:cNvSpPr txBox="1"/>
          <p:nvPr/>
        </p:nvSpPr>
        <p:spPr>
          <a:xfrm>
            <a:off x="990600" y="1866900"/>
            <a:ext cx="16899467" cy="75866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Developed by Madhya Pradesh State Electronics Development Corporation. </a:t>
            </a:r>
          </a:p>
          <a:p>
            <a:pPr marL="0" indent="0" algn="just">
              <a:buNone/>
            </a:pPr>
            <a:endParaRPr lang="en-US" sz="3200" dirty="0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457200" indent="-457200" algn="just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Parakh is a solution that equip the departments to create custom forms for Surveys</a:t>
            </a:r>
            <a:r>
              <a:rPr lang="en-US" sz="3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32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I</a:t>
            </a:r>
            <a:r>
              <a:rPr lang="en-US" sz="3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nspection, Data </a:t>
            </a:r>
            <a:r>
              <a:rPr lang="en-US" sz="32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C</a:t>
            </a:r>
            <a:r>
              <a:rPr lang="en-US" sz="3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ollection,</a:t>
            </a:r>
            <a:r>
              <a:rPr lang="en-US" sz="32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and General purposes. </a:t>
            </a:r>
          </a:p>
          <a:p>
            <a:pPr marL="457200" indent="-457200" algn="just">
              <a:spcBef>
                <a:spcPts val="600"/>
              </a:spcBef>
              <a:buFont typeface="Wingdings" panose="05000000000000000000" pitchFamily="2" charset="2"/>
              <a:buChar char="Ø"/>
            </a:pPr>
            <a:endParaRPr lang="en-US" sz="3200" dirty="0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457200" indent="-457200" algn="just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Parakh Survey and Inspection forms are enabled with workflow: </a:t>
            </a:r>
          </a:p>
          <a:p>
            <a:pPr marL="1428750" lvl="2" indent="-5143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Department’s Field Officer first conduct a survey or Inspection.</a:t>
            </a:r>
          </a:p>
          <a:p>
            <a:pPr marL="1428750" lvl="2" indent="-5143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The Nodal Officer/Reporting Officer then verify (Approve or Reject) the conducted surveys or inspections. </a:t>
            </a:r>
            <a:endParaRPr lang="en-US" sz="1200" dirty="0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1428750" lvl="2" indent="-5143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514350" indent="-514350" algn="just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General Purpose forms are data collection forms which requires no workflow. </a:t>
            </a:r>
          </a:p>
          <a:p>
            <a:pPr marL="457200" indent="-457200" algn="just">
              <a:spcBef>
                <a:spcPts val="600"/>
              </a:spcBef>
              <a:buFont typeface="Wingdings" panose="05000000000000000000" pitchFamily="2" charset="2"/>
              <a:buChar char="Ø"/>
            </a:pPr>
            <a:endParaRPr lang="en-US" sz="32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457200" indent="-457200" algn="just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000000"/>
                </a:solidFill>
                <a:latin typeface="Calibri" panose="020F0502020204030204" pitchFamily="34" charset="0"/>
              </a:rPr>
              <a:t>Parakh also enables “Citizens” and “Agencies” to fill out the forms, which are initiated by the respective department.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="" xmlns:a16="http://schemas.microsoft.com/office/drawing/2014/main" id="{299C2FB6-AF8F-2C47-8998-AD2BEFB881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76200" y="0"/>
            <a:ext cx="18364200" cy="10386701"/>
          </a:xfrm>
          <a:prstGeom prst="rect">
            <a:avLst/>
          </a:prstGeom>
        </p:spPr>
      </p:pic>
      <p:sp>
        <p:nvSpPr>
          <p:cNvPr id="4" name="Freeform 4"/>
          <p:cNvSpPr/>
          <p:nvPr/>
        </p:nvSpPr>
        <p:spPr>
          <a:xfrm>
            <a:off x="16078200" y="336290"/>
            <a:ext cx="1915029" cy="1477646"/>
          </a:xfrm>
          <a:custGeom>
            <a:avLst/>
            <a:gdLst/>
            <a:ahLst/>
            <a:cxnLst/>
            <a:rect l="l" t="t" r="r" b="b"/>
            <a:pathLst>
              <a:path w="1915029" h="1477646">
                <a:moveTo>
                  <a:pt x="0" y="0"/>
                </a:moveTo>
                <a:lnTo>
                  <a:pt x="1915029" y="0"/>
                </a:lnTo>
                <a:lnTo>
                  <a:pt x="1915029" y="1477646"/>
                </a:lnTo>
                <a:lnTo>
                  <a:pt x="0" y="14776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84415" y="542445"/>
            <a:ext cx="14956971" cy="10004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8259"/>
              </a:lnSpc>
              <a:spcBef>
                <a:spcPct val="0"/>
              </a:spcBef>
            </a:pPr>
            <a:r>
              <a:rPr lang="en-US" sz="6000" b="1" spc="200" dirty="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What makes Parakh unique ?</a:t>
            </a:r>
            <a:endParaRPr lang="en-US" sz="5899" dirty="0">
              <a:solidFill>
                <a:srgbClr val="000000"/>
              </a:solidFill>
              <a:cs typeface="Canva Sans 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DFDE7906-7B82-0611-0D00-992E194BE44E}"/>
              </a:ext>
            </a:extLst>
          </p:cNvPr>
          <p:cNvSpPr txBox="1"/>
          <p:nvPr/>
        </p:nvSpPr>
        <p:spPr>
          <a:xfrm>
            <a:off x="474387" y="1790700"/>
            <a:ext cx="16137214" cy="8156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000" b="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Custom Forms:</a:t>
            </a:r>
            <a:r>
              <a:rPr lang="en-US" sz="40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solidFill>
                  <a:srgbClr val="000000"/>
                </a:solidFill>
                <a:latin typeface="Calibri" panose="020F0502020204030204" pitchFamily="34" charset="0"/>
              </a:rPr>
              <a:t>GIS enabled multi purpose forms can be created. </a:t>
            </a:r>
          </a:p>
          <a:p>
            <a:pPr marL="620713"/>
            <a:r>
              <a:rPr lang="en-US" sz="2400" dirty="0">
                <a:solidFill>
                  <a:schemeClr val="tx2"/>
                </a:solidFill>
                <a:latin typeface="Calibri" panose="020F0502020204030204" pitchFamily="34" charset="0"/>
              </a:rPr>
              <a:t>Usage could be for Survey, Inspection, Data Collection, Questionnaire or General Purpose.  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endParaRPr lang="en-US" sz="4000" dirty="0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+mn-cs"/>
              </a:rPr>
              <a:t>Ease of Use: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+mn-cs"/>
              </a:rPr>
              <a:t> </a:t>
            </a:r>
            <a:r>
              <a:rPr lang="en-US" sz="3200" dirty="0">
                <a:solidFill>
                  <a:srgbClr val="000000"/>
                </a:solidFill>
                <a:latin typeface="Calibri" panose="020F0502020204030204" pitchFamily="34" charset="0"/>
              </a:rPr>
              <a:t>Department’s admin Or business user can create their own custom forms.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+mn-cs"/>
              </a:rPr>
              <a:t> </a:t>
            </a:r>
            <a:b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+mn-cs"/>
              </a:rPr>
              <a:t>No dependencies on code/development/build.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Times New Roman" panose="02020603050405020304" pitchFamily="18" charset="0"/>
              <a:cs typeface="+mn-cs"/>
            </a:endParaRPr>
          </a:p>
          <a:p>
            <a:pPr marL="571500" indent="-571500">
              <a:buFont typeface="Wingdings" panose="05000000000000000000" pitchFamily="2" charset="2"/>
              <a:buChar char="v"/>
            </a:pP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Times New Roman" panose="02020603050405020304" pitchFamily="18" charset="0"/>
              <a:cs typeface="+mn-cs"/>
            </a:endParaRP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000" b="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Workflow:</a:t>
            </a:r>
            <a:r>
              <a:rPr lang="en-US" sz="40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solidFill>
                  <a:srgbClr val="000000"/>
                </a:solidFill>
                <a:latin typeface="Calibri" panose="020F0502020204030204" pitchFamily="34" charset="0"/>
              </a:rPr>
              <a:t>Facilitates admin to “initiate &amp; assign”,  to conduct a survey, inspection, or to fill a general form.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endParaRPr lang="en-US" sz="40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000" b="1" dirty="0">
                <a:solidFill>
                  <a:srgbClr val="000000"/>
                </a:solidFill>
                <a:latin typeface="Calibri" panose="020F0502020204030204" pitchFamily="34" charset="0"/>
              </a:rPr>
              <a:t>Reach:</a:t>
            </a:r>
            <a:r>
              <a:rPr lang="en-US" sz="40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sz="3200" dirty="0">
                <a:solidFill>
                  <a:srgbClr val="000000"/>
                </a:solidFill>
                <a:latin typeface="Calibri" panose="020F0502020204030204" pitchFamily="34" charset="0"/>
              </a:rPr>
              <a:t>Enables “Citizens” and “Agencies” to also fill out the forms, 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endParaRPr lang="en-US" sz="4000" dirty="0">
              <a:solidFill>
                <a:srgbClr val="00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0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Solution: </a:t>
            </a:r>
            <a:r>
              <a:rPr lang="en-US" sz="3200" dirty="0">
                <a:solidFill>
                  <a:srgbClr val="000000"/>
                </a:solidFill>
                <a:latin typeface="Calibri" panose="020F0502020204030204" pitchFamily="34" charset="0"/>
              </a:rPr>
              <a:t>Versatile solution designed for both Mobile and Web. 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endParaRPr lang="en-IN" sz="4000" dirty="0"/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000" b="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Quick to Launch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+mn-cs"/>
              </a:rPr>
              <a:t>:  </a:t>
            </a:r>
            <a:r>
              <a:rPr lang="en-US" sz="3200" dirty="0">
                <a:solidFill>
                  <a:srgbClr val="000000"/>
                </a:solidFill>
                <a:latin typeface="Calibri" panose="020F0502020204030204" pitchFamily="34" charset="0"/>
              </a:rPr>
              <a:t>Create a form using UI interface(web) and launch it on Mobile. </a:t>
            </a:r>
            <a:endParaRPr lang="en-IN" sz="32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1709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2AF8C74-C773-019A-FCE7-FD6A5DCAC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>
            <a:extLst>
              <a:ext uri="{FF2B5EF4-FFF2-40B4-BE49-F238E27FC236}">
                <a16:creationId xmlns="" xmlns:a16="http://schemas.microsoft.com/office/drawing/2014/main" id="{44DDC9D1-4037-F29B-4B1E-68ABD6A023F9}"/>
              </a:ext>
            </a:extLst>
          </p:cNvPr>
          <p:cNvSpPr/>
          <p:nvPr/>
        </p:nvSpPr>
        <p:spPr>
          <a:xfrm>
            <a:off x="16008313" y="160654"/>
            <a:ext cx="1915029" cy="1477646"/>
          </a:xfrm>
          <a:custGeom>
            <a:avLst/>
            <a:gdLst/>
            <a:ahLst/>
            <a:cxnLst/>
            <a:rect l="l" t="t" r="r" b="b"/>
            <a:pathLst>
              <a:path w="1915029" h="1477646">
                <a:moveTo>
                  <a:pt x="0" y="0"/>
                </a:moveTo>
                <a:lnTo>
                  <a:pt x="1915029" y="0"/>
                </a:lnTo>
                <a:lnTo>
                  <a:pt x="1915029" y="1477646"/>
                </a:lnTo>
                <a:lnTo>
                  <a:pt x="0" y="14776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TextBox 7">
            <a:extLst>
              <a:ext uri="{FF2B5EF4-FFF2-40B4-BE49-F238E27FC236}">
                <a16:creationId xmlns="" xmlns:a16="http://schemas.microsoft.com/office/drawing/2014/main" id="{D43FF3A3-5817-D0DD-FBA0-726C4B1D29F4}"/>
              </a:ext>
            </a:extLst>
          </p:cNvPr>
          <p:cNvSpPr txBox="1"/>
          <p:nvPr/>
        </p:nvSpPr>
        <p:spPr>
          <a:xfrm>
            <a:off x="636896" y="571500"/>
            <a:ext cx="15136504" cy="9275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259"/>
              </a:lnSpc>
              <a:spcBef>
                <a:spcPct val="0"/>
              </a:spcBef>
            </a:pPr>
            <a:r>
              <a:rPr lang="en-US" sz="3600" b="1" spc="-145" dirty="0">
                <a:solidFill>
                  <a:srgbClr val="00B88E"/>
                </a:solidFill>
                <a:latin typeface="Poppins" pitchFamily="2" charset="77"/>
                <a:cs typeface="Poppins" pitchFamily="2" charset="77"/>
              </a:rPr>
              <a:t>Actors in Parakh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FD4123E6-999E-09FA-FDD6-C7F34084BF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943101"/>
            <a:ext cx="8229600" cy="2685142"/>
          </a:xfrm>
          <a:prstGeom prst="rect">
            <a:avLst/>
          </a:prstGeom>
        </p:spPr>
      </p:pic>
      <p:sp>
        <p:nvSpPr>
          <p:cNvPr id="10" name="TextBox 7">
            <a:extLst>
              <a:ext uri="{FF2B5EF4-FFF2-40B4-BE49-F238E27FC236}">
                <a16:creationId xmlns="" xmlns:a16="http://schemas.microsoft.com/office/drawing/2014/main" id="{CA5BCA7D-8898-310F-8442-75174A41F7CD}"/>
              </a:ext>
            </a:extLst>
          </p:cNvPr>
          <p:cNvSpPr txBox="1"/>
          <p:nvPr/>
        </p:nvSpPr>
        <p:spPr>
          <a:xfrm>
            <a:off x="680852" y="5091191"/>
            <a:ext cx="13792200" cy="8896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8259"/>
              </a:lnSpc>
              <a:spcBef>
                <a:spcPct val="0"/>
              </a:spcBef>
            </a:pPr>
            <a:r>
              <a:rPr lang="en-US" sz="3200" b="1" u="sng" spc="200" dirty="0">
                <a:solidFill>
                  <a:schemeClr val="tx2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Inspection &amp; Survey Workflow (Department Users)</a:t>
            </a:r>
            <a:endParaRPr lang="en-US" sz="3200" u="sng" dirty="0">
              <a:solidFill>
                <a:srgbClr val="000000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="" xmlns:a16="http://schemas.microsoft.com/office/drawing/2014/main" id="{139A7132-6183-6E4D-3BA7-08C62AACC8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428" y="6168338"/>
            <a:ext cx="2175562" cy="21755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C3B34A9A-6F09-C039-98CE-F78B51A75388}"/>
              </a:ext>
            </a:extLst>
          </p:cNvPr>
          <p:cNvSpPr txBox="1"/>
          <p:nvPr/>
        </p:nvSpPr>
        <p:spPr>
          <a:xfrm>
            <a:off x="980428" y="8521875"/>
            <a:ext cx="26050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Nodal Officer assign work to field officer via web portal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="" xmlns:a16="http://schemas.microsoft.com/office/drawing/2014/main" id="{77DB9E96-9298-E11E-DE0A-D4C69FFA186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7229" y="6352252"/>
            <a:ext cx="1690629" cy="176747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A40A4B9D-E0DC-D813-D677-DC907824F7CC}"/>
              </a:ext>
            </a:extLst>
          </p:cNvPr>
          <p:cNvSpPr txBox="1"/>
          <p:nvPr/>
        </p:nvSpPr>
        <p:spPr>
          <a:xfrm>
            <a:off x="5400027" y="8491123"/>
            <a:ext cx="260503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The Field Officer sees the assigned work with all the information of the site under PARAKH application.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="" xmlns:a16="http://schemas.microsoft.com/office/drawing/2014/main" id="{F05E4870-006E-4622-7C66-956B6E124FC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7623" y="6286085"/>
            <a:ext cx="1838972" cy="183897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8B18C7B4-3697-5B5A-D194-9C7496AA3A77}"/>
              </a:ext>
            </a:extLst>
          </p:cNvPr>
          <p:cNvSpPr txBox="1"/>
          <p:nvPr/>
        </p:nvSpPr>
        <p:spPr>
          <a:xfrm>
            <a:off x="9985929" y="8429308"/>
            <a:ext cx="260503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Field officer input and capture GIS-based Inspection/Survey details through the mobile application.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="" xmlns:a16="http://schemas.microsoft.com/office/drawing/2014/main" id="{EEF148BA-ECC7-E779-9EBF-3DB914247E8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3808" y="6120259"/>
            <a:ext cx="1881563" cy="188156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611E1EAB-A487-A01E-F0BD-FBE66AA67B7C}"/>
              </a:ext>
            </a:extLst>
          </p:cNvPr>
          <p:cNvSpPr txBox="1"/>
          <p:nvPr/>
        </p:nvSpPr>
        <p:spPr>
          <a:xfrm>
            <a:off x="14571831" y="8317226"/>
            <a:ext cx="335151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</a:lstStyle>
          <a:p>
            <a:r>
              <a:rPr lang="en-US" sz="2000" dirty="0"/>
              <a:t>Following the submission of the Inspection/Survey by the field officer, the nodal officer undertakes a review and verifies the submitted data.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="" xmlns:a16="http://schemas.microsoft.com/office/drawing/2014/main" id="{65B10099-8F9D-5365-0421-BFB4BEB96DF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363909">
            <a:off x="3660317" y="6655633"/>
            <a:ext cx="1099876" cy="109987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="" xmlns:a16="http://schemas.microsoft.com/office/drawing/2014/main" id="{C0454530-18F1-2DF8-7BEA-8428521E64CB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363909">
            <a:off x="13014169" y="6539815"/>
            <a:ext cx="1331509" cy="133150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="" xmlns:a16="http://schemas.microsoft.com/office/drawing/2014/main" id="{8CC4AC83-225F-0D18-001E-718F13E0BD2D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363909">
            <a:off x="8204869" y="6674763"/>
            <a:ext cx="1099876" cy="1099876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27569032-E83F-E487-1563-89A745E88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278196" y="9765879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533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="" xmlns:a16="http://schemas.microsoft.com/office/drawing/2014/main" id="{B39B889D-FAB4-57F3-0DD0-44D24316097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 l="-1" r="-10699"/>
          <a:stretch/>
        </p:blipFill>
        <p:spPr>
          <a:xfrm flipH="1">
            <a:off x="-1981200" y="14216"/>
            <a:ext cx="20269200" cy="10325100"/>
          </a:xfrm>
          <a:prstGeom prst="rect">
            <a:avLst/>
          </a:prstGeom>
        </p:spPr>
      </p:pic>
      <p:sp>
        <p:nvSpPr>
          <p:cNvPr id="4" name="Freeform 4"/>
          <p:cNvSpPr/>
          <p:nvPr/>
        </p:nvSpPr>
        <p:spPr>
          <a:xfrm>
            <a:off x="16008313" y="0"/>
            <a:ext cx="1915029" cy="1477646"/>
          </a:xfrm>
          <a:custGeom>
            <a:avLst/>
            <a:gdLst/>
            <a:ahLst/>
            <a:cxnLst/>
            <a:rect l="l" t="t" r="r" b="b"/>
            <a:pathLst>
              <a:path w="1915029" h="1477646">
                <a:moveTo>
                  <a:pt x="0" y="0"/>
                </a:moveTo>
                <a:lnTo>
                  <a:pt x="1915029" y="0"/>
                </a:lnTo>
                <a:lnTo>
                  <a:pt x="1915029" y="1477646"/>
                </a:lnTo>
                <a:lnTo>
                  <a:pt x="0" y="14776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3" name="TextBox 6">
            <a:extLst>
              <a:ext uri="{FF2B5EF4-FFF2-40B4-BE49-F238E27FC236}">
                <a16:creationId xmlns="" xmlns:a16="http://schemas.microsoft.com/office/drawing/2014/main" id="{E7DCDFEB-E3F7-7A37-E5DB-7D7B8D1D2AD3}"/>
              </a:ext>
            </a:extLst>
          </p:cNvPr>
          <p:cNvSpPr txBox="1"/>
          <p:nvPr/>
        </p:nvSpPr>
        <p:spPr>
          <a:xfrm>
            <a:off x="609600" y="1866900"/>
            <a:ext cx="16459200" cy="8335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</a:rPr>
              <a:t>Web and Mobile Application for Department, Agency and Citizen users.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</a:rPr>
              <a:t>Self-registration via mobile app for inspection officers.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</a:rPr>
              <a:t>Reporting Officer / Nodal Officer will validate the authenticity of requested registration.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</a:rPr>
              <a:t>Enable Citizens, Agencies and Inspection officers to input and capture Inspection/Survey/General Forms details through the mobile application.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</a:rPr>
              <a:t>Incorporate geo-location features to capture the live location.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</a:rPr>
              <a:t>Option to attach photos, video documents, or other relevant files as evidence or additional information to support inspection findings.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</a:rPr>
              <a:t>Nodal and reporting officer allocated/assigned inspection Site to Inspection officer for Inspection.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</a:rPr>
              <a:t>Web portal for the Supervisor/Nodal Officer to visualize and take necessary action (Approve or Reject) the data submitted by the Inspector.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</a:rPr>
              <a:t>Enable Admin to create and edit the Forms.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</a:rPr>
              <a:t>Enable Admin to add Inspection Sites.</a:t>
            </a:r>
          </a:p>
        </p:txBody>
      </p:sp>
      <p:sp>
        <p:nvSpPr>
          <p:cNvPr id="5" name="TextBox 7">
            <a:extLst>
              <a:ext uri="{FF2B5EF4-FFF2-40B4-BE49-F238E27FC236}">
                <a16:creationId xmlns="" xmlns:a16="http://schemas.microsoft.com/office/drawing/2014/main" id="{A757602F-B33D-4C06-79BF-5BD46D7BDB3E}"/>
              </a:ext>
            </a:extLst>
          </p:cNvPr>
          <p:cNvSpPr txBox="1"/>
          <p:nvPr/>
        </p:nvSpPr>
        <p:spPr>
          <a:xfrm>
            <a:off x="636896" y="571500"/>
            <a:ext cx="11430000" cy="9275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8259"/>
              </a:lnSpc>
              <a:spcBef>
                <a:spcPct val="0"/>
              </a:spcBef>
            </a:pPr>
            <a:r>
              <a:rPr lang="en-US" sz="3600" b="1" spc="-145" dirty="0">
                <a:solidFill>
                  <a:srgbClr val="00B88E"/>
                </a:solidFill>
                <a:latin typeface="Poppins" pitchFamily="2" charset="77"/>
                <a:cs typeface="Poppins" pitchFamily="2" charset="77"/>
              </a:rPr>
              <a:t>Salient features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53356734-3A7D-1EE1-B722-DE4BEEA3F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697200" y="973405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7038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="" xmlns:a16="http://schemas.microsoft.com/office/drawing/2014/main" id="{2869F5E0-9F2A-7667-9100-F6D3F6A8E3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8288000" cy="1059180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="" xmlns:a16="http://schemas.microsoft.com/office/drawing/2014/main" id="{A37440DD-68A6-2CCB-F37E-DD35115FE093}"/>
              </a:ext>
            </a:extLst>
          </p:cNvPr>
          <p:cNvSpPr txBox="1"/>
          <p:nvPr/>
        </p:nvSpPr>
        <p:spPr>
          <a:xfrm>
            <a:off x="1087351" y="1796644"/>
            <a:ext cx="2656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Login Screen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="" xmlns:a16="http://schemas.microsoft.com/office/drawing/2014/main" id="{47700689-2354-CAEC-65B4-163092908928}"/>
              </a:ext>
            </a:extLst>
          </p:cNvPr>
          <p:cNvSpPr txBox="1"/>
          <p:nvPr/>
        </p:nvSpPr>
        <p:spPr>
          <a:xfrm>
            <a:off x="5458121" y="1736772"/>
            <a:ext cx="3719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Field Officer Registration Page</a:t>
            </a:r>
          </a:p>
        </p:txBody>
      </p:sp>
      <p:sp>
        <p:nvSpPr>
          <p:cNvPr id="2" name="TextBox 7">
            <a:extLst>
              <a:ext uri="{FF2B5EF4-FFF2-40B4-BE49-F238E27FC236}">
                <a16:creationId xmlns="" xmlns:a16="http://schemas.microsoft.com/office/drawing/2014/main" id="{189B608C-0FF2-6DD5-106C-4DF236EE073D}"/>
              </a:ext>
            </a:extLst>
          </p:cNvPr>
          <p:cNvSpPr txBox="1"/>
          <p:nvPr/>
        </p:nvSpPr>
        <p:spPr>
          <a:xfrm>
            <a:off x="1043752" y="605707"/>
            <a:ext cx="16253647" cy="9600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259"/>
              </a:lnSpc>
              <a:spcBef>
                <a:spcPct val="0"/>
              </a:spcBef>
            </a:pPr>
            <a:r>
              <a:rPr lang="en-US" sz="4000" b="1" spc="-145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Mobile Inspection Application Flow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01E772A6-4236-9992-3E6B-02C3C86AB9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4430" y="2165976"/>
            <a:ext cx="3756848" cy="79352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0EB4EC61-5718-743A-C450-7C84757EAA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753" y="2171420"/>
            <a:ext cx="3756847" cy="79352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="" xmlns:a16="http://schemas.microsoft.com/office/drawing/2014/main" id="{7DA08392-4092-60B4-24F0-0067C941709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8121" y="2165976"/>
            <a:ext cx="3719740" cy="793525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D7981F56-4B1E-85A3-9884-60B2FCD6D3DA}"/>
              </a:ext>
            </a:extLst>
          </p:cNvPr>
          <p:cNvSpPr txBox="1"/>
          <p:nvPr/>
        </p:nvSpPr>
        <p:spPr>
          <a:xfrm>
            <a:off x="9448800" y="1727943"/>
            <a:ext cx="3719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Field Officer Login:  Home Page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EBCF6077-229C-0D99-3FFF-58FB2D7A3765}"/>
              </a:ext>
            </a:extLst>
          </p:cNvPr>
          <p:cNvSpPr txBox="1"/>
          <p:nvPr/>
        </p:nvSpPr>
        <p:spPr>
          <a:xfrm>
            <a:off x="13942404" y="1722700"/>
            <a:ext cx="3766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List of Inspections to be conducted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="" xmlns:a16="http://schemas.microsoft.com/office/drawing/2014/main" id="{F0429647-82EC-1095-CC13-5855EBE4D58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18601" y="2165976"/>
            <a:ext cx="3842220" cy="793525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F738D38-E6E7-0708-59B8-5041D5A56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392400" y="1012964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315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371600"/>
          </a:xfrm>
          <a:prstGeom prst="rect">
            <a:avLst/>
          </a:prstGeom>
          <a:solidFill>
            <a:srgbClr val="0A235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8288000" cy="128016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1719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06  |  Mobile App — District GIS Parakh</a:t>
            </a:r>
            <a:endParaRPr lang="en-US" sz="4400" dirty="0">
              <a:solidFill>
                <a:prstClr val="black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1A2A3A"/>
                </a:solidFill>
                <a:ea typeface="Calibri" pitchFamily="34" charset="-122"/>
                <a:cs typeface="Calibri" pitchFamily="34" charset="-120"/>
              </a:rPr>
              <a:t>📱  Mobile App Steps</a:t>
            </a:r>
            <a:endParaRPr lang="en-US" sz="2800" dirty="0">
              <a:solidFill>
                <a:prstClr val="black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94944" y="2743200"/>
            <a:ext cx="8778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1</a:t>
            </a:r>
            <a:endParaRPr lang="en-US" sz="3200" dirty="0">
              <a:solidFill>
                <a:prstClr val="black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694944" y="4242816"/>
            <a:ext cx="8778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2</a:t>
            </a:r>
            <a:endParaRPr lang="en-US" sz="3200" dirty="0">
              <a:solidFill>
                <a:prstClr val="black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694944" y="5742432"/>
            <a:ext cx="8778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3</a:t>
            </a:r>
            <a:endParaRPr lang="en-US" sz="3200" dirty="0">
              <a:solidFill>
                <a:prstClr val="black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694944" y="7242048"/>
            <a:ext cx="8778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4</a:t>
            </a:r>
            <a:endParaRPr lang="en-US" sz="3200" dirty="0">
              <a:solidFill>
                <a:prstClr val="black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694944" y="8741664"/>
            <a:ext cx="8778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5</a:t>
            </a:r>
            <a:endParaRPr lang="en-US" sz="3200" dirty="0">
              <a:solidFill>
                <a:prstClr val="black"/>
              </a:solidFill>
            </a:endParaRPr>
          </a:p>
        </p:txBody>
      </p:sp>
      <p:sp>
        <p:nvSpPr>
          <p:cNvPr id="56" name="Freeform 4"/>
          <p:cNvSpPr/>
          <p:nvPr/>
        </p:nvSpPr>
        <p:spPr>
          <a:xfrm>
            <a:off x="15880080" y="-44196"/>
            <a:ext cx="2136008" cy="1552956"/>
          </a:xfrm>
          <a:custGeom>
            <a:avLst/>
            <a:gdLst/>
            <a:ahLst/>
            <a:cxnLst/>
            <a:rect l="l" t="t" r="r" b="b"/>
            <a:pathLst>
              <a:path w="1915029" h="1477646">
                <a:moveTo>
                  <a:pt x="0" y="0"/>
                </a:moveTo>
                <a:lnTo>
                  <a:pt x="1915029" y="0"/>
                </a:lnTo>
                <a:lnTo>
                  <a:pt x="1915029" y="1477646"/>
                </a:lnTo>
                <a:lnTo>
                  <a:pt x="0" y="14776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pic>
        <p:nvPicPr>
          <p:cNvPr id="57" name="Picture 56" descr="C:\Users\hp\Downloads\WhatsApp Unknown 2026-03-25 at 3.32.27 PM\1.jpeg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773" y="3090672"/>
            <a:ext cx="2493818" cy="548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Picture 57" descr="C:\Users\hp\Downloads\WhatsApp Unknown 2026-03-25 at 3.32.27 PM\2.jpeg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3003" y="3090672"/>
            <a:ext cx="2493818" cy="548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Picture 58" descr="C:\Users\hp\Downloads\WhatsApp Unknown 2026-03-25 at 3.32.27 PM\3.jpeg"/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9984" y="3090672"/>
            <a:ext cx="2560320" cy="548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Picture 59" descr="C:\Users\hp\Downloads\WhatsApp Unknown 2026-03-25 at 3.32.27 PM\4.jpeg"/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6400" y="3109378"/>
            <a:ext cx="2560320" cy="548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Picture 60" descr="C:\Users\hp\Downloads\WhatsApp Unknown 2026-03-25 at 3.32.27 PM\5.jpeg"/>
          <p:cNvPicPr/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24630" y="3109378"/>
            <a:ext cx="2560320" cy="548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Picture 61" descr="C:\Users\hp\Downloads\WhatsApp Unknown 2026-03-25 at 3.32.27 PM\6.jpeg"/>
          <p:cNvPicPr/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6300" y="3109378"/>
            <a:ext cx="2560320" cy="5486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79712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C4E0CACD-BB9D-8687-2220-C16CCE1E510B}"/>
              </a:ext>
            </a:extLst>
          </p:cNvPr>
          <p:cNvSpPr txBox="1"/>
          <p:nvPr/>
        </p:nvSpPr>
        <p:spPr>
          <a:xfrm>
            <a:off x="0" y="1337531"/>
            <a:ext cx="2656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b="1" dirty="0"/>
              <a:t>Site Inspection Form</a:t>
            </a:r>
          </a:p>
        </p:txBody>
      </p:sp>
      <p:sp>
        <p:nvSpPr>
          <p:cNvPr id="2" name="TextBox 7">
            <a:extLst>
              <a:ext uri="{FF2B5EF4-FFF2-40B4-BE49-F238E27FC236}">
                <a16:creationId xmlns="" xmlns:a16="http://schemas.microsoft.com/office/drawing/2014/main" id="{AD4D8B34-1E84-3650-311D-4920E86CF536}"/>
              </a:ext>
            </a:extLst>
          </p:cNvPr>
          <p:cNvSpPr txBox="1"/>
          <p:nvPr/>
        </p:nvSpPr>
        <p:spPr>
          <a:xfrm>
            <a:off x="609600" y="238892"/>
            <a:ext cx="14702080" cy="941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259"/>
              </a:lnSpc>
              <a:spcBef>
                <a:spcPct val="0"/>
              </a:spcBef>
            </a:pPr>
            <a:r>
              <a:rPr lang="en-US" sz="4000" b="1" spc="-145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Mobile View of Inspection Forms                   </a:t>
            </a:r>
            <a:r>
              <a:rPr lang="en-US" sz="2400" spc="-145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(To fill the form while inspecting at site)</a:t>
            </a:r>
            <a:endParaRPr lang="en-US" sz="4000" spc="-145" dirty="0">
              <a:solidFill>
                <a:schemeClr val="tx2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D3080554-934A-D2C9-F8FA-B1FE4D1FBF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7723" y="1853519"/>
            <a:ext cx="3520592" cy="743236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="" xmlns:a16="http://schemas.microsoft.com/office/drawing/2014/main" id="{0035BD73-53D7-7F43-0518-4BF8EA7542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848076"/>
            <a:ext cx="3520591" cy="74323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="" xmlns:a16="http://schemas.microsoft.com/office/drawing/2014/main" id="{A968FDFD-48D7-B1F7-A7F1-CF6896D2A4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8800" y="1826305"/>
            <a:ext cx="3663615" cy="745413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2" name="Picture 21">
            <a:extLst>
              <a:ext uri="{FF2B5EF4-FFF2-40B4-BE49-F238E27FC236}">
                <a16:creationId xmlns="" xmlns:a16="http://schemas.microsoft.com/office/drawing/2014/main" id="{4819D8F9-B925-CAA2-32DC-608B14505E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95382" y="1826305"/>
            <a:ext cx="3520592" cy="745413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29B3F35D-AFF2-58E0-8C0A-C46B9186E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382374" y="9588014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617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C4E0CACD-BB9D-8687-2220-C16CCE1E510B}"/>
              </a:ext>
            </a:extLst>
          </p:cNvPr>
          <p:cNvSpPr txBox="1"/>
          <p:nvPr/>
        </p:nvSpPr>
        <p:spPr>
          <a:xfrm>
            <a:off x="4876800" y="1380605"/>
            <a:ext cx="3675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Details of Site Inspection Conducted</a:t>
            </a:r>
          </a:p>
        </p:txBody>
      </p:sp>
      <p:sp>
        <p:nvSpPr>
          <p:cNvPr id="2" name="TextBox 7">
            <a:extLst>
              <a:ext uri="{FF2B5EF4-FFF2-40B4-BE49-F238E27FC236}">
                <a16:creationId xmlns="" xmlns:a16="http://schemas.microsoft.com/office/drawing/2014/main" id="{AD4D8B34-1E84-3650-311D-4920E86CF536}"/>
              </a:ext>
            </a:extLst>
          </p:cNvPr>
          <p:cNvSpPr txBox="1"/>
          <p:nvPr/>
        </p:nvSpPr>
        <p:spPr>
          <a:xfrm>
            <a:off x="609600" y="238892"/>
            <a:ext cx="14702080" cy="927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259"/>
              </a:lnSpc>
              <a:spcBef>
                <a:spcPct val="0"/>
              </a:spcBef>
            </a:pPr>
            <a:r>
              <a:rPr lang="en-US" sz="3600" b="1" spc="-145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Mobile View of Inspection Submitted Form</a:t>
            </a:r>
            <a:endParaRPr lang="en-US" sz="3600" spc="-145" dirty="0">
              <a:solidFill>
                <a:schemeClr val="tx2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8CBF3E09-5873-C118-3F67-EF28E3AE37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1931431"/>
            <a:ext cx="3675184" cy="796289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5E7B3C51-2418-C003-6C11-30A82C3F4A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931432"/>
            <a:ext cx="3675184" cy="79629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F7BA8CB7-1302-CD25-0BAF-75D5A2610A6C}"/>
              </a:ext>
            </a:extLst>
          </p:cNvPr>
          <p:cNvSpPr txBox="1"/>
          <p:nvPr/>
        </p:nvSpPr>
        <p:spPr>
          <a:xfrm>
            <a:off x="685800" y="1380605"/>
            <a:ext cx="3227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List of  Inspections  Conducted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9CC850FF-F474-91CC-A0E9-71837A67CB66}"/>
              </a:ext>
            </a:extLst>
          </p:cNvPr>
          <p:cNvSpPr txBox="1"/>
          <p:nvPr/>
        </p:nvSpPr>
        <p:spPr>
          <a:xfrm>
            <a:off x="9144000" y="1364276"/>
            <a:ext cx="3675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Details of Site Inspection Conducted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A5621B9B-B538-5579-4AC8-2ECCCCE8BF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0892" y="1898773"/>
            <a:ext cx="3780692" cy="799555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="" xmlns:a16="http://schemas.microsoft.com/office/drawing/2014/main" id="{50B4F574-EAD9-BEE1-0A1A-53B3DDD82C0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0492" y="1898773"/>
            <a:ext cx="3780693" cy="799555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90A4255E-3EA2-8482-603C-629524926077}"/>
              </a:ext>
            </a:extLst>
          </p:cNvPr>
          <p:cNvSpPr txBox="1"/>
          <p:nvPr/>
        </p:nvSpPr>
        <p:spPr>
          <a:xfrm>
            <a:off x="13610492" y="1380605"/>
            <a:ext cx="3675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Details of Site Inspection Conducted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C99DD191-466F-E82C-F20E-1205792A9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96493" y="97117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161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="" xmlns:a16="http://schemas.microsoft.com/office/drawing/2014/main" id="{B40EAC3D-7D32-179B-1D4F-D2FEC1C5B0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78828" y="-38100"/>
            <a:ext cx="18366828" cy="10357338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416995" y="386959"/>
            <a:ext cx="14702080" cy="946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259"/>
              </a:lnSpc>
              <a:spcBef>
                <a:spcPct val="0"/>
              </a:spcBef>
            </a:pPr>
            <a:r>
              <a:rPr lang="en-US" sz="3600" b="1" spc="-145" dirty="0">
                <a:solidFill>
                  <a:srgbClr val="00B88E"/>
                </a:solidFill>
                <a:latin typeface="Poppins" pitchFamily="2" charset="77"/>
                <a:cs typeface="Poppins" pitchFamily="2" charset="77"/>
              </a:rPr>
              <a:t>Web View of Labour Department Inspection Portal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ED028076-0C91-AB6C-CD6E-A3691A115B0E}"/>
              </a:ext>
            </a:extLst>
          </p:cNvPr>
          <p:cNvSpPr txBox="1"/>
          <p:nvPr/>
        </p:nvSpPr>
        <p:spPr>
          <a:xfrm>
            <a:off x="14020800" y="1257300"/>
            <a:ext cx="26565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Web Login Page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="" xmlns:a16="http://schemas.microsoft.com/office/drawing/2014/main" id="{E5E9C790-E23B-B335-CB8C-7B6E4C875A0F}"/>
              </a:ext>
            </a:extLst>
          </p:cNvPr>
          <p:cNvGrpSpPr/>
          <p:nvPr/>
        </p:nvGrpSpPr>
        <p:grpSpPr>
          <a:xfrm>
            <a:off x="1416995" y="1780520"/>
            <a:ext cx="15260374" cy="8153400"/>
            <a:chOff x="1427425" y="1866900"/>
            <a:chExt cx="15260374" cy="815340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="" xmlns:a16="http://schemas.microsoft.com/office/drawing/2014/main" id="{DCB5477C-0615-FDE9-B392-FA2CDE94ACE0}"/>
                </a:ext>
              </a:extLst>
            </p:cNvPr>
            <p:cNvSpPr/>
            <p:nvPr/>
          </p:nvSpPr>
          <p:spPr>
            <a:xfrm>
              <a:off x="1427426" y="1866900"/>
              <a:ext cx="15260373" cy="8153400"/>
            </a:xfrm>
            <a:prstGeom prst="roundRect">
              <a:avLst>
                <a:gd name="adj" fmla="val 1907"/>
              </a:avLst>
            </a:prstGeom>
            <a:gradFill flip="none" rotWithShape="1">
              <a:gsLst>
                <a:gs pos="0">
                  <a:srgbClr val="525252"/>
                </a:gs>
                <a:gs pos="46000">
                  <a:srgbClr val="00B88E"/>
                </a:gs>
                <a:gs pos="100000">
                  <a:schemeClr val="accent5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 sz="1000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="" xmlns:a16="http://schemas.microsoft.com/office/drawing/2014/main" id="{38294CA6-FB5B-3E22-2266-AFF77EB6E4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427425" y="1866900"/>
              <a:ext cx="15249943" cy="8153400"/>
            </a:xfrm>
            <a:prstGeom prst="rect">
              <a:avLst/>
            </a:prstGeom>
          </p:spPr>
        </p:pic>
      </p:grp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9C2D2C1A-F00D-9EBF-D59A-58FC3F1BA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14687" y="9529473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67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="" xmlns:a16="http://schemas.microsoft.com/office/drawing/2014/main" id="{8EAA208D-EE67-1407-FE85-8D207CA432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78828" y="0"/>
            <a:ext cx="18366828" cy="10287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3A13E13C-15AC-F753-FB8C-0D4A74048CB2}"/>
              </a:ext>
            </a:extLst>
          </p:cNvPr>
          <p:cNvSpPr txBox="1"/>
          <p:nvPr/>
        </p:nvSpPr>
        <p:spPr>
          <a:xfrm>
            <a:off x="6324600" y="1024236"/>
            <a:ext cx="95231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N" sz="2400" b="1" dirty="0"/>
              <a:t>Department State Admin View: List of all the available inspection forms</a:t>
            </a:r>
          </a:p>
        </p:txBody>
      </p:sp>
      <p:sp>
        <p:nvSpPr>
          <p:cNvPr id="2" name="TextBox 7">
            <a:extLst>
              <a:ext uri="{FF2B5EF4-FFF2-40B4-BE49-F238E27FC236}">
                <a16:creationId xmlns="" xmlns:a16="http://schemas.microsoft.com/office/drawing/2014/main" id="{8C997CAE-9EB7-9F75-33A3-C806EBC39D47}"/>
              </a:ext>
            </a:extLst>
          </p:cNvPr>
          <p:cNvSpPr txBox="1"/>
          <p:nvPr/>
        </p:nvSpPr>
        <p:spPr>
          <a:xfrm>
            <a:off x="533400" y="197153"/>
            <a:ext cx="14702080" cy="946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259"/>
              </a:lnSpc>
              <a:spcBef>
                <a:spcPct val="0"/>
              </a:spcBef>
            </a:pPr>
            <a:r>
              <a:rPr lang="en-US" sz="3600" b="1" spc="-145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Web View of Portal Usage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8EDD4129-B8C8-ADD9-0440-3DD3D8F7FB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485757"/>
            <a:ext cx="15296535" cy="860408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D7680D9-8004-A509-DCFF-C2BB41683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47709" y="975193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551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="" xmlns:a16="http://schemas.microsoft.com/office/drawing/2014/main" id="{8EAA208D-EE67-1407-FE85-8D207CA432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78828" y="0"/>
            <a:ext cx="18366828" cy="10287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3A13E13C-15AC-F753-FB8C-0D4A74048CB2}"/>
              </a:ext>
            </a:extLst>
          </p:cNvPr>
          <p:cNvSpPr txBox="1"/>
          <p:nvPr/>
        </p:nvSpPr>
        <p:spPr>
          <a:xfrm>
            <a:off x="7295575" y="952500"/>
            <a:ext cx="9144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N" sz="2400" b="1" dirty="0"/>
              <a:t>List of all the sites/assets to conduct Inspection</a:t>
            </a:r>
          </a:p>
          <a:p>
            <a:pPr algn="r"/>
            <a:endParaRPr lang="en-IN" sz="2400" b="1" dirty="0"/>
          </a:p>
        </p:txBody>
      </p:sp>
      <p:sp>
        <p:nvSpPr>
          <p:cNvPr id="2" name="TextBox 7">
            <a:extLst>
              <a:ext uri="{FF2B5EF4-FFF2-40B4-BE49-F238E27FC236}">
                <a16:creationId xmlns="" xmlns:a16="http://schemas.microsoft.com/office/drawing/2014/main" id="{8C997CAE-9EB7-9F75-33A3-C806EBC39D47}"/>
              </a:ext>
            </a:extLst>
          </p:cNvPr>
          <p:cNvSpPr txBox="1"/>
          <p:nvPr/>
        </p:nvSpPr>
        <p:spPr>
          <a:xfrm>
            <a:off x="533399" y="251581"/>
            <a:ext cx="15585676" cy="9465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8259"/>
              </a:lnSpc>
              <a:spcBef>
                <a:spcPct val="0"/>
              </a:spcBef>
            </a:pPr>
            <a:r>
              <a:rPr lang="en-US" sz="3600" b="1" spc="-145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Web View of Portal Usage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2667F934-60E4-C4E2-E223-7C201FDD53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399" y="1449703"/>
            <a:ext cx="15773401" cy="876672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3010B6A0-96E0-5F04-DA6B-3F456F9C5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52227" y="9670294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697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="" xmlns:a16="http://schemas.microsoft.com/office/drawing/2014/main" id="{8EAA208D-EE67-1407-FE85-8D207CA432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78828" y="0"/>
            <a:ext cx="18366828" cy="10287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3A13E13C-15AC-F753-FB8C-0D4A74048CB2}"/>
              </a:ext>
            </a:extLst>
          </p:cNvPr>
          <p:cNvSpPr txBox="1"/>
          <p:nvPr/>
        </p:nvSpPr>
        <p:spPr>
          <a:xfrm>
            <a:off x="7295575" y="952500"/>
            <a:ext cx="9144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N" sz="2400" b="1" dirty="0"/>
              <a:t>Assign sites/assets to the Field Officer to conduct the Inspection</a:t>
            </a:r>
          </a:p>
          <a:p>
            <a:pPr algn="r"/>
            <a:endParaRPr lang="en-IN" sz="2400" b="1" dirty="0"/>
          </a:p>
        </p:txBody>
      </p:sp>
      <p:sp>
        <p:nvSpPr>
          <p:cNvPr id="2" name="TextBox 7">
            <a:extLst>
              <a:ext uri="{FF2B5EF4-FFF2-40B4-BE49-F238E27FC236}">
                <a16:creationId xmlns="" xmlns:a16="http://schemas.microsoft.com/office/drawing/2014/main" id="{8C997CAE-9EB7-9F75-33A3-C806EBC39D47}"/>
              </a:ext>
            </a:extLst>
          </p:cNvPr>
          <p:cNvSpPr txBox="1"/>
          <p:nvPr/>
        </p:nvSpPr>
        <p:spPr>
          <a:xfrm>
            <a:off x="533399" y="251581"/>
            <a:ext cx="15585676" cy="9465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8259"/>
              </a:lnSpc>
              <a:spcBef>
                <a:spcPct val="0"/>
              </a:spcBef>
            </a:pPr>
            <a:r>
              <a:rPr lang="en-US" sz="3600" b="1" spc="-145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Web View of Portal Usage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1E006C42-BCEA-0620-71C6-61612F5218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612" y="1367998"/>
            <a:ext cx="15878963" cy="876672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FD9C12D7-C258-F894-AD21-2DFECDAFE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773400" y="979912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04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="" xmlns:a16="http://schemas.microsoft.com/office/drawing/2014/main" id="{8EAA208D-EE67-1407-FE85-8D207CA432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78828" y="0"/>
            <a:ext cx="18366828" cy="10287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3A13E13C-15AC-F753-FB8C-0D4A74048CB2}"/>
              </a:ext>
            </a:extLst>
          </p:cNvPr>
          <p:cNvSpPr txBox="1"/>
          <p:nvPr/>
        </p:nvSpPr>
        <p:spPr>
          <a:xfrm>
            <a:off x="7295575" y="952500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N" sz="2400" b="1" dirty="0"/>
              <a:t>View of Inspection data that is filled by the Field Officer</a:t>
            </a:r>
          </a:p>
        </p:txBody>
      </p:sp>
      <p:sp>
        <p:nvSpPr>
          <p:cNvPr id="2" name="TextBox 7">
            <a:extLst>
              <a:ext uri="{FF2B5EF4-FFF2-40B4-BE49-F238E27FC236}">
                <a16:creationId xmlns="" xmlns:a16="http://schemas.microsoft.com/office/drawing/2014/main" id="{8C997CAE-9EB7-9F75-33A3-C806EBC39D47}"/>
              </a:ext>
            </a:extLst>
          </p:cNvPr>
          <p:cNvSpPr txBox="1"/>
          <p:nvPr/>
        </p:nvSpPr>
        <p:spPr>
          <a:xfrm>
            <a:off x="533399" y="251581"/>
            <a:ext cx="15585676" cy="9465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8259"/>
              </a:lnSpc>
              <a:spcBef>
                <a:spcPct val="0"/>
              </a:spcBef>
            </a:pPr>
            <a:r>
              <a:rPr lang="en-US" sz="3600" b="1" spc="-145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Web View of Portal Usage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445E670E-3424-A0A4-DA9F-5C916BAF25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957" y="1572191"/>
            <a:ext cx="15697518" cy="855678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3D5FA67F-174E-EE16-EC91-8666E6EC9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30863" y="968118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3051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="" xmlns:a16="http://schemas.microsoft.com/office/drawing/2014/main" id="{8EAA208D-EE67-1407-FE85-8D207CA432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78828" y="0"/>
            <a:ext cx="18366828" cy="10287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3A13E13C-15AC-F753-FB8C-0D4A74048CB2}"/>
              </a:ext>
            </a:extLst>
          </p:cNvPr>
          <p:cNvSpPr txBox="1"/>
          <p:nvPr/>
        </p:nvSpPr>
        <p:spPr>
          <a:xfrm>
            <a:off x="6781800" y="952500"/>
            <a:ext cx="96577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N" sz="2400" b="1" dirty="0"/>
              <a:t>Nodal officer view the “Inspection Data” that is filled by the Field Officer</a:t>
            </a:r>
          </a:p>
        </p:txBody>
      </p:sp>
      <p:sp>
        <p:nvSpPr>
          <p:cNvPr id="2" name="TextBox 7">
            <a:extLst>
              <a:ext uri="{FF2B5EF4-FFF2-40B4-BE49-F238E27FC236}">
                <a16:creationId xmlns="" xmlns:a16="http://schemas.microsoft.com/office/drawing/2014/main" id="{8C997CAE-9EB7-9F75-33A3-C806EBC39D47}"/>
              </a:ext>
            </a:extLst>
          </p:cNvPr>
          <p:cNvSpPr txBox="1"/>
          <p:nvPr/>
        </p:nvSpPr>
        <p:spPr>
          <a:xfrm>
            <a:off x="533399" y="251581"/>
            <a:ext cx="15585676" cy="9465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8259"/>
              </a:lnSpc>
              <a:spcBef>
                <a:spcPct val="0"/>
              </a:spcBef>
            </a:pPr>
            <a:r>
              <a:rPr lang="en-US" sz="3600" b="1" spc="-145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Web View of Portal Usage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E4C29781-2A8A-4EA2-B5FB-FE0C540A34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399" y="1557724"/>
            <a:ext cx="15906176" cy="858571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54D711AE-6960-D588-7947-1BB5B2EFF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773400" y="9651204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719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B982E60-FC8D-0C36-5CF6-62632AAFD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="" xmlns:a16="http://schemas.microsoft.com/office/drawing/2014/main" id="{01A6C646-3B62-50BA-463A-AC299101E8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8298510" cy="10325100"/>
          </a:xfrm>
          <a:prstGeom prst="rect">
            <a:avLst/>
          </a:prstGeom>
        </p:spPr>
      </p:pic>
      <p:sp>
        <p:nvSpPr>
          <p:cNvPr id="4" name="Freeform 4">
            <a:extLst>
              <a:ext uri="{FF2B5EF4-FFF2-40B4-BE49-F238E27FC236}">
                <a16:creationId xmlns="" xmlns:a16="http://schemas.microsoft.com/office/drawing/2014/main" id="{6B423702-CC26-2C2F-A324-B5E3FC2862B7}"/>
              </a:ext>
            </a:extLst>
          </p:cNvPr>
          <p:cNvSpPr/>
          <p:nvPr/>
        </p:nvSpPr>
        <p:spPr>
          <a:xfrm>
            <a:off x="16078200" y="331396"/>
            <a:ext cx="1915029" cy="1477646"/>
          </a:xfrm>
          <a:custGeom>
            <a:avLst/>
            <a:gdLst/>
            <a:ahLst/>
            <a:cxnLst/>
            <a:rect l="l" t="t" r="r" b="b"/>
            <a:pathLst>
              <a:path w="1915029" h="1477646">
                <a:moveTo>
                  <a:pt x="0" y="0"/>
                </a:moveTo>
                <a:lnTo>
                  <a:pt x="1915029" y="0"/>
                </a:lnTo>
                <a:lnTo>
                  <a:pt x="1915029" y="1477646"/>
                </a:lnTo>
                <a:lnTo>
                  <a:pt x="0" y="14776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" name="TextBox 7">
            <a:extLst>
              <a:ext uri="{FF2B5EF4-FFF2-40B4-BE49-F238E27FC236}">
                <a16:creationId xmlns="" xmlns:a16="http://schemas.microsoft.com/office/drawing/2014/main" id="{E8D59469-B777-5E78-E720-2ED71BD1296C}"/>
              </a:ext>
            </a:extLst>
          </p:cNvPr>
          <p:cNvSpPr txBox="1"/>
          <p:nvPr/>
        </p:nvSpPr>
        <p:spPr>
          <a:xfrm>
            <a:off x="649514" y="597643"/>
            <a:ext cx="14819086" cy="9252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8259"/>
              </a:lnSpc>
              <a:spcBef>
                <a:spcPct val="0"/>
              </a:spcBef>
            </a:pPr>
            <a:r>
              <a:rPr lang="en-US" sz="3600" b="1" spc="-145" dirty="0">
                <a:solidFill>
                  <a:srgbClr val="00B88E"/>
                </a:solidFill>
                <a:latin typeface="Poppins" pitchFamily="2" charset="77"/>
                <a:cs typeface="Poppins" pitchFamily="2" charset="77"/>
              </a:rPr>
              <a:t>Citizen Workflow </a:t>
            </a:r>
            <a:r>
              <a:rPr lang="en-US" sz="3600" b="1" spc="200" dirty="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(General Purpose Custom Forms)</a:t>
            </a:r>
            <a:endParaRPr lang="en-US" sz="5899" dirty="0">
              <a:solidFill>
                <a:srgbClr val="000000"/>
              </a:solidFill>
              <a:cs typeface="Canva Sans 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7899B501-F0F4-4FDD-E0BD-069F25245E3A}"/>
              </a:ext>
            </a:extLst>
          </p:cNvPr>
          <p:cNvSpPr txBox="1"/>
          <p:nvPr/>
        </p:nvSpPr>
        <p:spPr>
          <a:xfrm>
            <a:off x="563844" y="1976337"/>
            <a:ext cx="1635255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dirty="0">
                <a:solidFill>
                  <a:srgbClr val="0D0D0D"/>
                </a:solidFill>
                <a:effectLst/>
                <a:latin typeface="Söhne"/>
              </a:rPr>
              <a:t>Citizens can utilize the </a:t>
            </a:r>
            <a:r>
              <a:rPr lang="en-US" sz="2800" b="1" i="0" dirty="0">
                <a:solidFill>
                  <a:srgbClr val="0D0D0D"/>
                </a:solidFill>
                <a:effectLst/>
                <a:latin typeface="Söhne"/>
              </a:rPr>
              <a:t>Parakh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Söhne"/>
              </a:rPr>
              <a:t> application to login and fill out the request forms like “New Borewell </a:t>
            </a:r>
            <a:r>
              <a:rPr lang="en-US" sz="2800" dirty="0">
                <a:solidFill>
                  <a:srgbClr val="0D0D0D"/>
                </a:solidFill>
                <a:latin typeface="Söhne"/>
              </a:rPr>
              <a:t>R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Söhne"/>
              </a:rPr>
              <a:t>equest” and other various types of forms, created by the different departments.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FB9E693D-3A8C-7DB8-C3A2-13AD22C29D8A}"/>
              </a:ext>
            </a:extLst>
          </p:cNvPr>
          <p:cNvSpPr txBox="1"/>
          <p:nvPr/>
        </p:nvSpPr>
        <p:spPr>
          <a:xfrm>
            <a:off x="1078920" y="6847442"/>
            <a:ext cx="28498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Citizen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0E526038-F2C1-2FD7-08BB-1CC8A12DE81F}"/>
              </a:ext>
            </a:extLst>
          </p:cNvPr>
          <p:cNvSpPr txBox="1"/>
          <p:nvPr/>
        </p:nvSpPr>
        <p:spPr>
          <a:xfrm>
            <a:off x="3429000" y="6866573"/>
            <a:ext cx="3276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Citizens will login independently using mobile, based on OTP authentication.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03849FD9-4769-7C6A-0532-010191903C1B}"/>
              </a:ext>
            </a:extLst>
          </p:cNvPr>
          <p:cNvSpPr txBox="1"/>
          <p:nvPr/>
        </p:nvSpPr>
        <p:spPr>
          <a:xfrm>
            <a:off x="7307540" y="6799302"/>
            <a:ext cx="3276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Login Citizens will be able to access and view all the "</a:t>
            </a:r>
            <a:r>
              <a:rPr lang="en-US" b="1" dirty="0"/>
              <a:t>General Purpose Forms</a:t>
            </a:r>
            <a:r>
              <a:rPr lang="en-US" dirty="0"/>
              <a:t>" created by various departments.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430324A0-E30E-1BB1-20AE-16AA2B94A637}"/>
              </a:ext>
            </a:extLst>
          </p:cNvPr>
          <p:cNvSpPr txBox="1"/>
          <p:nvPr/>
        </p:nvSpPr>
        <p:spPr>
          <a:xfrm>
            <a:off x="11430000" y="6793564"/>
            <a:ext cx="2819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Citizens will fill out the respective GIS-based forms like “New Borewell Request” etc.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="" xmlns:a16="http://schemas.microsoft.com/office/drawing/2014/main" id="{AE1D8EB5-6949-134A-9187-7960DEE86B8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363909">
            <a:off x="6478702" y="4937283"/>
            <a:ext cx="945916" cy="94591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="" xmlns:a16="http://schemas.microsoft.com/office/drawing/2014/main" id="{E7F5492D-634D-C33C-6C16-8746082FAB5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363909">
            <a:off x="3090982" y="4937283"/>
            <a:ext cx="945916" cy="94591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="" xmlns:a16="http://schemas.microsoft.com/office/drawing/2014/main" id="{A5E79ECC-C7F0-DC76-DF5E-70EB1C8CAD0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363909">
            <a:off x="10593502" y="4937284"/>
            <a:ext cx="945916" cy="9459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0E296EC4-372B-2146-F3A5-A23AED83376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222" y="4409126"/>
            <a:ext cx="2002230" cy="200223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="" xmlns:a16="http://schemas.microsoft.com/office/drawing/2014/main" id="{3A900301-2BD0-5B40-9B45-59E221433D1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8026" y="4147216"/>
            <a:ext cx="2438400" cy="24384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="" xmlns:a16="http://schemas.microsoft.com/office/drawing/2014/main" id="{328F9DD2-8900-55B6-6301-14CC08CA1B7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4147216"/>
            <a:ext cx="2085674" cy="219488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="" xmlns:a16="http://schemas.microsoft.com/office/drawing/2014/main" id="{0E111578-9CA5-6BA1-4E30-B7A10A51B51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8600" y="3924300"/>
            <a:ext cx="2474740" cy="247474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="" xmlns:a16="http://schemas.microsoft.com/office/drawing/2014/main" id="{3273ACDF-8867-2603-0D60-1F4957C08CE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363909">
            <a:off x="14327302" y="4937284"/>
            <a:ext cx="945916" cy="94591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="" xmlns:a16="http://schemas.microsoft.com/office/drawing/2014/main" id="{515BA4C5-C994-DE51-5286-8783CBE7BC3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68600" y="4182137"/>
            <a:ext cx="1931365" cy="1931365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2FC29E26-0DE3-AA9A-BBD3-FFB7D307B39A}"/>
              </a:ext>
            </a:extLst>
          </p:cNvPr>
          <p:cNvSpPr txBox="1"/>
          <p:nvPr/>
        </p:nvSpPr>
        <p:spPr>
          <a:xfrm>
            <a:off x="14935200" y="6790372"/>
            <a:ext cx="2819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Once the citizen submits the request form, it will be displayed for action by the respective departments and agencies.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7884B8B-C7B9-819C-69F3-9ACD3AE52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228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D5F187E-B3B5-B10A-98A2-A8DFD83E2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="" xmlns:a16="http://schemas.microsoft.com/office/drawing/2014/main" id="{5A54E3C0-FDCB-3599-21B0-AF9F1C41AA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 t="4225" r="7692" b="8040"/>
          <a:stretch/>
        </p:blipFill>
        <p:spPr>
          <a:xfrm>
            <a:off x="0" y="4572"/>
            <a:ext cx="18288000" cy="10282428"/>
          </a:xfrm>
          <a:prstGeom prst="rect">
            <a:avLst/>
          </a:prstGeom>
        </p:spPr>
      </p:pic>
      <p:sp>
        <p:nvSpPr>
          <p:cNvPr id="4" name="Freeform 4">
            <a:extLst>
              <a:ext uri="{FF2B5EF4-FFF2-40B4-BE49-F238E27FC236}">
                <a16:creationId xmlns="" xmlns:a16="http://schemas.microsoft.com/office/drawing/2014/main" id="{F525878B-176A-8150-6236-C1843A6074D6}"/>
              </a:ext>
            </a:extLst>
          </p:cNvPr>
          <p:cNvSpPr/>
          <p:nvPr/>
        </p:nvSpPr>
        <p:spPr>
          <a:xfrm>
            <a:off x="16192070" y="269639"/>
            <a:ext cx="1915029" cy="1477646"/>
          </a:xfrm>
          <a:custGeom>
            <a:avLst/>
            <a:gdLst/>
            <a:ahLst/>
            <a:cxnLst/>
            <a:rect l="l" t="t" r="r" b="b"/>
            <a:pathLst>
              <a:path w="1915029" h="1477646">
                <a:moveTo>
                  <a:pt x="0" y="0"/>
                </a:moveTo>
                <a:lnTo>
                  <a:pt x="1915029" y="0"/>
                </a:lnTo>
                <a:lnTo>
                  <a:pt x="1915029" y="1477646"/>
                </a:lnTo>
                <a:lnTo>
                  <a:pt x="0" y="14776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3" name="TextBox 6">
            <a:extLst>
              <a:ext uri="{FF2B5EF4-FFF2-40B4-BE49-F238E27FC236}">
                <a16:creationId xmlns="" xmlns:a16="http://schemas.microsoft.com/office/drawing/2014/main" id="{7A4BB465-AC02-A28C-6F45-7AE36FA182B2}"/>
              </a:ext>
            </a:extLst>
          </p:cNvPr>
          <p:cNvSpPr txBox="1"/>
          <p:nvPr/>
        </p:nvSpPr>
        <p:spPr>
          <a:xfrm>
            <a:off x="8483013" y="3322672"/>
            <a:ext cx="9448800" cy="64017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3200" dirty="0" err="1"/>
              <a:t>Parakh's</a:t>
            </a:r>
            <a:r>
              <a:rPr lang="en-US" sz="3200" dirty="0"/>
              <a:t> Mobile Application was designed and launched for the M.P. Transport Department in an impressive timeframe of just two days.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/>
              <a:t>The app features two GEO-tagged and GEO-fenced dynamic forms:</a:t>
            </a:r>
          </a:p>
          <a:p>
            <a:endParaRPr lang="en-US" sz="3200" dirty="0"/>
          </a:p>
          <a:p>
            <a:pPr marL="895350"/>
            <a:r>
              <a:rPr lang="en-US" sz="3200" b="1" dirty="0"/>
              <a:t>Dispatch Entry</a:t>
            </a:r>
            <a:r>
              <a:rPr lang="en-US" sz="3200" dirty="0"/>
              <a:t>: To record vehicle dispatches from the warehouse.</a:t>
            </a:r>
          </a:p>
          <a:p>
            <a:pPr marL="895350">
              <a:buFont typeface="+mj-lt"/>
              <a:buAutoNum type="arabicPeriod"/>
            </a:pPr>
            <a:endParaRPr lang="en-US" sz="3200" dirty="0"/>
          </a:p>
          <a:p>
            <a:pPr marL="895350"/>
            <a:r>
              <a:rPr lang="en-US" sz="3200" b="1" dirty="0"/>
              <a:t>Sale Details</a:t>
            </a:r>
            <a:r>
              <a:rPr lang="en-US" sz="3200" dirty="0"/>
              <a:t>: To capture details of the vehicle and purchaser during sales.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5" name="TextBox 7">
            <a:extLst>
              <a:ext uri="{FF2B5EF4-FFF2-40B4-BE49-F238E27FC236}">
                <a16:creationId xmlns="" xmlns:a16="http://schemas.microsoft.com/office/drawing/2014/main" id="{6CE75004-D623-B827-65FC-BEA825155294}"/>
              </a:ext>
            </a:extLst>
          </p:cNvPr>
          <p:cNvSpPr txBox="1"/>
          <p:nvPr/>
        </p:nvSpPr>
        <p:spPr>
          <a:xfrm>
            <a:off x="8358361" y="392909"/>
            <a:ext cx="8557715" cy="12926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800" b="1" spc="200" dirty="0">
                <a:solidFill>
                  <a:srgbClr val="1F497D"/>
                </a:solidFill>
                <a:latin typeface="Arial Rounded MT Bold" panose="020F070403050403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Ujjain</a:t>
            </a:r>
            <a:r>
              <a:rPr kumimoji="0" lang="en-US" sz="4800" b="1" i="0" u="none" strike="noStrike" kern="1200" cap="none" spc="20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 Rounded MT Bold" panose="020F070403050403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n-IN" sz="4800" b="1" spc="200" dirty="0">
                <a:solidFill>
                  <a:srgbClr val="1F497D"/>
                </a:solidFill>
                <a:latin typeface="Arial Rounded MT Bold" panose="020F070403050403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Vikarm </a:t>
            </a:r>
            <a:r>
              <a:rPr lang="en-US" sz="4800" b="1" spc="200" dirty="0">
                <a:solidFill>
                  <a:srgbClr val="1F497D"/>
                </a:solidFill>
                <a:latin typeface="Arial Rounded MT Bold" panose="020F070403050403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Auto Mela </a:t>
            </a:r>
            <a:endParaRPr lang="en-US" sz="4000" b="1" spc="200" dirty="0">
              <a:solidFill>
                <a:srgbClr val="1F497D"/>
              </a:solidFill>
              <a:latin typeface="Arial Rounded MT Bold" panose="020F070403050403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marR="0" lvl="0" indent="0" algn="l" defTabSz="914400" rtl="0" eaLnBrk="1" fontAlgn="auto" latinLnBrk="0" hangingPunct="1"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spc="200" dirty="0">
                <a:solidFill>
                  <a:srgbClr val="1F497D"/>
                </a:solidFill>
                <a:latin typeface="Arial Rounded MT Bold" panose="020F070403050403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Vehicle Dispatch &amp; Sale Entry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30480C37-185E-3EDC-6C30-281811C156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96" y="119579"/>
            <a:ext cx="8038273" cy="100478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6F88D690-1E2D-9AA2-38B5-5B9126601A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896" y="8203349"/>
            <a:ext cx="4180436" cy="19640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5C32CFB1-D1CE-FA43-05A8-A0DEAD0996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9354" y="1940834"/>
            <a:ext cx="9573961" cy="81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119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0665B44B-47F0-119D-002B-62D820A117AA}"/>
              </a:ext>
            </a:extLst>
          </p:cNvPr>
          <p:cNvSpPr txBox="1"/>
          <p:nvPr/>
        </p:nvSpPr>
        <p:spPr>
          <a:xfrm>
            <a:off x="4071010" y="263716"/>
            <a:ext cx="12584380" cy="280076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4400" b="1" spc="-145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Hostel Inspection &amp; Rating Application </a:t>
            </a:r>
          </a:p>
          <a:p>
            <a:pPr algn="ctr"/>
            <a:r>
              <a:rPr lang="en-IN" sz="3600" b="1" spc="-145" dirty="0" err="1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Alirajpur</a:t>
            </a:r>
            <a:r>
              <a:rPr lang="en-IN" sz="3600" b="1" spc="-145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 Collectorate, Madhya Pradesh</a:t>
            </a:r>
          </a:p>
          <a:p>
            <a:endParaRPr lang="en-IN" b="1" spc="-145" dirty="0">
              <a:solidFill>
                <a:schemeClr val="tx2"/>
              </a:solidFill>
              <a:latin typeface="Poppins" pitchFamily="2" charset="77"/>
              <a:cs typeface="Poppins" pitchFamily="2" charset="77"/>
            </a:endParaRPr>
          </a:p>
          <a:p>
            <a:endParaRPr lang="en-IN" b="1" spc="-145" dirty="0">
              <a:solidFill>
                <a:schemeClr val="tx2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IN" sz="3600" b="1" spc="-145" dirty="0">
                <a:solidFill>
                  <a:srgbClr val="00B88E"/>
                </a:solidFill>
                <a:latin typeface="Poppins" pitchFamily="2" charset="77"/>
                <a:cs typeface="Poppins" pitchFamily="2" charset="77"/>
              </a:rPr>
              <a:t>Features &amp; Usage</a:t>
            </a:r>
            <a:endParaRPr lang="en-US" sz="3600" b="1" spc="-145" dirty="0">
              <a:solidFill>
                <a:srgbClr val="00B88E"/>
              </a:solidFill>
              <a:latin typeface="Poppins" pitchFamily="2" charset="77"/>
              <a:cs typeface="Poppins" pitchFamily="2" charset="77"/>
            </a:endParaRPr>
          </a:p>
          <a:p>
            <a:endParaRPr lang="en-US" sz="2400" b="1" spc="-145" dirty="0">
              <a:solidFill>
                <a:srgbClr val="00B88E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C227EDEC-7DF9-9D3A-6B7C-0AB9CDAB3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0980" y="9815121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320A7975-C858-A922-2266-8056245CE6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50" t="4720" r="64769"/>
          <a:stretch/>
        </p:blipFill>
        <p:spPr>
          <a:xfrm>
            <a:off x="250371" y="255814"/>
            <a:ext cx="1752600" cy="3076466"/>
          </a:xfrm>
          <a:prstGeom prst="rect">
            <a:avLst/>
          </a:prstGeom>
          <a:effectLst>
            <a:glow rad="127000">
              <a:schemeClr val="accent1"/>
            </a:glow>
          </a:effectLst>
        </p:spPr>
      </p:pic>
      <p:sp>
        <p:nvSpPr>
          <p:cNvPr id="11" name="TextBox 6">
            <a:extLst>
              <a:ext uri="{FF2B5EF4-FFF2-40B4-BE49-F238E27FC236}">
                <a16:creationId xmlns="" xmlns:a16="http://schemas.microsoft.com/office/drawing/2014/main" id="{B107EC03-078C-F02F-DF97-1849371630E1}"/>
              </a:ext>
            </a:extLst>
          </p:cNvPr>
          <p:cNvSpPr txBox="1"/>
          <p:nvPr/>
        </p:nvSpPr>
        <p:spPr>
          <a:xfrm>
            <a:off x="223157" y="3630960"/>
            <a:ext cx="14483443" cy="66941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280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Parakh’s</a:t>
            </a: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Geo-Tagged &amp; Geo-Fenced features equip the </a:t>
            </a:r>
            <a:r>
              <a:rPr lang="en-US" sz="280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Alirajpur</a:t>
            </a: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Collectorate, Madhya Pradesh to organize Inspection &amp; Rating of Hostels across the </a:t>
            </a:r>
            <a:r>
              <a:rPr lang="en-US" sz="280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Alirajpur</a:t>
            </a: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District in MP. </a:t>
            </a:r>
          </a:p>
          <a:p>
            <a:pPr marL="457200" indent="-457200" algn="just">
              <a:spcBef>
                <a:spcPts val="600"/>
              </a:spcBef>
              <a:buFont typeface="Wingdings" panose="05000000000000000000" pitchFamily="2" charset="2"/>
              <a:buChar char="Ø"/>
            </a:pPr>
            <a:endParaRPr lang="en-US" sz="2800" dirty="0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457200" indent="-457200" algn="just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Parakh Inspection forms are enabled with a workflow: </a:t>
            </a:r>
          </a:p>
          <a:p>
            <a:pPr marL="457200" indent="-457200" algn="just">
              <a:spcBef>
                <a:spcPts val="600"/>
              </a:spcBef>
              <a:buFont typeface="Wingdings" panose="05000000000000000000" pitchFamily="2" charset="2"/>
              <a:buChar char="Ø"/>
            </a:pPr>
            <a:endParaRPr lang="en-US" sz="3200" dirty="0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457200" indent="-457200" algn="just">
              <a:spcBef>
                <a:spcPts val="600"/>
              </a:spcBef>
              <a:buFont typeface="Wingdings" panose="05000000000000000000" pitchFamily="2" charset="2"/>
              <a:buChar char="Ø"/>
            </a:pPr>
            <a:endParaRPr lang="en-US" sz="3200" dirty="0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457200" indent="-457200" algn="just">
              <a:spcBef>
                <a:spcPts val="600"/>
              </a:spcBef>
              <a:buFont typeface="Wingdings" panose="05000000000000000000" pitchFamily="2" charset="2"/>
              <a:buChar char="Ø"/>
            </a:pPr>
            <a:endParaRPr lang="en-US" sz="3200" dirty="0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1428750" lvl="2" indent="-5143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457200" lvl="2" indent="-457200" algn="just">
              <a:spcBef>
                <a:spcPts val="600"/>
              </a:spcBef>
              <a:buFont typeface="Wingdings" panose="05000000000000000000" pitchFamily="2" charset="2"/>
              <a:buChar char="Ø"/>
            </a:pPr>
            <a:endParaRPr lang="en-US" sz="32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457200" lvl="2" indent="-457200" algn="just">
              <a:spcBef>
                <a:spcPts val="600"/>
              </a:spcBef>
              <a:buFont typeface="Wingdings" panose="05000000000000000000" pitchFamily="2" charset="2"/>
              <a:buChar char="Ø"/>
            </a:pPr>
            <a:endParaRPr lang="en-US" sz="32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457200" lvl="2" indent="-457200" algn="just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</a:rPr>
              <a:t>Parakh Web Portal is facilitated for the State Admin and Nodal Officer to:</a:t>
            </a:r>
          </a:p>
          <a:p>
            <a:pPr marL="1828800" lvl="5" indent="-4572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</a:rPr>
              <a:t>Visualize location-wise inspections and their MIS reports.</a:t>
            </a:r>
          </a:p>
          <a:p>
            <a:pPr marL="1828800" lvl="5" indent="-4572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</a:rPr>
              <a:t>View a GIS map view of the inspected Hostels.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9DBEE969-09DC-3C70-196B-4A4A898962A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7174" y="263716"/>
            <a:ext cx="1462774" cy="308968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="" xmlns:a16="http://schemas.microsoft.com/office/drawing/2014/main" id="{EFBB1563-5206-8154-8625-A81F1F85DC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1400" y="2812933"/>
            <a:ext cx="2983180" cy="7002187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8" name="Group 17">
            <a:extLst>
              <a:ext uri="{FF2B5EF4-FFF2-40B4-BE49-F238E27FC236}">
                <a16:creationId xmlns="" xmlns:a16="http://schemas.microsoft.com/office/drawing/2014/main" id="{00F0806D-115B-E503-E776-1C2F4C7EEDBE}"/>
              </a:ext>
            </a:extLst>
          </p:cNvPr>
          <p:cNvGrpSpPr/>
          <p:nvPr/>
        </p:nvGrpSpPr>
        <p:grpSpPr>
          <a:xfrm>
            <a:off x="532251" y="5524500"/>
            <a:ext cx="13389429" cy="3058610"/>
            <a:chOff x="599604" y="5176645"/>
            <a:chExt cx="17751094" cy="6212151"/>
          </a:xfrm>
        </p:grpSpPr>
        <p:pic>
          <p:nvPicPr>
            <p:cNvPr id="20" name="Picture 19">
              <a:extLst>
                <a:ext uri="{FF2B5EF4-FFF2-40B4-BE49-F238E27FC236}">
                  <a16:creationId xmlns="" xmlns:a16="http://schemas.microsoft.com/office/drawing/2014/main" id="{A203BF63-AE94-5549-1591-41B0AC8D6C0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9604" y="5224724"/>
              <a:ext cx="2175562" cy="2175562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="" xmlns:a16="http://schemas.microsoft.com/office/drawing/2014/main" id="{F452EB64-AFFF-9955-B2D2-0D872F703EA4}"/>
                </a:ext>
              </a:extLst>
            </p:cNvPr>
            <p:cNvSpPr txBox="1"/>
            <p:nvPr/>
          </p:nvSpPr>
          <p:spPr>
            <a:xfrm>
              <a:off x="599604" y="7578261"/>
              <a:ext cx="260503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dirty="0"/>
                <a:t>Nodal Officer assign work to field officer via web portal</a:t>
              </a:r>
            </a:p>
          </p:txBody>
        </p:sp>
        <p:pic>
          <p:nvPicPr>
            <p:cNvPr id="22" name="Picture 21">
              <a:extLst>
                <a:ext uri="{FF2B5EF4-FFF2-40B4-BE49-F238E27FC236}">
                  <a16:creationId xmlns="" xmlns:a16="http://schemas.microsoft.com/office/drawing/2014/main" id="{256DBC7F-E79D-9534-1116-C6B7430E592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52841" y="5408638"/>
              <a:ext cx="1312702" cy="1767478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="" xmlns:a16="http://schemas.microsoft.com/office/drawing/2014/main" id="{359EEEA1-8B1C-B16B-1B13-9A61EC31D6BF}"/>
                </a:ext>
              </a:extLst>
            </p:cNvPr>
            <p:cNvSpPr txBox="1"/>
            <p:nvPr/>
          </p:nvSpPr>
          <p:spPr>
            <a:xfrm>
              <a:off x="5019201" y="7547508"/>
              <a:ext cx="3734360" cy="33778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dirty="0"/>
                <a:t>The Field Officer sees the assigned work with all the information of the site under PARAKH application.</a:t>
              </a:r>
            </a:p>
          </p:txBody>
        </p:sp>
        <p:pic>
          <p:nvPicPr>
            <p:cNvPr id="24" name="Picture 23">
              <a:extLst>
                <a:ext uri="{FF2B5EF4-FFF2-40B4-BE49-F238E27FC236}">
                  <a16:creationId xmlns="" xmlns:a16="http://schemas.microsoft.com/office/drawing/2014/main" id="{E943BBE8-A456-1D34-B804-931A049D3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16799" y="5342471"/>
              <a:ext cx="1838972" cy="1838972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="" xmlns:a16="http://schemas.microsoft.com/office/drawing/2014/main" id="{7266DE99-CB82-7D9F-6EFC-A6E71F41EEFE}"/>
                </a:ext>
              </a:extLst>
            </p:cNvPr>
            <p:cNvSpPr txBox="1"/>
            <p:nvPr/>
          </p:nvSpPr>
          <p:spPr>
            <a:xfrm>
              <a:off x="9605103" y="7485694"/>
              <a:ext cx="3351511" cy="33778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Field officer input and capture GIS-based Inspection/Survey details through the mobile application.</a:t>
              </a:r>
            </a:p>
          </p:txBody>
        </p:sp>
        <p:pic>
          <p:nvPicPr>
            <p:cNvPr id="26" name="Picture 25">
              <a:extLst>
                <a:ext uri="{FF2B5EF4-FFF2-40B4-BE49-F238E27FC236}">
                  <a16:creationId xmlns="" xmlns:a16="http://schemas.microsoft.com/office/drawing/2014/main" id="{992216FB-8E76-4A35-1014-BAB437FA156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662984" y="5176645"/>
              <a:ext cx="1881563" cy="1881563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="" xmlns:a16="http://schemas.microsoft.com/office/drawing/2014/main" id="{57D27DFE-CBE4-1B09-367E-B5AAC2A6D253}"/>
                </a:ext>
              </a:extLst>
            </p:cNvPr>
            <p:cNvSpPr txBox="1"/>
            <p:nvPr/>
          </p:nvSpPr>
          <p:spPr>
            <a:xfrm>
              <a:off x="14191007" y="7373612"/>
              <a:ext cx="4159691" cy="40151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</a:lstStyle>
            <a:p>
              <a:r>
                <a:rPr lang="en-US" sz="2000" dirty="0"/>
                <a:t>Following the submission of the Inspection/Survey by the field officer, the nodal officer undertakes a review and verifies the submitted data.</a:t>
              </a:r>
            </a:p>
          </p:txBody>
        </p:sp>
        <p:pic>
          <p:nvPicPr>
            <p:cNvPr id="28" name="Picture 27">
              <a:extLst>
                <a:ext uri="{FF2B5EF4-FFF2-40B4-BE49-F238E27FC236}">
                  <a16:creationId xmlns="" xmlns:a16="http://schemas.microsoft.com/office/drawing/2014/main" id="{19D872FD-D3CE-31C4-8CE5-AD46E822F16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2904696">
              <a:off x="3279493" y="5712018"/>
              <a:ext cx="1099876" cy="1099876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="" xmlns:a16="http://schemas.microsoft.com/office/drawing/2014/main" id="{A7C550F8-B35A-52C5-96F8-C67E387F654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2855317">
              <a:off x="12633345" y="5596200"/>
              <a:ext cx="1331509" cy="1331509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="" xmlns:a16="http://schemas.microsoft.com/office/drawing/2014/main" id="{D5E2107C-C5F3-384D-829E-BA0A0DC369A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2827832">
              <a:off x="7824045" y="5731149"/>
              <a:ext cx="1099876" cy="10998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67294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D54AE093-D069-31B7-41D0-4E99D64AC2D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61284" y="145073"/>
            <a:ext cx="1611659" cy="12101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366A41AD-1B2B-4D63-9062-209FD9299368}"/>
              </a:ext>
            </a:extLst>
          </p:cNvPr>
          <p:cNvSpPr txBox="1"/>
          <p:nvPr/>
        </p:nvSpPr>
        <p:spPr>
          <a:xfrm>
            <a:off x="315058" y="233684"/>
            <a:ext cx="14543942" cy="10329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defTabSz="1371600">
              <a:lnSpc>
                <a:spcPct val="150000"/>
              </a:lnSpc>
              <a:defRPr/>
            </a:pPr>
            <a:r>
              <a:rPr lang="en-US" sz="4500" b="1" dirty="0">
                <a:solidFill>
                  <a:srgbClr val="0070C0"/>
                </a:solidFill>
                <a:latin typeface="Poppins" pitchFamily="2" charset="77"/>
              </a:rPr>
              <a:t>New Borewell Request &amp; Notification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A6EA3799-D67C-87FD-C597-453C157E8FA1}"/>
              </a:ext>
            </a:extLst>
          </p:cNvPr>
          <p:cNvSpPr txBox="1"/>
          <p:nvPr/>
        </p:nvSpPr>
        <p:spPr>
          <a:xfrm>
            <a:off x="15437512" y="3695700"/>
            <a:ext cx="2743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Agency to fill the compliance report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="" xmlns:a16="http://schemas.microsoft.com/office/drawing/2014/main" id="{F85E9780-F161-D9DB-B52E-D55D04D429D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5585" y="4420975"/>
            <a:ext cx="2956025" cy="566691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C170268D-6C5F-65FA-423B-AFFA88FC98F5}"/>
              </a:ext>
            </a:extLst>
          </p:cNvPr>
          <p:cNvSpPr txBox="1"/>
          <p:nvPr/>
        </p:nvSpPr>
        <p:spPr>
          <a:xfrm>
            <a:off x="11762173" y="3711089"/>
            <a:ext cx="32624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Agency’s acknowledgement for borewell work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="" xmlns:a16="http://schemas.microsoft.com/office/drawing/2014/main" id="{0BACE3B7-C0F3-8EA2-FB0F-CBD8BEDE73F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6200" y="4457700"/>
            <a:ext cx="2864512" cy="56669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9A8E956A-EC62-C88E-B76C-AEDDFEEBE9C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4229100"/>
            <a:ext cx="2815388" cy="59436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7602CEA7-74E4-E2DA-3D81-9C734897929A}"/>
              </a:ext>
            </a:extLst>
          </p:cNvPr>
          <p:cNvSpPr txBox="1"/>
          <p:nvPr/>
        </p:nvSpPr>
        <p:spPr>
          <a:xfrm>
            <a:off x="362228" y="152560"/>
            <a:ext cx="99026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Poppins" pitchFamily="2" charset="77"/>
                <a:cs typeface="Poppins" pitchFamily="2" charset="77"/>
              </a:rPr>
              <a:t>Borewell Management System</a:t>
            </a:r>
            <a:endParaRPr lang="en-US" sz="3000" b="1" dirty="0">
              <a:solidFill>
                <a:srgbClr val="0070C0"/>
              </a:solidFill>
              <a:latin typeface="Poppins" pitchFamily="2" charset="77"/>
              <a:cs typeface="Poppins" pitchFamily="2" charset="77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="" xmlns:a16="http://schemas.microsoft.com/office/drawing/2014/main" id="{9B7313FD-6BFD-B661-2777-165EC47872ED}"/>
              </a:ext>
            </a:extLst>
          </p:cNvPr>
          <p:cNvGrpSpPr/>
          <p:nvPr/>
        </p:nvGrpSpPr>
        <p:grpSpPr>
          <a:xfrm>
            <a:off x="3329344" y="4762500"/>
            <a:ext cx="7998094" cy="4876800"/>
            <a:chOff x="3438252" y="4229100"/>
            <a:chExt cx="7998094" cy="4419600"/>
          </a:xfrm>
        </p:grpSpPr>
        <p:sp>
          <p:nvSpPr>
            <p:cNvPr id="11" name="Rectangle 10">
              <a:extLst>
                <a:ext uri="{FF2B5EF4-FFF2-40B4-BE49-F238E27FC236}">
                  <a16:creationId xmlns="" xmlns:a16="http://schemas.microsoft.com/office/drawing/2014/main" id="{A5112F02-C867-2A16-73FF-133CD53EA1A5}"/>
                </a:ext>
              </a:extLst>
            </p:cNvPr>
            <p:cNvSpPr/>
            <p:nvPr/>
          </p:nvSpPr>
          <p:spPr>
            <a:xfrm>
              <a:off x="3438252" y="4229100"/>
              <a:ext cx="7998094" cy="4419600"/>
            </a:xfrm>
            <a:prstGeom prst="rect">
              <a:avLst/>
            </a:prstGeom>
            <a:noFill/>
          </p:spPr>
        </p:sp>
        <p:sp>
          <p:nvSpPr>
            <p:cNvPr id="21" name="Freeform: Shape 20">
              <a:extLst>
                <a:ext uri="{FF2B5EF4-FFF2-40B4-BE49-F238E27FC236}">
                  <a16:creationId xmlns="" xmlns:a16="http://schemas.microsoft.com/office/drawing/2014/main" id="{4D9EBC55-2D25-DA53-467F-59E6DB4036B2}"/>
                </a:ext>
              </a:extLst>
            </p:cNvPr>
            <p:cNvSpPr/>
            <p:nvPr/>
          </p:nvSpPr>
          <p:spPr>
            <a:xfrm>
              <a:off x="4964572" y="4301518"/>
              <a:ext cx="2535282" cy="542641"/>
            </a:xfrm>
            <a:custGeom>
              <a:avLst/>
              <a:gdLst>
                <a:gd name="connsiteX0" fmla="*/ 0 w 2475709"/>
                <a:gd name="connsiteY0" fmla="*/ 0 h 489182"/>
                <a:gd name="connsiteX1" fmla="*/ 2475709 w 2475709"/>
                <a:gd name="connsiteY1" fmla="*/ 0 h 489182"/>
                <a:gd name="connsiteX2" fmla="*/ 2475709 w 2475709"/>
                <a:gd name="connsiteY2" fmla="*/ 489182 h 489182"/>
                <a:gd name="connsiteX3" fmla="*/ 0 w 2475709"/>
                <a:gd name="connsiteY3" fmla="*/ 489182 h 489182"/>
                <a:gd name="connsiteX4" fmla="*/ 0 w 2475709"/>
                <a:gd name="connsiteY4" fmla="*/ 0 h 489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75709" h="489182">
                  <a:moveTo>
                    <a:pt x="0" y="0"/>
                  </a:moveTo>
                  <a:lnTo>
                    <a:pt x="2475709" y="0"/>
                  </a:lnTo>
                  <a:lnTo>
                    <a:pt x="2475709" y="489182"/>
                  </a:lnTo>
                  <a:lnTo>
                    <a:pt x="0" y="489182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-1" tIns="0" rIns="431432" bIns="-1" numCol="1" spcCol="1270" anchor="t" anchorCtr="0">
              <a:noAutofit/>
            </a:bodyPr>
            <a:lstStyle/>
            <a:p>
              <a:pPr marL="0" lvl="0" indent="0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700" b="1" kern="1200" dirty="0"/>
                <a:t>Mobile Application </a:t>
              </a:r>
            </a:p>
            <a:p>
              <a:pPr marL="0" lvl="0" indent="0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700" b="1" kern="1200" dirty="0"/>
                <a:t> New Borewell </a:t>
              </a: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="" xmlns:a16="http://schemas.microsoft.com/office/drawing/2014/main" id="{07837775-28D3-6575-D689-CA883CA52C2B}"/>
                </a:ext>
              </a:extLst>
            </p:cNvPr>
            <p:cNvSpPr/>
            <p:nvPr/>
          </p:nvSpPr>
          <p:spPr>
            <a:xfrm>
              <a:off x="3887800" y="5078606"/>
              <a:ext cx="3360452" cy="2258024"/>
            </a:xfrm>
            <a:custGeom>
              <a:avLst/>
              <a:gdLst>
                <a:gd name="connsiteX0" fmla="*/ 0 w 2436650"/>
                <a:gd name="connsiteY0" fmla="*/ 0 h 2475709"/>
                <a:gd name="connsiteX1" fmla="*/ 2436650 w 2436650"/>
                <a:gd name="connsiteY1" fmla="*/ 0 h 2475709"/>
                <a:gd name="connsiteX2" fmla="*/ 2436650 w 2436650"/>
                <a:gd name="connsiteY2" fmla="*/ 2475709 h 2475709"/>
                <a:gd name="connsiteX3" fmla="*/ 0 w 2436650"/>
                <a:gd name="connsiteY3" fmla="*/ 2475709 h 2475709"/>
                <a:gd name="connsiteX4" fmla="*/ 0 w 2436650"/>
                <a:gd name="connsiteY4" fmla="*/ 0 h 2475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6650" h="2475709">
                  <a:moveTo>
                    <a:pt x="0" y="0"/>
                  </a:moveTo>
                  <a:lnTo>
                    <a:pt x="2436650" y="0"/>
                  </a:lnTo>
                  <a:lnTo>
                    <a:pt x="2436650" y="2475709"/>
                  </a:lnTo>
                  <a:lnTo>
                    <a:pt x="0" y="247570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63576" tIns="431432" rIns="163576" bIns="163576" numCol="1" spcCol="1270" anchor="t" anchorCtr="0">
              <a:noAutofit/>
            </a:bodyPr>
            <a:lstStyle/>
            <a:p>
              <a:pPr marL="171450" lvl="1" indent="-171450" algn="l" defTabSz="8001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IN" sz="2000" b="1" kern="1200" dirty="0">
                  <a:solidFill>
                    <a:schemeClr val="bg1"/>
                  </a:solidFill>
                </a:rPr>
                <a:t>Citizens:</a:t>
              </a:r>
              <a:r>
                <a:rPr lang="en-IN" sz="2000" kern="1200" dirty="0">
                  <a:solidFill>
                    <a:schemeClr val="bg1"/>
                  </a:solidFill>
                </a:rPr>
                <a:t> </a:t>
              </a:r>
              <a:r>
                <a:rPr lang="en-IN" sz="2000" dirty="0">
                  <a:solidFill>
                    <a:schemeClr val="bg1"/>
                  </a:solidFill>
                </a:rPr>
                <a:t>R</a:t>
              </a:r>
              <a:r>
                <a:rPr lang="en-IN" sz="2000" kern="1200" dirty="0">
                  <a:solidFill>
                    <a:schemeClr val="bg1"/>
                  </a:solidFill>
                </a:rPr>
                <a:t>aise a request to initiate borewell work</a:t>
              </a:r>
            </a:p>
            <a:p>
              <a:pPr marL="171450" lvl="1" indent="-171450" algn="l" defTabSz="8001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IN" sz="2000" b="1" kern="1200" dirty="0">
                  <a:solidFill>
                    <a:schemeClr val="bg1"/>
                  </a:solidFill>
                </a:rPr>
                <a:t>Agencies:</a:t>
              </a:r>
              <a:r>
                <a:rPr lang="en-IN" sz="2000" kern="1200" dirty="0">
                  <a:solidFill>
                    <a:schemeClr val="bg1"/>
                  </a:solidFill>
                </a:rPr>
                <a:t> First acknowledge the borewell request, Followed by filling the compliance report, </a:t>
              </a:r>
              <a:r>
                <a:rPr lang="en-IN" sz="2000" dirty="0">
                  <a:solidFill>
                    <a:schemeClr val="bg1"/>
                  </a:solidFill>
                </a:rPr>
                <a:t>o</a:t>
              </a:r>
              <a:r>
                <a:rPr lang="en-IN" sz="2000" kern="1200" dirty="0">
                  <a:solidFill>
                    <a:schemeClr val="bg1"/>
                  </a:solidFill>
                </a:rPr>
                <a:t>n work completion.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="" xmlns:a16="http://schemas.microsoft.com/office/drawing/2014/main" id="{D62235D3-F32D-6C71-E71E-098638ADAFCC}"/>
                </a:ext>
              </a:extLst>
            </p:cNvPr>
            <p:cNvSpPr/>
            <p:nvPr/>
          </p:nvSpPr>
          <p:spPr>
            <a:xfrm>
              <a:off x="3683577" y="4229100"/>
              <a:ext cx="1171687" cy="1025092"/>
            </a:xfrm>
            <a:prstGeom prst="rect">
              <a:avLst/>
            </a:prstGeom>
            <a:blipFill rotWithShape="1">
              <a:blip r:embed="rId6"/>
              <a:srcRect/>
              <a:stretch>
                <a:fillRect/>
              </a:stretch>
            </a:blipFill>
            <a:ln>
              <a:solidFill>
                <a:schemeClr val="tx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4" name="Freeform: Shape 23">
              <a:extLst>
                <a:ext uri="{FF2B5EF4-FFF2-40B4-BE49-F238E27FC236}">
                  <a16:creationId xmlns="" xmlns:a16="http://schemas.microsoft.com/office/drawing/2014/main" id="{1FB4B694-F369-70FD-3D62-53D580AEF02B}"/>
                </a:ext>
              </a:extLst>
            </p:cNvPr>
            <p:cNvSpPr/>
            <p:nvPr/>
          </p:nvSpPr>
          <p:spPr>
            <a:xfrm>
              <a:off x="9055889" y="4381500"/>
              <a:ext cx="1993111" cy="620907"/>
            </a:xfrm>
            <a:custGeom>
              <a:avLst/>
              <a:gdLst>
                <a:gd name="connsiteX0" fmla="*/ 0 w 2475709"/>
                <a:gd name="connsiteY0" fmla="*/ 0 h 770208"/>
                <a:gd name="connsiteX1" fmla="*/ 2475709 w 2475709"/>
                <a:gd name="connsiteY1" fmla="*/ 0 h 770208"/>
                <a:gd name="connsiteX2" fmla="*/ 2475709 w 2475709"/>
                <a:gd name="connsiteY2" fmla="*/ 770208 h 770208"/>
                <a:gd name="connsiteX3" fmla="*/ 0 w 2475709"/>
                <a:gd name="connsiteY3" fmla="*/ 770208 h 770208"/>
                <a:gd name="connsiteX4" fmla="*/ 0 w 2475709"/>
                <a:gd name="connsiteY4" fmla="*/ 0 h 770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75709" h="770208">
                  <a:moveTo>
                    <a:pt x="0" y="0"/>
                  </a:moveTo>
                  <a:lnTo>
                    <a:pt x="2475709" y="0"/>
                  </a:lnTo>
                  <a:lnTo>
                    <a:pt x="2475709" y="770208"/>
                  </a:lnTo>
                  <a:lnTo>
                    <a:pt x="0" y="770208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-1" tIns="0" rIns="431432" bIns="-1" numCol="1" spcCol="1270" anchor="t" anchorCtr="0">
              <a:noAutofit/>
            </a:bodyPr>
            <a:lstStyle/>
            <a:p>
              <a:pPr marL="0" lvl="0" indent="0" defTabSz="889000"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700" b="1" dirty="0"/>
                <a:t>Web Portal  </a:t>
              </a:r>
            </a:p>
            <a:p>
              <a:pPr marL="0" lvl="0" indent="0" defTabSz="889000"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700" b="1" dirty="0"/>
                <a:t>New Borewell</a:t>
              </a: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="" xmlns:a16="http://schemas.microsoft.com/office/drawing/2014/main" id="{86CF84BF-E161-5E34-6ADD-CDCE81E972EB}"/>
                </a:ext>
              </a:extLst>
            </p:cNvPr>
            <p:cNvSpPr/>
            <p:nvPr/>
          </p:nvSpPr>
          <p:spPr>
            <a:xfrm>
              <a:off x="7941452" y="5078776"/>
              <a:ext cx="3360452" cy="2257854"/>
            </a:xfrm>
            <a:custGeom>
              <a:avLst/>
              <a:gdLst>
                <a:gd name="connsiteX0" fmla="*/ 0 w 2436650"/>
                <a:gd name="connsiteY0" fmla="*/ 0 h 2475709"/>
                <a:gd name="connsiteX1" fmla="*/ 2436650 w 2436650"/>
                <a:gd name="connsiteY1" fmla="*/ 0 h 2475709"/>
                <a:gd name="connsiteX2" fmla="*/ 2436650 w 2436650"/>
                <a:gd name="connsiteY2" fmla="*/ 2475709 h 2475709"/>
                <a:gd name="connsiteX3" fmla="*/ 0 w 2436650"/>
                <a:gd name="connsiteY3" fmla="*/ 2475709 h 2475709"/>
                <a:gd name="connsiteX4" fmla="*/ 0 w 2436650"/>
                <a:gd name="connsiteY4" fmla="*/ 0 h 2475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6650" h="2475709">
                  <a:moveTo>
                    <a:pt x="0" y="0"/>
                  </a:moveTo>
                  <a:lnTo>
                    <a:pt x="2436650" y="0"/>
                  </a:lnTo>
                  <a:lnTo>
                    <a:pt x="2436650" y="2475709"/>
                  </a:lnTo>
                  <a:lnTo>
                    <a:pt x="0" y="247570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63576" tIns="431432" rIns="163576" bIns="163576" numCol="1" spcCol="1270" anchor="t" anchorCtr="0">
              <a:noAutofit/>
            </a:bodyPr>
            <a:lstStyle/>
            <a:p>
              <a:pPr marL="171450" lvl="1" indent="-171450" algn="l" defTabSz="8001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IN" sz="2000" b="1" kern="1200" dirty="0">
                  <a:solidFill>
                    <a:schemeClr val="bg1"/>
                  </a:solidFill>
                </a:rPr>
                <a:t>Department</a:t>
              </a:r>
              <a:r>
                <a:rPr lang="en-IN" sz="2000" kern="1200" dirty="0">
                  <a:solidFill>
                    <a:schemeClr val="bg1"/>
                  </a:solidFill>
                </a:rPr>
                <a:t>:  </a:t>
              </a:r>
              <a:r>
                <a:rPr lang="en-IN" sz="2000" dirty="0">
                  <a:solidFill>
                    <a:schemeClr val="bg1"/>
                  </a:solidFill>
                </a:rPr>
                <a:t>M</a:t>
              </a:r>
              <a:r>
                <a:rPr lang="en-IN" sz="2000" kern="1200" dirty="0">
                  <a:solidFill>
                    <a:schemeClr val="bg1"/>
                  </a:solidFill>
                </a:rPr>
                <a:t>onitors &amp; view compliance reports</a:t>
              </a:r>
            </a:p>
            <a:p>
              <a:pPr marL="171450" lvl="1" indent="-171450" algn="l" defTabSz="8001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IN" sz="2000" b="1" dirty="0" err="1">
                  <a:solidFill>
                    <a:schemeClr val="bg1"/>
                  </a:solidFill>
                </a:rPr>
                <a:t>eServicesRegistration</a:t>
              </a:r>
              <a:r>
                <a:rPr lang="en-IN" sz="2000" dirty="0">
                  <a:solidFill>
                    <a:schemeClr val="bg1"/>
                  </a:solidFill>
                </a:rPr>
                <a:t>: </a:t>
              </a:r>
              <a:r>
                <a:rPr lang="en-IN" sz="2000" kern="1200" dirty="0">
                  <a:solidFill>
                    <a:schemeClr val="bg1"/>
                  </a:solidFill>
                </a:rPr>
                <a:t>Agencies register themselves for Borewell Work</a:t>
              </a:r>
            </a:p>
          </p:txBody>
        </p:sp>
        <p:pic>
          <p:nvPicPr>
            <p:cNvPr id="27" name="Picture 26">
              <a:extLst>
                <a:ext uri="{FF2B5EF4-FFF2-40B4-BE49-F238E27FC236}">
                  <a16:creationId xmlns="" xmlns:a16="http://schemas.microsoft.com/office/drawing/2014/main" id="{31BA5224-0EAC-C331-371F-3EA89EE5671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8202" y="4229100"/>
              <a:ext cx="1185610" cy="114552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sp>
        <p:nvSpPr>
          <p:cNvPr id="31" name="TextBox 30">
            <a:extLst>
              <a:ext uri="{FF2B5EF4-FFF2-40B4-BE49-F238E27FC236}">
                <a16:creationId xmlns="" xmlns:a16="http://schemas.microsoft.com/office/drawing/2014/main" id="{8379975E-D3EC-BC41-7E9F-966308CF0CFC}"/>
              </a:ext>
            </a:extLst>
          </p:cNvPr>
          <p:cNvSpPr txBox="1"/>
          <p:nvPr/>
        </p:nvSpPr>
        <p:spPr>
          <a:xfrm>
            <a:off x="382230" y="1466232"/>
            <a:ext cx="175557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800" b="1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Parakh framework is customized for PHE department to manage New Borewell Request &amp; its Compliance as per the instructions of Honorable Supreme Court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="" xmlns:a16="http://schemas.microsoft.com/office/drawing/2014/main" id="{3AB7111C-6E30-D547-C3AB-5DCDB8E11E35}"/>
              </a:ext>
            </a:extLst>
          </p:cNvPr>
          <p:cNvSpPr txBox="1"/>
          <p:nvPr/>
        </p:nvSpPr>
        <p:spPr>
          <a:xfrm>
            <a:off x="10141656" y="2331226"/>
            <a:ext cx="7760801" cy="1010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  <a:defRPr/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Compliances of completion of Borewell work via geo-tagged images and videos,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Notification to the PHE department for the completion of Borewell work.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="" xmlns:a16="http://schemas.microsoft.com/office/drawing/2014/main" id="{6AA28291-51A0-F3D1-1C0F-86D8B48A6E02}"/>
              </a:ext>
            </a:extLst>
          </p:cNvPr>
          <p:cNvSpPr txBox="1"/>
          <p:nvPr/>
        </p:nvSpPr>
        <p:spPr>
          <a:xfrm>
            <a:off x="382230" y="1714500"/>
            <a:ext cx="11366691" cy="2422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en-US" sz="2000" b="1" dirty="0">
                <a:solidFill>
                  <a:srgbClr val="FFC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Incorporated Features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Registration of the Borewell Agencies, which perform the borewell digging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Enablement of citizens to raise a request/notification for the New Borewell work to start.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Notifying the PHE Department, when the new borewell work starts.</a:t>
            </a:r>
          </a:p>
          <a:p>
            <a:pPr algn="just">
              <a:lnSpc>
                <a:spcPct val="200000"/>
              </a:lnSpc>
              <a:defRPr/>
            </a:pPr>
            <a:endParaRPr lang="en-US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9128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0665B44B-47F0-119D-002B-62D820A117AA}"/>
              </a:ext>
            </a:extLst>
          </p:cNvPr>
          <p:cNvSpPr txBox="1"/>
          <p:nvPr/>
        </p:nvSpPr>
        <p:spPr>
          <a:xfrm>
            <a:off x="4071011" y="263717"/>
            <a:ext cx="13923570" cy="280076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 defTabSz="1371600"/>
            <a:r>
              <a:rPr lang="en-US" sz="4400" b="1" spc="-146" dirty="0">
                <a:solidFill>
                  <a:srgbClr val="44546A"/>
                </a:solidFill>
                <a:latin typeface="Poppins" pitchFamily="2" charset="77"/>
                <a:cs typeface="Poppins" pitchFamily="2" charset="77"/>
              </a:rPr>
              <a:t>Wash on Wheel Application </a:t>
            </a:r>
          </a:p>
          <a:p>
            <a:pPr algn="ctr" defTabSz="1371600"/>
            <a:r>
              <a:rPr lang="en-IN" sz="3600" b="1" spc="-146" dirty="0" err="1">
                <a:solidFill>
                  <a:srgbClr val="44546A"/>
                </a:solidFill>
                <a:latin typeface="Poppins" pitchFamily="2" charset="77"/>
                <a:cs typeface="Poppins" pitchFamily="2" charset="77"/>
              </a:rPr>
              <a:t>Chhindwada</a:t>
            </a:r>
            <a:r>
              <a:rPr lang="en-IN" sz="3600" b="1" spc="-146" dirty="0">
                <a:solidFill>
                  <a:srgbClr val="44546A"/>
                </a:solidFill>
                <a:latin typeface="Poppins" pitchFamily="2" charset="77"/>
                <a:cs typeface="Poppins" pitchFamily="2" charset="77"/>
              </a:rPr>
              <a:t> Collectorate, MP</a:t>
            </a:r>
          </a:p>
          <a:p>
            <a:pPr defTabSz="1371600"/>
            <a:endParaRPr lang="en-IN" b="1" spc="-146" dirty="0">
              <a:solidFill>
                <a:srgbClr val="44546A"/>
              </a:solidFill>
              <a:latin typeface="Poppins" pitchFamily="2" charset="77"/>
              <a:cs typeface="Poppins" pitchFamily="2" charset="77"/>
            </a:endParaRPr>
          </a:p>
          <a:p>
            <a:pPr defTabSz="1371600"/>
            <a:endParaRPr lang="en-IN" b="1" spc="-146" dirty="0">
              <a:solidFill>
                <a:srgbClr val="44546A"/>
              </a:solidFill>
              <a:latin typeface="Poppins" pitchFamily="2" charset="77"/>
              <a:cs typeface="Poppins" pitchFamily="2" charset="77"/>
            </a:endParaRPr>
          </a:p>
          <a:p>
            <a:pPr algn="ctr" defTabSz="1371600"/>
            <a:r>
              <a:rPr lang="en-IN" sz="3600" b="1" spc="-146" dirty="0">
                <a:solidFill>
                  <a:srgbClr val="00B88E"/>
                </a:solidFill>
                <a:latin typeface="Poppins" pitchFamily="2" charset="77"/>
                <a:cs typeface="Poppins" pitchFamily="2" charset="77"/>
              </a:rPr>
              <a:t>Features &amp; Usage</a:t>
            </a:r>
            <a:endParaRPr lang="en-US" sz="3600" b="1" spc="-146" dirty="0">
              <a:solidFill>
                <a:srgbClr val="00B88E"/>
              </a:solidFill>
              <a:latin typeface="Poppins" pitchFamily="2" charset="77"/>
              <a:cs typeface="Poppins" pitchFamily="2" charset="77"/>
            </a:endParaRPr>
          </a:p>
          <a:p>
            <a:pPr defTabSz="1371600"/>
            <a:endParaRPr lang="en-US" sz="2400" b="1" spc="-146" dirty="0">
              <a:solidFill>
                <a:srgbClr val="00B88E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C227EDEC-7DF9-9D3A-6B7C-0AB9CDAB3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0981" y="9815122"/>
            <a:ext cx="2133600" cy="365126"/>
          </a:xfrm>
        </p:spPr>
        <p:txBody>
          <a:bodyPr/>
          <a:lstStyle/>
          <a:p>
            <a:pPr defTabSz="1371600"/>
            <a:fld id="{B6F15528-21DE-4FAA-801E-634DDDAF4B2B}" type="slidenum">
              <a:rPr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 defTabSz="1371600"/>
              <a:t>20</a:t>
            </a:fld>
            <a:endParaRPr lang="en-US" dirty="0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sp>
        <p:nvSpPr>
          <p:cNvPr id="11" name="TextBox 6">
            <a:extLst>
              <a:ext uri="{FF2B5EF4-FFF2-40B4-BE49-F238E27FC236}">
                <a16:creationId xmlns="" xmlns:a16="http://schemas.microsoft.com/office/drawing/2014/main" id="{B107EC03-078C-F02F-DF97-1849371630E1}"/>
              </a:ext>
            </a:extLst>
          </p:cNvPr>
          <p:cNvSpPr txBox="1"/>
          <p:nvPr/>
        </p:nvSpPr>
        <p:spPr>
          <a:xfrm>
            <a:off x="6116732" y="2705100"/>
            <a:ext cx="11948110" cy="7635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23" indent="-457223" defTabSz="137160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2801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Parakh’s</a:t>
            </a:r>
            <a:r>
              <a:rPr lang="en-US" sz="280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framework having Geo-Tagged &amp; Geo-Fenced features is used to build solution for Wash on Wheel Application for Chhindwada district.</a:t>
            </a:r>
            <a:br>
              <a:rPr lang="en-US" sz="280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</a:br>
            <a:r>
              <a:rPr lang="en-US" sz="280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</a:p>
          <a:p>
            <a:pPr marL="457223" indent="-457223" algn="just" defTabSz="137160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280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Wash on Wheel application enables </a:t>
            </a:r>
          </a:p>
          <a:p>
            <a:pPr marL="1885950" lvl="2" indent="-514350" defTabSz="13716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80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The citizen or asset in-charge for Anganwadi, School, </a:t>
            </a:r>
            <a:r>
              <a:rPr lang="en-US" sz="2801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Sulabh</a:t>
            </a:r>
            <a:r>
              <a:rPr lang="en-US" sz="280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2801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Shochalay</a:t>
            </a:r>
            <a:r>
              <a:rPr lang="en-US" sz="280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, Panchayat, Hospitals, Hostels </a:t>
            </a:r>
            <a:r>
              <a:rPr lang="en-US" sz="2801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etc</a:t>
            </a:r>
            <a:r>
              <a:rPr lang="en-US" sz="280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can fill a cleaning request. The cleaning request is raised from the cleaning site along with a captured photo, GEO location via the Mobile App. </a:t>
            </a:r>
            <a:br>
              <a:rPr lang="en-US" sz="280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</a:br>
            <a:endParaRPr lang="en-US" sz="2801" dirty="0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1885950" lvl="2" indent="-514350" defTabSz="13716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80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Allocation of the cleaning work to the available “</a:t>
            </a:r>
            <a:r>
              <a:rPr lang="en-US" sz="2801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Swachata</a:t>
            </a:r>
            <a:r>
              <a:rPr lang="en-US" sz="280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2801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Sathi</a:t>
            </a:r>
            <a:r>
              <a:rPr lang="en-US" sz="280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” for cleaning is done by the cluster </a:t>
            </a:r>
            <a:r>
              <a:rPr lang="en-US" sz="2801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incharge</a:t>
            </a:r>
            <a:r>
              <a:rPr lang="en-US" sz="280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via the WEB Panel. </a:t>
            </a:r>
            <a:br>
              <a:rPr lang="en-US" sz="280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</a:br>
            <a:endParaRPr lang="en-US" sz="2801" dirty="0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1885950" lvl="2" indent="-514350" defTabSz="13716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80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The allocated cleaning work, is visible to the cleaning vehicle/</a:t>
            </a:r>
            <a:r>
              <a:rPr lang="en-US" sz="2801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Swachata</a:t>
            </a:r>
            <a:r>
              <a:rPr lang="en-US" sz="280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2801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Sathi</a:t>
            </a:r>
            <a:r>
              <a:rPr lang="en-US" sz="280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on their Mobile App., they will perform the cleaning work and fill the compliance form and submit. The task will be considered completed/closed, and the vehicle will be available for next service. 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589DA905-1019-3B07-B72E-CC06280D0B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4686300"/>
            <a:ext cx="2687732" cy="542318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262FF975-93CF-ADF2-7732-12FBD7F9D7F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4673315"/>
            <a:ext cx="2569025" cy="542318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984A6DCF-B8EC-58CE-95E6-E99658D5AF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158" y="228144"/>
            <a:ext cx="5110842" cy="4124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412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="" xmlns:a16="http://schemas.microsoft.com/office/drawing/2014/main" id="{9170A955-969F-5FD9-87E5-2139B5714767}"/>
              </a:ext>
            </a:extLst>
          </p:cNvPr>
          <p:cNvGrpSpPr/>
          <p:nvPr/>
        </p:nvGrpSpPr>
        <p:grpSpPr>
          <a:xfrm>
            <a:off x="709495" y="787968"/>
            <a:ext cx="16548464" cy="6222635"/>
            <a:chOff x="718978" y="4003695"/>
            <a:chExt cx="17204364" cy="6655035"/>
          </a:xfrm>
        </p:grpSpPr>
        <p:sp>
          <p:nvSpPr>
            <p:cNvPr id="24" name="TextBox 7">
              <a:extLst>
                <a:ext uri="{FF2B5EF4-FFF2-40B4-BE49-F238E27FC236}">
                  <a16:creationId xmlns="" xmlns:a16="http://schemas.microsoft.com/office/drawing/2014/main" id="{4D214E1C-D7A9-FAE3-FA30-57E6058AE2D7}"/>
                </a:ext>
              </a:extLst>
            </p:cNvPr>
            <p:cNvSpPr txBox="1"/>
            <p:nvPr/>
          </p:nvSpPr>
          <p:spPr>
            <a:xfrm>
              <a:off x="980430" y="4003695"/>
              <a:ext cx="16564624" cy="444370"/>
            </a:xfrm>
            <a:prstGeom prst="rect">
              <a:avLst/>
            </a:prstGeom>
          </p:spPr>
          <p:txBody>
            <a:bodyPr wrap="square" lIns="0" tIns="0" rIns="0" bIns="0" rtlCol="0" anchor="ctr">
              <a:spAutoFit/>
            </a:bodyPr>
            <a:lstStyle/>
            <a:p>
              <a:pPr algn="just" defTabSz="1371600">
                <a:spcBef>
                  <a:spcPct val="0"/>
                </a:spcBef>
              </a:pPr>
              <a:r>
                <a:rPr lang="en-US" sz="2700" b="1" u="sng" spc="300" dirty="0">
                  <a:solidFill>
                    <a:srgbClr val="44546A"/>
                  </a:solidFill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Wash on Wheel Workflow</a:t>
              </a:r>
            </a:p>
          </p:txBody>
        </p:sp>
        <p:pic>
          <p:nvPicPr>
            <p:cNvPr id="25" name="Picture 24">
              <a:extLst>
                <a:ext uri="{FF2B5EF4-FFF2-40B4-BE49-F238E27FC236}">
                  <a16:creationId xmlns="" xmlns:a16="http://schemas.microsoft.com/office/drawing/2014/main" id="{D55F3579-0BCF-2CE7-5300-49BD0BEFF7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61139" y="4558710"/>
              <a:ext cx="2175561" cy="2175561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="" xmlns:a16="http://schemas.microsoft.com/office/drawing/2014/main" id="{FF80588F-EEC2-9EDC-D9F6-B6DB818A2621}"/>
                </a:ext>
              </a:extLst>
            </p:cNvPr>
            <p:cNvSpPr txBox="1"/>
            <p:nvPr/>
          </p:nvSpPr>
          <p:spPr>
            <a:xfrm>
              <a:off x="980430" y="6962793"/>
              <a:ext cx="2605030" cy="14812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371600"/>
              <a:r>
                <a:rPr lang="en-IN" sz="2100" dirty="0">
                  <a:solidFill>
                    <a:prstClr val="black"/>
                  </a:solidFill>
                  <a:latin typeface="Calibri" panose="020F0502020204030204"/>
                </a:rPr>
                <a:t>Request for cleaning is raised by Asset In-charge via Mobile Application.</a:t>
              </a:r>
            </a:p>
          </p:txBody>
        </p:sp>
        <p:pic>
          <p:nvPicPr>
            <p:cNvPr id="27" name="Picture 26">
              <a:extLst>
                <a:ext uri="{FF2B5EF4-FFF2-40B4-BE49-F238E27FC236}">
                  <a16:creationId xmlns="" xmlns:a16="http://schemas.microsoft.com/office/drawing/2014/main" id="{1133B6EE-38DD-78DD-B014-43803808D7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25679" y="4636443"/>
              <a:ext cx="1690629" cy="1767475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6D9F2099-9110-6709-A1ED-89932E92CCEB}"/>
                </a:ext>
              </a:extLst>
            </p:cNvPr>
            <p:cNvSpPr txBox="1"/>
            <p:nvPr/>
          </p:nvSpPr>
          <p:spPr>
            <a:xfrm>
              <a:off x="4847251" y="6932041"/>
              <a:ext cx="3157806" cy="18268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371600"/>
              <a:r>
                <a:rPr lang="en-IN" sz="2100" dirty="0">
                  <a:solidFill>
                    <a:prstClr val="black"/>
                  </a:solidFill>
                  <a:latin typeface="Calibri" panose="020F0502020204030204"/>
                </a:rPr>
                <a:t>Officer at Cluster/District Level sees the cleaning request.  Officer assigns the cleaning work to the available vehicle.</a:t>
              </a:r>
            </a:p>
          </p:txBody>
        </p:sp>
        <p:pic>
          <p:nvPicPr>
            <p:cNvPr id="29" name="Picture 28">
              <a:extLst>
                <a:ext uri="{FF2B5EF4-FFF2-40B4-BE49-F238E27FC236}">
                  <a16:creationId xmlns="" xmlns:a16="http://schemas.microsoft.com/office/drawing/2014/main" id="{096A7218-104F-BC05-8C70-B78FB23EF54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8978" y="4746738"/>
              <a:ext cx="1838972" cy="1838971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="" xmlns:a16="http://schemas.microsoft.com/office/drawing/2014/main" id="{AC84AAEC-A328-C4FB-D9AD-93BDD5D4E420}"/>
                </a:ext>
              </a:extLst>
            </p:cNvPr>
            <p:cNvSpPr txBox="1"/>
            <p:nvPr/>
          </p:nvSpPr>
          <p:spPr>
            <a:xfrm>
              <a:off x="8924979" y="6758144"/>
              <a:ext cx="4752770" cy="39005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28625" indent="-428625" defTabSz="1371600">
                <a:buFontTx/>
                <a:buChar char="-"/>
              </a:pPr>
              <a:r>
                <a:rPr lang="en-US" sz="2100" dirty="0">
                  <a:solidFill>
                    <a:prstClr val="black"/>
                  </a:solidFill>
                  <a:latin typeface="Calibri" panose="020F0502020204030204"/>
                </a:rPr>
                <a:t>Notification is received to the Field Vehicle for the assigned cleaning work. </a:t>
              </a:r>
            </a:p>
            <a:p>
              <a:pPr marL="428625" indent="-428625" defTabSz="1371600">
                <a:buFontTx/>
                <a:buChar char="-"/>
              </a:pPr>
              <a:r>
                <a:rPr lang="en-US" sz="2100" dirty="0">
                  <a:solidFill>
                    <a:prstClr val="black"/>
                  </a:solidFill>
                  <a:latin typeface="Calibri" panose="020F0502020204030204"/>
                </a:rPr>
                <a:t>Cleaning Vehicle  visualize the cleaning request and can also see the GIS map view of the path. </a:t>
              </a:r>
            </a:p>
            <a:p>
              <a:pPr marL="428625" indent="-428625" defTabSz="1371600">
                <a:buFontTx/>
                <a:buChar char="-"/>
              </a:pPr>
              <a:r>
                <a:rPr lang="en-US" sz="2100" dirty="0">
                  <a:solidFill>
                    <a:prstClr val="black"/>
                  </a:solidFill>
                  <a:latin typeface="Calibri" panose="020F0502020204030204"/>
                </a:rPr>
                <a:t>Conducts the cleaning work and submits the form along with the GEO tagged photo in the mobile application</a:t>
              </a:r>
            </a:p>
            <a:p>
              <a:pPr marL="428625" indent="-428625" defTabSz="1371600">
                <a:buFontTx/>
                <a:buChar char="-"/>
              </a:pPr>
              <a:endParaRPr lang="en-US" sz="21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pic>
          <p:nvPicPr>
            <p:cNvPr id="31" name="Picture 30">
              <a:extLst>
                <a:ext uri="{FF2B5EF4-FFF2-40B4-BE49-F238E27FC236}">
                  <a16:creationId xmlns="" xmlns:a16="http://schemas.microsoft.com/office/drawing/2014/main" id="{F11BB37E-B1E3-87DF-2D9F-7C3609D303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043809" y="4561180"/>
              <a:ext cx="1881563" cy="1881562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="" xmlns:a16="http://schemas.microsoft.com/office/drawing/2014/main" id="{9AD6658E-8395-60F3-BC7F-13340780A55E}"/>
                </a:ext>
              </a:extLst>
            </p:cNvPr>
            <p:cNvSpPr txBox="1"/>
            <p:nvPr/>
          </p:nvSpPr>
          <p:spPr>
            <a:xfrm>
              <a:off x="14273058" y="6758144"/>
              <a:ext cx="3650284" cy="11356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</a:lstStyle>
            <a:p>
              <a:pPr defTabSz="1371600"/>
              <a:r>
                <a:rPr lang="en-IN" sz="2100" dirty="0">
                  <a:solidFill>
                    <a:prstClr val="black"/>
                  </a:solidFill>
                  <a:latin typeface="Calibri" panose="020F0502020204030204"/>
                </a:rPr>
                <a:t>Officer at Cluster/District Level sees the cleaning work completed.</a:t>
              </a:r>
              <a:endParaRPr lang="en-US" sz="21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pic>
          <p:nvPicPr>
            <p:cNvPr id="33" name="Picture 32">
              <a:extLst>
                <a:ext uri="{FF2B5EF4-FFF2-40B4-BE49-F238E27FC236}">
                  <a16:creationId xmlns="" xmlns:a16="http://schemas.microsoft.com/office/drawing/2014/main" id="{44518E3D-6F5F-B1BB-64CC-A996DCA6BB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3363909">
              <a:off x="3660317" y="5096553"/>
              <a:ext cx="1099876" cy="1099875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="" xmlns:a16="http://schemas.microsoft.com/office/drawing/2014/main" id="{3370653C-3F97-67B4-5809-154B7CCC3A7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3363909">
              <a:off x="13014170" y="4980735"/>
              <a:ext cx="1331509" cy="1331508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="" xmlns:a16="http://schemas.microsoft.com/office/drawing/2014/main" id="{E04B7867-2043-8297-9D09-C239541E870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3363909">
              <a:off x="8204869" y="5115682"/>
              <a:ext cx="1099876" cy="1099875"/>
            </a:xfrm>
            <a:prstGeom prst="rect">
              <a:avLst/>
            </a:prstGeom>
          </p:spPr>
        </p:pic>
      </p:grpSp>
      <p:sp>
        <p:nvSpPr>
          <p:cNvPr id="36" name="Slide Number Placeholder 1">
            <a:extLst>
              <a:ext uri="{FF2B5EF4-FFF2-40B4-BE49-F238E27FC236}">
                <a16:creationId xmlns="" xmlns:a16="http://schemas.microsoft.com/office/drawing/2014/main" id="{27EEEB92-4E02-DE77-80D8-27761CFB5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417294" y="14648819"/>
            <a:ext cx="3200400" cy="547688"/>
          </a:xfrm>
        </p:spPr>
        <p:txBody>
          <a:bodyPr/>
          <a:lstStyle/>
          <a:p>
            <a:pPr defTabSz="1371600"/>
            <a:fld id="{B6F15528-21DE-4FAA-801E-634DDDAF4B2B}" type="slidenum">
              <a:rPr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 defTabSz="1371600"/>
              <a:t>21</a:t>
            </a:fld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="" xmlns:a16="http://schemas.microsoft.com/office/drawing/2014/main" id="{B5E93766-FA4F-53AB-5BAF-82E810EC9334}"/>
              </a:ext>
            </a:extLst>
          </p:cNvPr>
          <p:cNvSpPr txBox="1"/>
          <p:nvPr/>
        </p:nvSpPr>
        <p:spPr>
          <a:xfrm>
            <a:off x="497051" y="6530784"/>
            <a:ext cx="475948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371600"/>
            <a:r>
              <a:rPr lang="en-IN" sz="2700" dirty="0">
                <a:solidFill>
                  <a:prstClr val="black"/>
                </a:solidFill>
                <a:latin typeface="Calibri" panose="020F0502020204030204"/>
              </a:rPr>
              <a:t>Actors of the Application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07A5B3A7-6BE7-A655-DF1C-4E8B32841836}"/>
              </a:ext>
            </a:extLst>
          </p:cNvPr>
          <p:cNvSpPr txBox="1"/>
          <p:nvPr/>
        </p:nvSpPr>
        <p:spPr>
          <a:xfrm>
            <a:off x="609136" y="4957615"/>
            <a:ext cx="26207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371600"/>
            <a:r>
              <a:rPr lang="en-IN" sz="2400" b="1" i="1" dirty="0">
                <a:solidFill>
                  <a:prstClr val="black"/>
                </a:solidFill>
                <a:latin typeface="Calibri" panose="020F0502020204030204"/>
              </a:rPr>
              <a:t>Login as Citizen</a:t>
            </a:r>
          </a:p>
          <a:p>
            <a:pPr algn="ctr" defTabSz="1371600"/>
            <a:r>
              <a:rPr lang="en-IN" sz="2400" b="1" i="1" dirty="0">
                <a:solidFill>
                  <a:prstClr val="black"/>
                </a:solidFill>
                <a:latin typeface="Calibri" panose="020F0502020204030204"/>
              </a:rPr>
              <a:t>Mobile App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="" xmlns:a16="http://schemas.microsoft.com/office/drawing/2014/main" id="{4EDD6A5D-DD97-A59D-365F-571007451EC4}"/>
              </a:ext>
            </a:extLst>
          </p:cNvPr>
          <p:cNvSpPr txBox="1"/>
          <p:nvPr/>
        </p:nvSpPr>
        <p:spPr>
          <a:xfrm>
            <a:off x="4742786" y="5218474"/>
            <a:ext cx="32872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371600"/>
            <a:r>
              <a:rPr lang="en-IN" sz="2400" b="1" i="1" dirty="0">
                <a:solidFill>
                  <a:prstClr val="black"/>
                </a:solidFill>
                <a:latin typeface="Calibri" panose="020F0502020204030204"/>
              </a:rPr>
              <a:t>Login as Department (Web Portal)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="" xmlns:a16="http://schemas.microsoft.com/office/drawing/2014/main" id="{865ACBBA-70B7-FFCA-5D89-AEC8FD29574D}"/>
              </a:ext>
            </a:extLst>
          </p:cNvPr>
          <p:cNvSpPr txBox="1"/>
          <p:nvPr/>
        </p:nvSpPr>
        <p:spPr>
          <a:xfrm>
            <a:off x="9144000" y="6530785"/>
            <a:ext cx="32872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371600"/>
            <a:r>
              <a:rPr lang="en-IN" sz="2400" b="1" i="1" dirty="0">
                <a:solidFill>
                  <a:prstClr val="black"/>
                </a:solidFill>
                <a:latin typeface="Calibri" panose="020F0502020204030204"/>
              </a:rPr>
              <a:t>Login as Agency/Vendor (Mobile App)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="" xmlns:a16="http://schemas.microsoft.com/office/drawing/2014/main" id="{46F97D9B-F535-EBC2-7D0E-98C53AD7E9D9}"/>
              </a:ext>
            </a:extLst>
          </p:cNvPr>
          <p:cNvSpPr txBox="1"/>
          <p:nvPr/>
        </p:nvSpPr>
        <p:spPr>
          <a:xfrm>
            <a:off x="13633948" y="4543489"/>
            <a:ext cx="39228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371600"/>
            <a:r>
              <a:rPr lang="en-IN" sz="2400" b="1" i="1" dirty="0">
                <a:solidFill>
                  <a:prstClr val="black"/>
                </a:solidFill>
                <a:latin typeface="Calibri" panose="020F0502020204030204"/>
              </a:rPr>
              <a:t>As Department (Web Portal)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E7513E29-6CC0-4573-C7A7-9CB5C428D2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7051" y="7431044"/>
            <a:ext cx="7602095" cy="248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34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="" xmlns:a16="http://schemas.microsoft.com/office/drawing/2014/main" id="{8EAA208D-EE67-1407-FE85-8D207CA432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78828" y="0"/>
            <a:ext cx="18366828" cy="10287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3A13E13C-15AC-F753-FB8C-0D4A74048CB2}"/>
              </a:ext>
            </a:extLst>
          </p:cNvPr>
          <p:cNvSpPr txBox="1"/>
          <p:nvPr/>
        </p:nvSpPr>
        <p:spPr>
          <a:xfrm>
            <a:off x="3829627" y="1341541"/>
            <a:ext cx="1362017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914445"/>
            <a:r>
              <a:rPr lang="en-IN" sz="2000" b="1" dirty="0">
                <a:solidFill>
                  <a:prstClr val="black"/>
                </a:solidFill>
                <a:latin typeface="Calibri"/>
              </a:rPr>
              <a:t>Cluster Admin/Supervisor will a</a:t>
            </a:r>
            <a:r>
              <a:rPr lang="en-IN" sz="2000" b="1" dirty="0" err="1">
                <a:solidFill>
                  <a:prstClr val="black"/>
                </a:solidFill>
                <a:latin typeface="Calibri"/>
              </a:rPr>
              <a:t>ssign</a:t>
            </a:r>
            <a:r>
              <a:rPr lang="en-IN" sz="2000" b="1" dirty="0">
                <a:solidFill>
                  <a:prstClr val="black"/>
                </a:solidFill>
                <a:latin typeface="Calibri"/>
              </a:rPr>
              <a:t> the sites/assets to the Vehicle-</a:t>
            </a:r>
            <a:r>
              <a:rPr lang="en-IN" sz="2000" b="1" dirty="0" err="1">
                <a:solidFill>
                  <a:prstClr val="black"/>
                </a:solidFill>
                <a:latin typeface="Calibri"/>
              </a:rPr>
              <a:t>Incharge</a:t>
            </a:r>
            <a:r>
              <a:rPr lang="en-IN" sz="2000" b="1" dirty="0">
                <a:solidFill>
                  <a:prstClr val="black"/>
                </a:solidFill>
                <a:latin typeface="Calibri"/>
              </a:rPr>
              <a:t> to conduct the cleaning</a:t>
            </a:r>
          </a:p>
          <a:p>
            <a:pPr algn="r" defTabSz="914445"/>
            <a:endParaRPr lang="en-IN" sz="20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="" xmlns:a16="http://schemas.microsoft.com/office/drawing/2014/main" id="{8C997CAE-9EB7-9F75-33A3-C806EBC39D47}"/>
              </a:ext>
            </a:extLst>
          </p:cNvPr>
          <p:cNvSpPr txBox="1"/>
          <p:nvPr/>
        </p:nvSpPr>
        <p:spPr>
          <a:xfrm>
            <a:off x="533399" y="251582"/>
            <a:ext cx="15585677" cy="9275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 defTabSz="914445">
              <a:lnSpc>
                <a:spcPts val="8259"/>
              </a:lnSpc>
              <a:spcBef>
                <a:spcPct val="0"/>
              </a:spcBef>
            </a:pPr>
            <a:r>
              <a:rPr lang="en-US" sz="3600" b="1" spc="-146" dirty="0">
                <a:solidFill>
                  <a:srgbClr val="1F497D"/>
                </a:solidFill>
                <a:latin typeface="Poppins" pitchFamily="2" charset="77"/>
                <a:cs typeface="Poppins" pitchFamily="2" charset="77"/>
              </a:rPr>
              <a:t>Web Panel for the allocation of Cleaning Site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FD9C12D7-C258-F894-AD21-2DFECDAFE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773400" y="9799123"/>
            <a:ext cx="2133600" cy="365126"/>
          </a:xfrm>
        </p:spPr>
        <p:txBody>
          <a:bodyPr/>
          <a:lstStyle/>
          <a:p>
            <a:pPr defTabSz="914445"/>
            <a:fld id="{B6F15528-21DE-4FAA-801E-634DDDAF4B2B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914445"/>
              <a:t>22</a:t>
            </a:fld>
            <a:endParaRPr lang="en-US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B2216531-685D-155B-62A7-0D32CA92AE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399" y="2011812"/>
            <a:ext cx="16992600" cy="802360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96603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5561EEBC-F237-8480-EF7B-D0AC3FB6B88E}"/>
              </a:ext>
            </a:extLst>
          </p:cNvPr>
          <p:cNvSpPr txBox="1"/>
          <p:nvPr/>
        </p:nvSpPr>
        <p:spPr>
          <a:xfrm>
            <a:off x="5105400" y="214392"/>
            <a:ext cx="11673023" cy="138499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defTabSz="571500"/>
            <a:r>
              <a:rPr lang="en-US" sz="5400" b="1" spc="-217" dirty="0">
                <a:solidFill>
                  <a:srgbClr val="02245C"/>
                </a:solidFill>
                <a:latin typeface="Poppins" pitchFamily="2" charset="77"/>
                <a:cs typeface="Poppins" pitchFamily="2" charset="77"/>
              </a:rPr>
              <a:t>Dynamic Forms </a:t>
            </a:r>
          </a:p>
          <a:p>
            <a:pPr defTabSz="571500"/>
            <a:r>
              <a:rPr lang="en-US" sz="3000" b="1" spc="-217" dirty="0">
                <a:solidFill>
                  <a:srgbClr val="0886FC"/>
                </a:solidFill>
                <a:latin typeface="Poppins" pitchFamily="2" charset="77"/>
                <a:cs typeface="Poppins" pitchFamily="2" charset="77"/>
              </a:rPr>
              <a:t>Survey, Inspection and General Purposes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B0A9624C-FB94-2E91-8CB7-447F58905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1784772"/>
            <a:ext cx="5250258" cy="3380847"/>
          </a:xfrm>
          <a:prstGeom prst="rect">
            <a:avLst/>
          </a:prstGeom>
        </p:spPr>
      </p:pic>
      <p:sp>
        <p:nvSpPr>
          <p:cNvPr id="24" name="Freeform 4">
            <a:extLst>
              <a:ext uri="{FF2B5EF4-FFF2-40B4-BE49-F238E27FC236}">
                <a16:creationId xmlns="" xmlns:a16="http://schemas.microsoft.com/office/drawing/2014/main" id="{81159861-E471-B9CB-6B25-A926FAB78FB6}"/>
              </a:ext>
            </a:extLst>
          </p:cNvPr>
          <p:cNvSpPr/>
          <p:nvPr/>
        </p:nvSpPr>
        <p:spPr>
          <a:xfrm>
            <a:off x="16165285" y="168227"/>
            <a:ext cx="1624678" cy="1285018"/>
          </a:xfrm>
          <a:custGeom>
            <a:avLst/>
            <a:gdLst/>
            <a:ahLst/>
            <a:cxnLst/>
            <a:rect l="l" t="t" r="r" b="b"/>
            <a:pathLst>
              <a:path w="1915029" h="1477646">
                <a:moveTo>
                  <a:pt x="0" y="0"/>
                </a:moveTo>
                <a:lnTo>
                  <a:pt x="1915029" y="0"/>
                </a:lnTo>
                <a:lnTo>
                  <a:pt x="1915029" y="1477646"/>
                </a:lnTo>
                <a:lnTo>
                  <a:pt x="0" y="14776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pPr defTabSz="571500"/>
            <a:endParaRPr lang="en-US" sz="27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E994C6ED-BF7C-349E-F758-F4871A9EEE80}"/>
              </a:ext>
            </a:extLst>
          </p:cNvPr>
          <p:cNvSpPr txBox="1"/>
          <p:nvPr/>
        </p:nvSpPr>
        <p:spPr>
          <a:xfrm>
            <a:off x="197693" y="1790676"/>
            <a:ext cx="17892616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71500"/>
            <a:r>
              <a:rPr lang="en-IN" sz="2700" dirty="0">
                <a:solidFill>
                  <a:srgbClr val="012356"/>
                </a:solidFill>
                <a:latin typeface="Berlin Sans FB" panose="020E0602020502020306" pitchFamily="34" charset="0"/>
              </a:rPr>
              <a:t>On-The-Fly Launch GIS Enabled Mobile Application using Dynamic Forms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="" xmlns:a16="http://schemas.microsoft.com/office/drawing/2014/main" id="{04A33174-9E33-E196-4EB5-078543E2B2DC}"/>
              </a:ext>
            </a:extLst>
          </p:cNvPr>
          <p:cNvSpPr txBox="1"/>
          <p:nvPr/>
        </p:nvSpPr>
        <p:spPr>
          <a:xfrm>
            <a:off x="10973436" y="5283180"/>
            <a:ext cx="753614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71500"/>
            <a:r>
              <a:rPr lang="en-IN" sz="3000" b="1" dirty="0">
                <a:solidFill>
                  <a:srgbClr val="000000"/>
                </a:solidFill>
                <a:latin typeface="Calibri" panose="020F0502020204030204" pitchFamily="34" charset="0"/>
              </a:rPr>
              <a:t>Few Implementations:</a:t>
            </a:r>
          </a:p>
          <a:p>
            <a:pPr marL="514350" indent="-514350" defTabSz="5715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000000"/>
                </a:solidFill>
                <a:latin typeface="Calibri" panose="020F0502020204030204" pitchFamily="34" charset="0"/>
                <a:sym typeface="Arial"/>
              </a:rPr>
              <a:t>Ujjain Auto Mela - 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sym typeface="Arial"/>
              </a:rPr>
              <a:t>Vehicle Dispatch &amp; Sale, Ujjain Commissioner</a:t>
            </a:r>
          </a:p>
          <a:p>
            <a:pPr marL="514350" indent="-514350" defTabSz="5715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000000"/>
                </a:solidFill>
                <a:latin typeface="Calibri" panose="020F0502020204030204" pitchFamily="34" charset="0"/>
                <a:sym typeface="Arial"/>
              </a:rPr>
              <a:t>Hostel and Instant Site Inspection App 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sym typeface="Arial"/>
              </a:rPr>
              <a:t>for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sym typeface="Arial"/>
              </a:rPr>
              <a:t>Alirajpur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sym typeface="Arial"/>
              </a:rPr>
              <a:t> Collector</a:t>
            </a:r>
          </a:p>
          <a:p>
            <a:pPr marL="514350" indent="-514350" defTabSz="5715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000000"/>
                </a:solidFill>
                <a:latin typeface="Calibri" panose="020F0502020204030204" pitchFamily="34" charset="0"/>
                <a:sym typeface="Arial"/>
              </a:rPr>
              <a:t>Wash On Wheel</a:t>
            </a:r>
            <a:r>
              <a:rPr lang="en-US" sz="3600" dirty="0">
                <a:solidFill>
                  <a:srgbClr val="000000"/>
                </a:solidFill>
                <a:latin typeface="Calibri" panose="020F0502020204030204" pitchFamily="34" charset="0"/>
                <a:sym typeface="Arial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sym typeface="Arial"/>
              </a:rPr>
              <a:t>for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sym typeface="Arial"/>
              </a:rPr>
              <a:t>Chhindwara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sym typeface="Arial"/>
              </a:rPr>
              <a:t> Collectorate</a:t>
            </a:r>
          </a:p>
          <a:p>
            <a:pPr marL="514350" indent="-514350" defTabSz="5715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000000"/>
                </a:solidFill>
                <a:latin typeface="Calibri" panose="020F0502020204030204" pitchFamily="34" charset="0"/>
                <a:sym typeface="Arial"/>
              </a:rPr>
              <a:t>Site Inspection Form 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sym typeface="Arial"/>
              </a:rPr>
              <a:t>for Bhopal Commissioner Office</a:t>
            </a:r>
          </a:p>
          <a:p>
            <a:pPr marL="514350" indent="-514350" defTabSz="5715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000000"/>
                </a:solidFill>
                <a:latin typeface="Calibri" panose="020F0502020204030204" pitchFamily="34" charset="0"/>
                <a:sym typeface="Arial"/>
              </a:rPr>
              <a:t>Borewell Management System 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sym typeface="Arial"/>
              </a:rPr>
              <a:t>for PHED</a:t>
            </a:r>
            <a:r>
              <a:rPr lang="en-US" sz="3000" dirty="0">
                <a:solidFill>
                  <a:srgbClr val="000000"/>
                </a:solidFill>
                <a:latin typeface="Calibri" panose="020F0502020204030204" pitchFamily="34" charset="0"/>
                <a:sym typeface="Arial"/>
              </a:rPr>
              <a:t> </a:t>
            </a:r>
          </a:p>
          <a:p>
            <a:pPr marL="514350" indent="-514350" defTabSz="5715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000000"/>
                </a:solidFill>
                <a:latin typeface="Calibri" panose="020F0502020204030204" pitchFamily="34" charset="0"/>
                <a:sym typeface="Arial"/>
              </a:rPr>
              <a:t>14 Inspection forms 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sym typeface="Arial"/>
              </a:rPr>
              <a:t>for Labour Department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="" xmlns:a16="http://schemas.microsoft.com/office/drawing/2014/main" id="{E9241C7A-FA55-1A7D-3392-53EB8524F4B2}"/>
              </a:ext>
            </a:extLst>
          </p:cNvPr>
          <p:cNvGrpSpPr/>
          <p:nvPr/>
        </p:nvGrpSpPr>
        <p:grpSpPr>
          <a:xfrm>
            <a:off x="146963" y="2943086"/>
            <a:ext cx="10457934" cy="7294305"/>
            <a:chOff x="97975" y="2070917"/>
            <a:chExt cx="6971956" cy="4862870"/>
          </a:xfrm>
        </p:grpSpPr>
        <p:sp>
          <p:nvSpPr>
            <p:cNvPr id="27" name="TextBox 26">
              <a:extLst>
                <a:ext uri="{FF2B5EF4-FFF2-40B4-BE49-F238E27FC236}">
                  <a16:creationId xmlns="" xmlns:a16="http://schemas.microsoft.com/office/drawing/2014/main" id="{48D90E7C-F37D-ACF5-75F8-27647F2F2615}"/>
                </a:ext>
              </a:extLst>
            </p:cNvPr>
            <p:cNvSpPr txBox="1"/>
            <p:nvPr/>
          </p:nvSpPr>
          <p:spPr>
            <a:xfrm>
              <a:off x="97975" y="2070917"/>
              <a:ext cx="6971956" cy="48628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450058" indent="-450058" defTabSz="571500">
                <a:buFont typeface="Wingdings" panose="05000000000000000000" pitchFamily="2" charset="2"/>
                <a:buChar char="v"/>
              </a:pPr>
              <a:r>
                <a:rPr lang="en-US" sz="3000" b="1" dirty="0">
                  <a:solidFill>
                    <a:srgbClr val="000000"/>
                  </a:solidFill>
                  <a:latin typeface="Calibri" panose="020F0502020204030204" pitchFamily="34" charset="0"/>
                  <a:ea typeface="Times New Roman" panose="02020603050405020304" pitchFamily="18" charset="0"/>
                </a:rPr>
                <a:t>Ease of Use:</a:t>
              </a:r>
              <a:r>
                <a:rPr lang="en-US" sz="3600" dirty="0">
                  <a:solidFill>
                    <a:srgbClr val="000000"/>
                  </a:solidFill>
                  <a:latin typeface="Calibri" panose="020F0502020204030204" pitchFamily="34" charset="0"/>
                  <a:ea typeface="Times New Roman" panose="02020603050405020304" pitchFamily="18" charset="0"/>
                </a:rPr>
                <a:t> </a:t>
              </a:r>
              <a:r>
                <a:rPr lang="en-US" sz="3000" dirty="0">
                  <a:solidFill>
                    <a:srgbClr val="44546A"/>
                  </a:solidFill>
                  <a:latin typeface="Calibri" panose="020F0502020204030204" pitchFamily="34" charset="0"/>
                </a:rPr>
                <a:t>Department’s admin Or business user can create their own custom forms.  </a:t>
              </a:r>
              <a:r>
                <a:rPr lang="en-US" sz="3600" dirty="0">
                  <a:solidFill>
                    <a:srgbClr val="000000"/>
                  </a:solidFill>
                  <a:latin typeface="Calibri" panose="020F0502020204030204" pitchFamily="34" charset="0"/>
                  <a:ea typeface="Times New Roman" panose="02020603050405020304" pitchFamily="18" charset="0"/>
                </a:rPr>
                <a:t/>
              </a:r>
              <a:br>
                <a:rPr lang="en-US" sz="3600" dirty="0">
                  <a:solidFill>
                    <a:srgbClr val="000000"/>
                  </a:solidFill>
                  <a:latin typeface="Calibri" panose="020F0502020204030204" pitchFamily="34" charset="0"/>
                  <a:ea typeface="Times New Roman" panose="02020603050405020304" pitchFamily="18" charset="0"/>
                </a:rPr>
              </a:br>
              <a:r>
                <a:rPr lang="en-US" sz="2100" dirty="0">
                  <a:solidFill>
                    <a:srgbClr val="44546A"/>
                  </a:solidFill>
                  <a:latin typeface="Calibri" panose="020F0502020204030204" pitchFamily="34" charset="0"/>
                  <a:ea typeface="Times New Roman" panose="02020603050405020304" pitchFamily="18" charset="0"/>
                </a:rPr>
                <a:t>No dependencies on code/development/build. </a:t>
              </a:r>
              <a:r>
                <a:rPr lang="en-US" sz="2100" dirty="0">
                  <a:solidFill>
                    <a:srgbClr val="44546A"/>
                  </a:solidFill>
                  <a:latin typeface="Calibri" panose="020F0502020204030204" pitchFamily="34" charset="0"/>
                </a:rPr>
                <a:t>Usage could be for Survey, Inspection, Data Collection, Questionnaire or General Purpose.  </a:t>
              </a:r>
            </a:p>
            <a:p>
              <a:pPr marL="450058" indent="-450058" defTabSz="571500">
                <a:buFont typeface="Wingdings" panose="05000000000000000000" pitchFamily="2" charset="2"/>
                <a:buChar char="v"/>
              </a:pPr>
              <a:endParaRPr lang="en-US" sz="2100" dirty="0">
                <a:solidFill>
                  <a:srgbClr val="44546A"/>
                </a:solidFill>
                <a:latin typeface="Calibri" panose="020F0502020204030204" pitchFamily="34" charset="0"/>
              </a:endParaRPr>
            </a:p>
            <a:p>
              <a:pPr marL="450058" indent="-450058" defTabSz="571500">
                <a:buFont typeface="Wingdings" panose="05000000000000000000" pitchFamily="2" charset="2"/>
                <a:buChar char="v"/>
              </a:pPr>
              <a:r>
                <a:rPr lang="en-US" sz="3000" b="1" dirty="0">
                  <a:solidFill>
                    <a:srgbClr val="000000"/>
                  </a:solidFill>
                  <a:latin typeface="Calibri" panose="020F0502020204030204" pitchFamily="34" charset="0"/>
                  <a:ea typeface="Times New Roman" panose="02020603050405020304" pitchFamily="18" charset="0"/>
                </a:rPr>
                <a:t>Workflow:</a:t>
              </a:r>
              <a:r>
                <a:rPr lang="en-US" sz="3600" dirty="0">
                  <a:solidFill>
                    <a:srgbClr val="000000"/>
                  </a:solidFill>
                  <a:latin typeface="Calibri" panose="020F0502020204030204" pitchFamily="34" charset="0"/>
                  <a:ea typeface="Times New Roman" panose="02020603050405020304" pitchFamily="18" charset="0"/>
                </a:rPr>
                <a:t> </a:t>
              </a:r>
              <a:r>
                <a:rPr lang="en-US" sz="3000" dirty="0">
                  <a:solidFill>
                    <a:srgbClr val="000000"/>
                  </a:solidFill>
                  <a:latin typeface="Calibri" panose="020F0502020204030204" pitchFamily="34" charset="0"/>
                </a:rPr>
                <a:t>Survey and Inspection forms are equipped with a workflow. The Admin can “initiate &amp; assign” a survey, inspection, or initiate a general form.</a:t>
              </a:r>
              <a:br>
                <a:rPr lang="en-US" sz="3000" dirty="0">
                  <a:solidFill>
                    <a:srgbClr val="000000"/>
                  </a:solidFill>
                  <a:latin typeface="Calibri" panose="020F0502020204030204" pitchFamily="34" charset="0"/>
                </a:rPr>
              </a:br>
              <a:r>
                <a:rPr lang="en-US" sz="1650" dirty="0">
                  <a:solidFill>
                    <a:srgbClr val="000000"/>
                  </a:solidFill>
                  <a:latin typeface="Calibri" panose="020F0502020204030204" pitchFamily="34" charset="0"/>
                </a:rPr>
                <a:t/>
              </a:r>
              <a:br>
                <a:rPr lang="en-US" sz="1650" dirty="0">
                  <a:solidFill>
                    <a:srgbClr val="000000"/>
                  </a:solidFill>
                  <a:latin typeface="Calibri" panose="020F0502020204030204" pitchFamily="34" charset="0"/>
                </a:rPr>
              </a:br>
              <a:endParaRPr lang="en-US" sz="2400" dirty="0">
                <a:solidFill>
                  <a:srgbClr val="000000"/>
                </a:solidFill>
                <a:latin typeface="Calibri" panose="020F0502020204030204" pitchFamily="34" charset="0"/>
              </a:endParaRPr>
            </a:p>
            <a:p>
              <a:pPr marL="450058" indent="-450058" defTabSz="571500">
                <a:buFont typeface="Wingdings" panose="05000000000000000000" pitchFamily="2" charset="2"/>
                <a:buChar char="v"/>
              </a:pPr>
              <a:r>
                <a:rPr lang="en-US" sz="30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Reach:</a:t>
              </a:r>
              <a:r>
                <a:rPr lang="en-US" sz="3600" dirty="0">
                  <a:solidFill>
                    <a:srgbClr val="000000"/>
                  </a:solidFill>
                  <a:latin typeface="Calibri" panose="020F0502020204030204" pitchFamily="34" charset="0"/>
                </a:rPr>
                <a:t> </a:t>
              </a:r>
              <a:r>
                <a:rPr lang="en-US" sz="3000" dirty="0">
                  <a:solidFill>
                    <a:srgbClr val="000000"/>
                  </a:solidFill>
                  <a:latin typeface="Calibri" panose="020F0502020204030204" pitchFamily="34" charset="0"/>
                </a:rPr>
                <a:t>Enables “Citizens” and “Age             </a:t>
              </a:r>
              <a:r>
                <a:rPr lang="en-US" sz="3000" dirty="0" err="1">
                  <a:solidFill>
                    <a:srgbClr val="000000"/>
                  </a:solidFill>
                  <a:latin typeface="Calibri" panose="020F0502020204030204" pitchFamily="34" charset="0"/>
                </a:rPr>
                <a:t>ncies</a:t>
              </a:r>
              <a:r>
                <a:rPr lang="en-US" sz="3000" dirty="0">
                  <a:solidFill>
                    <a:srgbClr val="000000"/>
                  </a:solidFill>
                  <a:latin typeface="Calibri" panose="020F0502020204030204" pitchFamily="34" charset="0"/>
                </a:rPr>
                <a:t>” to fill out the forms.</a:t>
              </a:r>
            </a:p>
            <a:p>
              <a:pPr defTabSz="571500"/>
              <a:r>
                <a:rPr lang="en-US" sz="21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 </a:t>
              </a:r>
              <a:r>
                <a:rPr lang="en-US" sz="2100" dirty="0">
                  <a:solidFill>
                    <a:srgbClr val="000000"/>
                  </a:solidFill>
                  <a:latin typeface="Calibri" panose="020F0502020204030204" pitchFamily="34" charset="0"/>
                </a:rPr>
                <a:t/>
              </a:r>
              <a:br>
                <a:rPr lang="en-US" sz="2100" dirty="0">
                  <a:solidFill>
                    <a:srgbClr val="000000"/>
                  </a:solidFill>
                  <a:latin typeface="Calibri" panose="020F0502020204030204" pitchFamily="34" charset="0"/>
                </a:rPr>
              </a:br>
              <a:endParaRPr lang="en-US" sz="450" dirty="0">
                <a:solidFill>
                  <a:srgbClr val="000000"/>
                </a:solidFill>
                <a:latin typeface="Calibri" panose="020F0502020204030204" pitchFamily="34" charset="0"/>
              </a:endParaRPr>
            </a:p>
            <a:p>
              <a:pPr marL="450058" indent="-450058" defTabSz="571500">
                <a:buFont typeface="Wingdings" panose="05000000000000000000" pitchFamily="2" charset="2"/>
                <a:buChar char="v"/>
              </a:pPr>
              <a:r>
                <a:rPr lang="en-US" sz="3000" b="1" dirty="0">
                  <a:solidFill>
                    <a:srgbClr val="000000"/>
                  </a:solidFill>
                  <a:latin typeface="Calibri" panose="020F0502020204030204" pitchFamily="34" charset="0"/>
                  <a:ea typeface="Times New Roman" panose="02020603050405020304" pitchFamily="18" charset="0"/>
                </a:rPr>
                <a:t>Solution:</a:t>
              </a:r>
              <a:r>
                <a:rPr lang="en-US" sz="3600" b="1" dirty="0">
                  <a:solidFill>
                    <a:srgbClr val="000000"/>
                  </a:solidFill>
                  <a:latin typeface="Calibri" panose="020F0502020204030204" pitchFamily="34" charset="0"/>
                  <a:ea typeface="Times New Roman" panose="02020603050405020304" pitchFamily="18" charset="0"/>
                </a:rPr>
                <a:t> </a:t>
              </a:r>
              <a:r>
                <a:rPr lang="en-US" sz="2700" dirty="0">
                  <a:solidFill>
                    <a:srgbClr val="000000"/>
                  </a:solidFill>
                  <a:latin typeface="Calibri" panose="020F0502020204030204" pitchFamily="34" charset="0"/>
                </a:rPr>
                <a:t>Versatile solution designed for both Mobile and Web. </a:t>
              </a:r>
            </a:p>
            <a:p>
              <a:pPr marL="450058" indent="-450058" defTabSz="571500">
                <a:buFont typeface="Wingdings" panose="05000000000000000000" pitchFamily="2" charset="2"/>
                <a:buChar char="v"/>
              </a:pPr>
              <a:endParaRPr lang="en-US" sz="1200" dirty="0">
                <a:solidFill>
                  <a:srgbClr val="000000"/>
                </a:solidFill>
                <a:latin typeface="Calibri" panose="020F0502020204030204" pitchFamily="34" charset="0"/>
              </a:endParaRPr>
            </a:p>
            <a:p>
              <a:pPr marL="450058" indent="-450058" defTabSz="571500">
                <a:buFont typeface="Wingdings" panose="05000000000000000000" pitchFamily="2" charset="2"/>
                <a:buChar char="v"/>
              </a:pPr>
              <a:r>
                <a:rPr lang="en-US" sz="3000" b="1" dirty="0">
                  <a:solidFill>
                    <a:srgbClr val="000000"/>
                  </a:solidFill>
                  <a:latin typeface="Calibri" panose="020F0502020204030204" pitchFamily="34" charset="0"/>
                  <a:ea typeface="Times New Roman" panose="02020603050405020304" pitchFamily="18" charset="0"/>
                </a:rPr>
                <a:t>Quick to Launch</a:t>
              </a:r>
              <a:r>
                <a:rPr lang="en-US" sz="3000" dirty="0">
                  <a:solidFill>
                    <a:srgbClr val="000000"/>
                  </a:solidFill>
                  <a:latin typeface="Calibri" panose="020F0502020204030204" pitchFamily="34" charset="0"/>
                  <a:ea typeface="Times New Roman" panose="02020603050405020304" pitchFamily="18" charset="0"/>
                </a:rPr>
                <a:t>:</a:t>
              </a:r>
              <a:r>
                <a:rPr lang="en-US" sz="3600" dirty="0">
                  <a:solidFill>
                    <a:srgbClr val="000000"/>
                  </a:solidFill>
                  <a:latin typeface="Calibri" panose="020F0502020204030204" pitchFamily="34" charset="0"/>
                  <a:ea typeface="Times New Roman" panose="02020603050405020304" pitchFamily="18" charset="0"/>
                </a:rPr>
                <a:t>  </a:t>
              </a:r>
              <a:r>
                <a:rPr lang="en-US" sz="2700" dirty="0">
                  <a:solidFill>
                    <a:srgbClr val="000000"/>
                  </a:solidFill>
                  <a:latin typeface="Calibri" panose="020F0502020204030204" pitchFamily="34" charset="0"/>
                </a:rPr>
                <a:t>Create a form using UI interface(web) and launch it on Mobile. </a:t>
              </a:r>
              <a:endParaRPr lang="en-IN" sz="2700" dirty="0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pic>
          <p:nvPicPr>
            <p:cNvPr id="37" name="Picture 36">
              <a:extLst>
                <a:ext uri="{FF2B5EF4-FFF2-40B4-BE49-F238E27FC236}">
                  <a16:creationId xmlns="" xmlns:a16="http://schemas.microsoft.com/office/drawing/2014/main" id="{63A710A4-74A9-E9E1-E3C7-0C74C022D89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14381" y="4448162"/>
              <a:ext cx="3350248" cy="918497"/>
            </a:xfrm>
            <a:prstGeom prst="rect">
              <a:avLst/>
            </a:prstGeom>
          </p:spPr>
        </p:pic>
      </p:grpSp>
      <p:pic>
        <p:nvPicPr>
          <p:cNvPr id="3" name="Picture 2">
            <a:hlinkClick r:id="rId5"/>
            <a:extLst>
              <a:ext uri="{FF2B5EF4-FFF2-40B4-BE49-F238E27FC236}">
                <a16:creationId xmlns="" xmlns:a16="http://schemas.microsoft.com/office/drawing/2014/main" id="{609FDC6F-BF5B-7360-A837-C484E9E61B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19871" y="9621087"/>
            <a:ext cx="1998903" cy="55766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F033061D-5920-78B2-9C45-8C20AD9E78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41507" y="9620807"/>
            <a:ext cx="1892241" cy="5357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F6D3655F-91BE-BF13-2B96-65D7BC60E38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621" y="239491"/>
            <a:ext cx="4775449" cy="1359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91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16078200" y="331396"/>
            <a:ext cx="1915029" cy="1477646"/>
          </a:xfrm>
          <a:custGeom>
            <a:avLst/>
            <a:gdLst/>
            <a:ahLst/>
            <a:cxnLst/>
            <a:rect l="l" t="t" r="r" b="b"/>
            <a:pathLst>
              <a:path w="1915029" h="1477646">
                <a:moveTo>
                  <a:pt x="0" y="0"/>
                </a:moveTo>
                <a:lnTo>
                  <a:pt x="1915029" y="0"/>
                </a:lnTo>
                <a:lnTo>
                  <a:pt x="1915029" y="1477646"/>
                </a:lnTo>
                <a:lnTo>
                  <a:pt x="0" y="14776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792960" y="2933700"/>
            <a:ext cx="14702080" cy="3016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just">
              <a:buNone/>
            </a:pPr>
            <a:endParaRPr lang="en-US" sz="2800" dirty="0">
              <a:solidFill>
                <a:srgbClr val="00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800" dirty="0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800" dirty="0">
              <a:solidFill>
                <a:srgbClr val="00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800" dirty="0">
              <a:solidFill>
                <a:srgbClr val="00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800" dirty="0">
              <a:solidFill>
                <a:srgbClr val="00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800" dirty="0">
              <a:solidFill>
                <a:srgbClr val="00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800" dirty="0">
              <a:solidFill>
                <a:srgbClr val="00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62000" y="331396"/>
            <a:ext cx="15213038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spcBef>
                <a:spcPct val="0"/>
              </a:spcBef>
            </a:pPr>
            <a:r>
              <a:rPr lang="en-US" sz="3600" b="1" spc="-145" dirty="0" err="1">
                <a:solidFill>
                  <a:srgbClr val="00B88E"/>
                </a:solidFill>
                <a:latin typeface="Poppins" pitchFamily="2" charset="77"/>
                <a:cs typeface="Poppins" pitchFamily="2" charset="77"/>
              </a:rPr>
              <a:t>DistrictGIS</a:t>
            </a:r>
            <a:r>
              <a:rPr lang="en-US" sz="3600" b="1" spc="-145" dirty="0">
                <a:solidFill>
                  <a:srgbClr val="00B88E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IE" sz="3600" b="1" spc="-145" dirty="0">
                <a:solidFill>
                  <a:srgbClr val="00B88E"/>
                </a:solidFill>
                <a:latin typeface="Poppins" pitchFamily="2" charset="77"/>
                <a:cs typeface="Poppins" pitchFamily="2" charset="77"/>
              </a:rPr>
              <a:t>Application for District Governance and Management</a:t>
            </a:r>
            <a:endParaRPr lang="en-US" sz="3600" b="1" spc="-145" dirty="0">
              <a:solidFill>
                <a:srgbClr val="00B88E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" name="TextBox 6">
            <a:extLst>
              <a:ext uri="{FF2B5EF4-FFF2-40B4-BE49-F238E27FC236}">
                <a16:creationId xmlns="" xmlns:a16="http://schemas.microsoft.com/office/drawing/2014/main" id="{F5050848-6AC9-C331-0F0F-E04C951CF553}"/>
              </a:ext>
            </a:extLst>
          </p:cNvPr>
          <p:cNvSpPr txBox="1"/>
          <p:nvPr/>
        </p:nvSpPr>
        <p:spPr>
          <a:xfrm>
            <a:off x="838200" y="1735634"/>
            <a:ext cx="13792200" cy="84176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buNone/>
            </a:pPr>
            <a:endParaRPr lang="en-US" sz="3200" dirty="0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</a:pPr>
            <a:r>
              <a:rPr lang="en-US" sz="3200" b="1" dirty="0">
                <a:latin typeface="Roboto" pitchFamily="34" charset="0"/>
                <a:ea typeface="Roboto" pitchFamily="34" charset="-122"/>
                <a:cs typeface="Roboto" pitchFamily="34" charset="-120"/>
              </a:rPr>
              <a:t>Monitoring and Governance of Projects, Schemes by District Administration</a:t>
            </a:r>
          </a:p>
          <a:p>
            <a:pPr marL="457200" indent="-457200" algn="just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3200" dirty="0">
                <a:ea typeface="Roboto" pitchFamily="34" charset="-122"/>
                <a:cs typeface="Roboto" pitchFamily="34" charset="-120"/>
              </a:rPr>
              <a:t>Each District Admin shall be able to create their own GIS enabled Survey, Inspection, </a:t>
            </a:r>
            <a:r>
              <a:rPr lang="en-US" sz="3200" dirty="0" err="1">
                <a:ea typeface="Roboto" pitchFamily="34" charset="-122"/>
                <a:cs typeface="Roboto" pitchFamily="34" charset="-120"/>
              </a:rPr>
              <a:t>DataCollection</a:t>
            </a:r>
            <a:r>
              <a:rPr lang="en-US" sz="3200" dirty="0">
                <a:ea typeface="Roboto" pitchFamily="34" charset="-122"/>
                <a:cs typeface="Roboto" pitchFamily="34" charset="-120"/>
              </a:rPr>
              <a:t> &amp; General Purpose Forms dynamically using the Web Panel. </a:t>
            </a:r>
          </a:p>
          <a:p>
            <a:pPr marL="457200" indent="-457200" algn="just"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en-US" sz="3200" dirty="0">
                <a:ea typeface="Roboto" pitchFamily="34" charset="-122"/>
                <a:cs typeface="Roboto" pitchFamily="34" charset="-120"/>
              </a:rPr>
              <a:t>The District Admin shall be able to launch their self made, various kind of forms and launch on the </a:t>
            </a:r>
            <a:r>
              <a:rPr lang="en-US" sz="3200" dirty="0" err="1">
                <a:ea typeface="Roboto" pitchFamily="34" charset="-122"/>
                <a:cs typeface="Roboto" pitchFamily="34" charset="-120"/>
              </a:rPr>
              <a:t>DistrictGIS</a:t>
            </a:r>
            <a:r>
              <a:rPr lang="en-US" sz="3200" dirty="0">
                <a:ea typeface="Roboto" pitchFamily="34" charset="-122"/>
                <a:cs typeface="Roboto" pitchFamily="34" charset="-120"/>
              </a:rPr>
              <a:t> Mobile Application instantaneously. </a:t>
            </a:r>
          </a:p>
          <a:p>
            <a:pPr marL="457200" indent="-457200" algn="just"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en-US" sz="3200" dirty="0">
                <a:ea typeface="Roboto" pitchFamily="34" charset="-122"/>
                <a:cs typeface="Roboto" pitchFamily="34" charset="-120"/>
              </a:rPr>
              <a:t> </a:t>
            </a:r>
            <a:r>
              <a:rPr lang="en-US" sz="3200" dirty="0" err="1">
                <a:ea typeface="Roboto" pitchFamily="34" charset="-122"/>
                <a:cs typeface="Roboto" pitchFamily="34" charset="-120"/>
              </a:rPr>
              <a:t>DistrictGIS</a:t>
            </a:r>
            <a:r>
              <a:rPr lang="en-US" sz="3200" dirty="0">
                <a:ea typeface="Roboto" pitchFamily="34" charset="-122"/>
                <a:cs typeface="Roboto" pitchFamily="34" charset="-120"/>
              </a:rPr>
              <a:t> mobile app is build with GIS tools and customized Dashboards for District Collectors to monitor physical progress of projects and schemes, run campaigns and monitor Panchayat/Tahsil level performance</a:t>
            </a:r>
          </a:p>
          <a:p>
            <a:pPr marL="457200" indent="-457200" algn="just"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Dynamic forms are enabled with workflow.</a:t>
            </a:r>
          </a:p>
          <a:p>
            <a:pPr marL="457200" lvl="2" indent="-457200" algn="just"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000000"/>
                </a:solidFill>
                <a:latin typeface="Calibri" panose="020F0502020204030204" pitchFamily="34" charset="0"/>
              </a:rPr>
              <a:t>Admin Web Portal is facilitated for District Admin and Nodal Officer to:</a:t>
            </a:r>
          </a:p>
          <a:p>
            <a:pPr marL="1828800" lvl="5" indent="-4572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</a:rPr>
              <a:t>Visualize GIS map view surveys, inspections and other submitted forms and MIS reports.  Access </a:t>
            </a:r>
            <a:r>
              <a:rPr lang="en-US" sz="2800" dirty="0" err="1">
                <a:solidFill>
                  <a:srgbClr val="000000"/>
                </a:solidFill>
                <a:latin typeface="Calibri" panose="020F0502020204030204" pitchFamily="34" charset="0"/>
              </a:rPr>
              <a:t>PowerBI</a:t>
            </a: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</a:rPr>
              <a:t> dashboard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644E5475-835E-4D4C-1EEE-4F5CE1EF7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756467" y="9590479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C1DD0B45-ADB2-0097-75DB-C37C53207149}"/>
              </a:ext>
            </a:extLst>
          </p:cNvPr>
          <p:cNvSpPr txBox="1"/>
          <p:nvPr/>
        </p:nvSpPr>
        <p:spPr>
          <a:xfrm>
            <a:off x="685800" y="1005915"/>
            <a:ext cx="143256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DistrictGIS</a:t>
            </a:r>
            <a:r>
              <a:rPr lang="en-US" sz="3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mobile &amp; web application powered by Parakh framework aims to facilitates the following capabilities: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64A55D55-51B7-EB48-236A-4CFCABDB8E6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127517" y="3162300"/>
            <a:ext cx="2974502" cy="644769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0B8607EB-42A8-01F4-7424-4295E44978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" y="1138187"/>
            <a:ext cx="18287999" cy="9144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BE64EAA2-A00F-9FC0-E62C-C94CAC593060}"/>
              </a:ext>
            </a:extLst>
          </p:cNvPr>
          <p:cNvSpPr/>
          <p:nvPr/>
        </p:nvSpPr>
        <p:spPr>
          <a:xfrm>
            <a:off x="1" y="-21954"/>
            <a:ext cx="18288002" cy="10344288"/>
          </a:xfrm>
          <a:prstGeom prst="rect">
            <a:avLst/>
          </a:prstGeom>
          <a:solidFill>
            <a:srgbClr val="0070C0">
              <a:alpha val="8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Lato Light" panose="020F0502020204030203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DBDDAA61-986D-4461-4351-DD18383BBE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1145" y="1020389"/>
            <a:ext cx="7662039" cy="766203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8976F9D9-3DED-B94F-8F05-92F7A6FDC823}"/>
              </a:ext>
            </a:extLst>
          </p:cNvPr>
          <p:cNvSpPr txBox="1"/>
          <p:nvPr/>
        </p:nvSpPr>
        <p:spPr>
          <a:xfrm>
            <a:off x="9886493" y="3870457"/>
            <a:ext cx="5968301" cy="1200329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7200" b="1" spc="450" dirty="0">
                <a:solidFill>
                  <a:schemeClr val="bg1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Thank You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="" xmlns:a16="http://schemas.microsoft.com/office/drawing/2014/main" id="{DBD528A9-5A11-9A8B-3AE9-7B1A175A8795}"/>
              </a:ext>
            </a:extLst>
          </p:cNvPr>
          <p:cNvGrpSpPr/>
          <p:nvPr/>
        </p:nvGrpSpPr>
        <p:grpSpPr>
          <a:xfrm>
            <a:off x="1392182" y="1867050"/>
            <a:ext cx="6896913" cy="1977791"/>
            <a:chOff x="-480495" y="2884586"/>
            <a:chExt cx="4099302" cy="1318527"/>
          </a:xfrm>
        </p:grpSpPr>
        <p:sp>
          <p:nvSpPr>
            <p:cNvPr id="12" name="Freeform 949">
              <a:extLst>
                <a:ext uri="{FF2B5EF4-FFF2-40B4-BE49-F238E27FC236}">
                  <a16:creationId xmlns="" xmlns:a16="http://schemas.microsoft.com/office/drawing/2014/main" id="{8240D974-8FB7-2047-A504-FECCABEF249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-480495" y="2939189"/>
              <a:ext cx="908462" cy="908462"/>
            </a:xfrm>
            <a:custGeom>
              <a:avLst/>
              <a:gdLst>
                <a:gd name="T0" fmla="*/ 80304 w 291288"/>
                <a:gd name="T1" fmla="*/ 256446 h 291739"/>
                <a:gd name="T2" fmla="*/ 75895 w 291288"/>
                <a:gd name="T3" fmla="*/ 285182 h 291739"/>
                <a:gd name="T4" fmla="*/ 144207 w 291288"/>
                <a:gd name="T5" fmla="*/ 285182 h 291739"/>
                <a:gd name="T6" fmla="*/ 144207 w 291288"/>
                <a:gd name="T7" fmla="*/ 256446 h 291739"/>
                <a:gd name="T8" fmla="*/ 85813 w 291288"/>
                <a:gd name="T9" fmla="*/ 222616 h 291739"/>
                <a:gd name="T10" fmla="*/ 81772 w 291288"/>
                <a:gd name="T11" fmla="*/ 247352 h 291739"/>
                <a:gd name="T12" fmla="*/ 148614 w 291288"/>
                <a:gd name="T13" fmla="*/ 247352 h 291739"/>
                <a:gd name="T14" fmla="*/ 153020 w 291288"/>
                <a:gd name="T15" fmla="*/ 252081 h 291739"/>
                <a:gd name="T16" fmla="*/ 153020 w 291288"/>
                <a:gd name="T17" fmla="*/ 285182 h 291739"/>
                <a:gd name="T18" fmla="*/ 273483 w 291288"/>
                <a:gd name="T19" fmla="*/ 285182 h 291739"/>
                <a:gd name="T20" fmla="*/ 147513 w 291288"/>
                <a:gd name="T21" fmla="*/ 222616 h 291739"/>
                <a:gd name="T22" fmla="*/ 29621 w 291288"/>
                <a:gd name="T23" fmla="*/ 222616 h 291739"/>
                <a:gd name="T24" fmla="*/ 10524 w 291288"/>
                <a:gd name="T25" fmla="*/ 285182 h 291739"/>
                <a:gd name="T26" fmla="*/ 66713 w 291288"/>
                <a:gd name="T27" fmla="*/ 285182 h 291739"/>
                <a:gd name="T28" fmla="*/ 76997 w 291288"/>
                <a:gd name="T29" fmla="*/ 222616 h 291739"/>
                <a:gd name="T30" fmla="*/ 263202 w 291288"/>
                <a:gd name="T31" fmla="*/ 208067 h 291739"/>
                <a:gd name="T32" fmla="*/ 200397 w 291288"/>
                <a:gd name="T33" fmla="*/ 239349 h 291739"/>
                <a:gd name="T34" fmla="*/ 285235 w 291288"/>
                <a:gd name="T35" fmla="*/ 281181 h 291739"/>
                <a:gd name="T36" fmla="*/ 192319 w 291288"/>
                <a:gd name="T37" fmla="*/ 175329 h 291739"/>
                <a:gd name="T38" fmla="*/ 155960 w 291288"/>
                <a:gd name="T39" fmla="*/ 217160 h 291739"/>
                <a:gd name="T40" fmla="*/ 190483 w 291288"/>
                <a:gd name="T41" fmla="*/ 233893 h 291739"/>
                <a:gd name="T42" fmla="*/ 260628 w 291288"/>
                <a:gd name="T43" fmla="*/ 199336 h 291739"/>
                <a:gd name="T44" fmla="*/ 253281 w 291288"/>
                <a:gd name="T45" fmla="*/ 175329 h 291739"/>
                <a:gd name="T46" fmla="*/ 93892 w 291288"/>
                <a:gd name="T47" fmla="*/ 175329 h 291739"/>
                <a:gd name="T48" fmla="*/ 87649 w 291288"/>
                <a:gd name="T49" fmla="*/ 213886 h 291739"/>
                <a:gd name="T50" fmla="*/ 137594 w 291288"/>
                <a:gd name="T51" fmla="*/ 213886 h 291739"/>
                <a:gd name="T52" fmla="*/ 104910 w 291288"/>
                <a:gd name="T53" fmla="*/ 175329 h 291739"/>
                <a:gd name="T54" fmla="*/ 43943 w 291288"/>
                <a:gd name="T55" fmla="*/ 175329 h 291739"/>
                <a:gd name="T56" fmla="*/ 32191 w 291288"/>
                <a:gd name="T57" fmla="*/ 213886 h 291739"/>
                <a:gd name="T58" fmla="*/ 78468 w 291288"/>
                <a:gd name="T59" fmla="*/ 213886 h 291739"/>
                <a:gd name="T60" fmla="*/ 84711 w 291288"/>
                <a:gd name="T61" fmla="*/ 175329 h 291739"/>
                <a:gd name="T62" fmla="*/ 148614 w 291288"/>
                <a:gd name="T63" fmla="*/ 51969 h 291739"/>
                <a:gd name="T64" fmla="*/ 117485 w 291288"/>
                <a:gd name="T65" fmla="*/ 83268 h 291739"/>
                <a:gd name="T66" fmla="*/ 148614 w 291288"/>
                <a:gd name="T67" fmla="*/ 114201 h 291739"/>
                <a:gd name="T68" fmla="*/ 179744 w 291288"/>
                <a:gd name="T69" fmla="*/ 83268 h 291739"/>
                <a:gd name="T70" fmla="*/ 148614 w 291288"/>
                <a:gd name="T71" fmla="*/ 51969 h 291739"/>
                <a:gd name="T72" fmla="*/ 148614 w 291288"/>
                <a:gd name="T73" fmla="*/ 43233 h 291739"/>
                <a:gd name="T74" fmla="*/ 188899 w 291288"/>
                <a:gd name="T75" fmla="*/ 83268 h 291739"/>
                <a:gd name="T76" fmla="*/ 148614 w 291288"/>
                <a:gd name="T77" fmla="*/ 122936 h 291739"/>
                <a:gd name="T78" fmla="*/ 108328 w 291288"/>
                <a:gd name="T79" fmla="*/ 83268 h 291739"/>
                <a:gd name="T80" fmla="*/ 148614 w 291288"/>
                <a:gd name="T81" fmla="*/ 43233 h 291739"/>
                <a:gd name="T82" fmla="*/ 148614 w 291288"/>
                <a:gd name="T83" fmla="*/ 8732 h 291739"/>
                <a:gd name="T84" fmla="*/ 74427 w 291288"/>
                <a:gd name="T85" fmla="*/ 82208 h 291739"/>
                <a:gd name="T86" fmla="*/ 148614 w 291288"/>
                <a:gd name="T87" fmla="*/ 212067 h 291739"/>
                <a:gd name="T88" fmla="*/ 222433 w 291288"/>
                <a:gd name="T89" fmla="*/ 82208 h 291739"/>
                <a:gd name="T90" fmla="*/ 148614 w 291288"/>
                <a:gd name="T91" fmla="*/ 8732 h 291739"/>
                <a:gd name="T92" fmla="*/ 148614 w 291288"/>
                <a:gd name="T93" fmla="*/ 0 h 291739"/>
                <a:gd name="T94" fmla="*/ 231247 w 291288"/>
                <a:gd name="T95" fmla="*/ 82208 h 291739"/>
                <a:gd name="T96" fmla="*/ 198193 w 291288"/>
                <a:gd name="T97" fmla="*/ 166234 h 291739"/>
                <a:gd name="T98" fmla="*/ 256586 w 291288"/>
                <a:gd name="T99" fmla="*/ 166234 h 291739"/>
                <a:gd name="T100" fmla="*/ 260628 w 291288"/>
                <a:gd name="T101" fmla="*/ 169508 h 291739"/>
                <a:gd name="T102" fmla="*/ 296620 w 291288"/>
                <a:gd name="T103" fmla="*/ 288092 h 291739"/>
                <a:gd name="T104" fmla="*/ 296253 w 291288"/>
                <a:gd name="T105" fmla="*/ 292457 h 291739"/>
                <a:gd name="T106" fmla="*/ 292580 w 291288"/>
                <a:gd name="T107" fmla="*/ 294275 h 291739"/>
                <a:gd name="T108" fmla="*/ 4282 w 291288"/>
                <a:gd name="T109" fmla="*/ 294275 h 291739"/>
                <a:gd name="T110" fmla="*/ 610 w 291288"/>
                <a:gd name="T111" fmla="*/ 292457 h 291739"/>
                <a:gd name="T112" fmla="*/ 243 w 291288"/>
                <a:gd name="T113" fmla="*/ 288092 h 291739"/>
                <a:gd name="T114" fmla="*/ 36232 w 291288"/>
                <a:gd name="T115" fmla="*/ 169508 h 291739"/>
                <a:gd name="T116" fmla="*/ 40639 w 291288"/>
                <a:gd name="T117" fmla="*/ 166234 h 291739"/>
                <a:gd name="T118" fmla="*/ 98298 w 291288"/>
                <a:gd name="T119" fmla="*/ 166234 h 291739"/>
                <a:gd name="T120" fmla="*/ 65612 w 291288"/>
                <a:gd name="T121" fmla="*/ 82208 h 291739"/>
                <a:gd name="T122" fmla="*/ 148614 w 291288"/>
                <a:gd name="T123" fmla="*/ 0 h 291739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291288" h="291739">
                  <a:moveTo>
                    <a:pt x="78754" y="254235"/>
                  </a:moveTo>
                  <a:lnTo>
                    <a:pt x="74431" y="282724"/>
                  </a:lnTo>
                  <a:lnTo>
                    <a:pt x="141424" y="282724"/>
                  </a:lnTo>
                  <a:lnTo>
                    <a:pt x="141424" y="254235"/>
                  </a:lnTo>
                  <a:lnTo>
                    <a:pt x="78754" y="254235"/>
                  </a:lnTo>
                  <a:close/>
                  <a:moveTo>
                    <a:pt x="84156" y="220698"/>
                  </a:moveTo>
                  <a:lnTo>
                    <a:pt x="80194" y="245220"/>
                  </a:lnTo>
                  <a:lnTo>
                    <a:pt x="145746" y="245220"/>
                  </a:lnTo>
                  <a:cubicBezTo>
                    <a:pt x="147907" y="245220"/>
                    <a:pt x="150068" y="247384"/>
                    <a:pt x="150068" y="249908"/>
                  </a:cubicBezTo>
                  <a:lnTo>
                    <a:pt x="150068" y="282724"/>
                  </a:lnTo>
                  <a:lnTo>
                    <a:pt x="268205" y="282724"/>
                  </a:lnTo>
                  <a:lnTo>
                    <a:pt x="144666" y="220698"/>
                  </a:lnTo>
                  <a:lnTo>
                    <a:pt x="84156" y="220698"/>
                  </a:lnTo>
                  <a:close/>
                  <a:moveTo>
                    <a:pt x="29050" y="220698"/>
                  </a:moveTo>
                  <a:lnTo>
                    <a:pt x="10321" y="282724"/>
                  </a:lnTo>
                  <a:lnTo>
                    <a:pt x="65427" y="282724"/>
                  </a:lnTo>
                  <a:lnTo>
                    <a:pt x="75512" y="220698"/>
                  </a:lnTo>
                  <a:lnTo>
                    <a:pt x="29050" y="220698"/>
                  </a:lnTo>
                  <a:close/>
                  <a:moveTo>
                    <a:pt x="258120" y="206273"/>
                  </a:moveTo>
                  <a:lnTo>
                    <a:pt x="196530" y="237286"/>
                  </a:lnTo>
                  <a:lnTo>
                    <a:pt x="279730" y="278757"/>
                  </a:lnTo>
                  <a:lnTo>
                    <a:pt x="258120" y="206273"/>
                  </a:lnTo>
                  <a:close/>
                  <a:moveTo>
                    <a:pt x="188607" y="173818"/>
                  </a:moveTo>
                  <a:cubicBezTo>
                    <a:pt x="174200" y="192930"/>
                    <a:pt x="160153" y="208076"/>
                    <a:pt x="152950" y="215289"/>
                  </a:cubicBezTo>
                  <a:lnTo>
                    <a:pt x="186806" y="231877"/>
                  </a:lnTo>
                  <a:lnTo>
                    <a:pt x="255599" y="197618"/>
                  </a:lnTo>
                  <a:lnTo>
                    <a:pt x="248395" y="173818"/>
                  </a:lnTo>
                  <a:lnTo>
                    <a:pt x="188607" y="173818"/>
                  </a:lnTo>
                  <a:close/>
                  <a:moveTo>
                    <a:pt x="92080" y="173818"/>
                  </a:moveTo>
                  <a:lnTo>
                    <a:pt x="85957" y="212043"/>
                  </a:lnTo>
                  <a:lnTo>
                    <a:pt x="134941" y="212043"/>
                  </a:lnTo>
                  <a:cubicBezTo>
                    <a:pt x="127377" y="204109"/>
                    <a:pt x="115131" y="190406"/>
                    <a:pt x="102885" y="173818"/>
                  </a:cubicBezTo>
                  <a:lnTo>
                    <a:pt x="92080" y="173818"/>
                  </a:lnTo>
                  <a:close/>
                  <a:moveTo>
                    <a:pt x="43096" y="173818"/>
                  </a:moveTo>
                  <a:lnTo>
                    <a:pt x="31571" y="212043"/>
                  </a:lnTo>
                  <a:lnTo>
                    <a:pt x="76953" y="212043"/>
                  </a:lnTo>
                  <a:lnTo>
                    <a:pt x="83076" y="173818"/>
                  </a:lnTo>
                  <a:lnTo>
                    <a:pt x="43096" y="173818"/>
                  </a:lnTo>
                  <a:close/>
                  <a:moveTo>
                    <a:pt x="145746" y="51521"/>
                  </a:moveTo>
                  <a:cubicBezTo>
                    <a:pt x="128866" y="51521"/>
                    <a:pt x="115217" y="65592"/>
                    <a:pt x="115217" y="82550"/>
                  </a:cubicBezTo>
                  <a:cubicBezTo>
                    <a:pt x="115217" y="99507"/>
                    <a:pt x="128866" y="113217"/>
                    <a:pt x="145746" y="113217"/>
                  </a:cubicBezTo>
                  <a:cubicBezTo>
                    <a:pt x="162627" y="113217"/>
                    <a:pt x="176275" y="99507"/>
                    <a:pt x="176275" y="82550"/>
                  </a:cubicBezTo>
                  <a:cubicBezTo>
                    <a:pt x="176275" y="65592"/>
                    <a:pt x="162627" y="51521"/>
                    <a:pt x="145746" y="51521"/>
                  </a:cubicBezTo>
                  <a:close/>
                  <a:moveTo>
                    <a:pt x="145746" y="42862"/>
                  </a:moveTo>
                  <a:cubicBezTo>
                    <a:pt x="167296" y="42862"/>
                    <a:pt x="185254" y="60541"/>
                    <a:pt x="185254" y="82550"/>
                  </a:cubicBezTo>
                  <a:cubicBezTo>
                    <a:pt x="185254" y="104197"/>
                    <a:pt x="167296" y="121876"/>
                    <a:pt x="145746" y="121876"/>
                  </a:cubicBezTo>
                  <a:cubicBezTo>
                    <a:pt x="123837" y="121876"/>
                    <a:pt x="106238" y="104197"/>
                    <a:pt x="106238" y="82550"/>
                  </a:cubicBezTo>
                  <a:cubicBezTo>
                    <a:pt x="106238" y="60541"/>
                    <a:pt x="123837" y="42862"/>
                    <a:pt x="145746" y="42862"/>
                  </a:cubicBezTo>
                  <a:close/>
                  <a:moveTo>
                    <a:pt x="145746" y="8655"/>
                  </a:moveTo>
                  <a:cubicBezTo>
                    <a:pt x="105767" y="8655"/>
                    <a:pt x="72991" y="41471"/>
                    <a:pt x="72991" y="81500"/>
                  </a:cubicBezTo>
                  <a:cubicBezTo>
                    <a:pt x="72991" y="133428"/>
                    <a:pt x="131339" y="195815"/>
                    <a:pt x="145746" y="210240"/>
                  </a:cubicBezTo>
                  <a:cubicBezTo>
                    <a:pt x="159793" y="195815"/>
                    <a:pt x="218141" y="133068"/>
                    <a:pt x="218141" y="81500"/>
                  </a:cubicBezTo>
                  <a:cubicBezTo>
                    <a:pt x="218141" y="41471"/>
                    <a:pt x="185725" y="8655"/>
                    <a:pt x="145746" y="8655"/>
                  </a:cubicBezTo>
                  <a:close/>
                  <a:moveTo>
                    <a:pt x="145746" y="0"/>
                  </a:moveTo>
                  <a:cubicBezTo>
                    <a:pt x="190408" y="0"/>
                    <a:pt x="226785" y="36422"/>
                    <a:pt x="226785" y="81500"/>
                  </a:cubicBezTo>
                  <a:cubicBezTo>
                    <a:pt x="226785" y="109628"/>
                    <a:pt x="211658" y="139920"/>
                    <a:pt x="194369" y="164802"/>
                  </a:cubicBezTo>
                  <a:lnTo>
                    <a:pt x="251637" y="164802"/>
                  </a:lnTo>
                  <a:cubicBezTo>
                    <a:pt x="253438" y="164802"/>
                    <a:pt x="255239" y="166245"/>
                    <a:pt x="255599" y="168048"/>
                  </a:cubicBezTo>
                  <a:lnTo>
                    <a:pt x="290896" y="285609"/>
                  </a:lnTo>
                  <a:cubicBezTo>
                    <a:pt x="291616" y="287051"/>
                    <a:pt x="291256" y="288494"/>
                    <a:pt x="290536" y="289936"/>
                  </a:cubicBezTo>
                  <a:cubicBezTo>
                    <a:pt x="289455" y="291018"/>
                    <a:pt x="288375" y="291739"/>
                    <a:pt x="286934" y="291739"/>
                  </a:cubicBezTo>
                  <a:lnTo>
                    <a:pt x="4198" y="291739"/>
                  </a:lnTo>
                  <a:cubicBezTo>
                    <a:pt x="3117" y="291739"/>
                    <a:pt x="1677" y="291018"/>
                    <a:pt x="596" y="289936"/>
                  </a:cubicBezTo>
                  <a:cubicBezTo>
                    <a:pt x="-124" y="288494"/>
                    <a:pt x="-124" y="287051"/>
                    <a:pt x="236" y="285609"/>
                  </a:cubicBezTo>
                  <a:lnTo>
                    <a:pt x="35533" y="168048"/>
                  </a:lnTo>
                  <a:cubicBezTo>
                    <a:pt x="36253" y="166245"/>
                    <a:pt x="37694" y="164802"/>
                    <a:pt x="39855" y="164802"/>
                  </a:cubicBezTo>
                  <a:lnTo>
                    <a:pt x="96402" y="164802"/>
                  </a:lnTo>
                  <a:cubicBezTo>
                    <a:pt x="79834" y="139920"/>
                    <a:pt x="64347" y="109628"/>
                    <a:pt x="64347" y="81500"/>
                  </a:cubicBezTo>
                  <a:cubicBezTo>
                    <a:pt x="64347" y="36422"/>
                    <a:pt x="100724" y="0"/>
                    <a:pt x="14574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lstStyle/>
            <a:p>
              <a:endParaRPr lang="en-US" sz="1350" b="1" dirty="0">
                <a:latin typeface="Lato Light" panose="020F0502020204030203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="" xmlns:a16="http://schemas.microsoft.com/office/drawing/2014/main" id="{E393E0C5-667C-0D40-94BE-22A0675206BB}"/>
                </a:ext>
              </a:extLst>
            </p:cNvPr>
            <p:cNvSpPr txBox="1"/>
            <p:nvPr/>
          </p:nvSpPr>
          <p:spPr>
            <a:xfrm>
              <a:off x="548037" y="2884586"/>
              <a:ext cx="1347412" cy="307777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  <a:latin typeface="Poppins" pitchFamily="2" charset="77"/>
                  <a:ea typeface="League Spartan" charset="0"/>
                  <a:cs typeface="Poppins" pitchFamily="2" charset="77"/>
                </a:rPr>
                <a:t>Reach Out to </a:t>
              </a:r>
            </a:p>
          </p:txBody>
        </p:sp>
        <p:sp>
          <p:nvSpPr>
            <p:cNvPr id="18" name="Subtitle 2">
              <a:extLst>
                <a:ext uri="{FF2B5EF4-FFF2-40B4-BE49-F238E27FC236}">
                  <a16:creationId xmlns="" xmlns:a16="http://schemas.microsoft.com/office/drawing/2014/main" id="{EB859178-A41C-8A45-A160-AEA71DA7CB19}"/>
                </a:ext>
              </a:extLst>
            </p:cNvPr>
            <p:cNvSpPr txBox="1">
              <a:spLocks/>
            </p:cNvSpPr>
            <p:nvPr/>
          </p:nvSpPr>
          <p:spPr>
            <a:xfrm>
              <a:off x="588601" y="3254862"/>
              <a:ext cx="3030206" cy="948251"/>
            </a:xfrm>
            <a:prstGeom prst="rect">
              <a:avLst/>
            </a:prstGeom>
          </p:spPr>
          <p:txBody>
            <a:bodyPr vert="horz" wrap="square" lIns="68580" tIns="34290" rIns="68580" bIns="3429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2625"/>
                </a:lnSpc>
              </a:pPr>
              <a:r>
                <a:rPr lang="en-US" b="1" dirty="0">
                  <a:solidFill>
                    <a:schemeClr val="bg1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Mukta ExtraLight" panose="020B0000000000000000" pitchFamily="34" charset="77"/>
                </a:rPr>
                <a:t>MPSEDC Ltd.  State IT Centre, 47-A, </a:t>
              </a:r>
              <a:r>
                <a:rPr lang="en-US" b="1" dirty="0" err="1">
                  <a:solidFill>
                    <a:schemeClr val="bg1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Mukta ExtraLight" panose="020B0000000000000000" pitchFamily="34" charset="77"/>
                </a:rPr>
                <a:t>Arera</a:t>
              </a:r>
              <a:r>
                <a:rPr lang="en-US" b="1" dirty="0">
                  <a:solidFill>
                    <a:schemeClr val="bg1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Mukta ExtraLight" panose="020B0000000000000000" pitchFamily="34" charset="77"/>
                </a:rPr>
                <a:t> Hills, Bhopal-462011 (M.P.)</a:t>
              </a:r>
            </a:p>
            <a:p>
              <a:pPr algn="l"/>
              <a:r>
                <a:rPr lang="en-US" sz="1800" b="1" dirty="0"/>
                <a:t/>
              </a:r>
              <a:br>
                <a:rPr lang="en-US" sz="1800" b="1" dirty="0"/>
              </a:br>
              <a:endParaRPr lang="en-US" sz="1800" b="1" dirty="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="" xmlns:a16="http://schemas.microsoft.com/office/drawing/2014/main" id="{06B8BF3C-12D3-587E-65EE-D15CE82A284B}"/>
              </a:ext>
            </a:extLst>
          </p:cNvPr>
          <p:cNvGrpSpPr/>
          <p:nvPr/>
        </p:nvGrpSpPr>
        <p:grpSpPr>
          <a:xfrm>
            <a:off x="1392182" y="4595922"/>
            <a:ext cx="6428744" cy="1460157"/>
            <a:chOff x="3210304" y="2740905"/>
            <a:chExt cx="4285829" cy="973438"/>
          </a:xfrm>
        </p:grpSpPr>
        <p:sp>
          <p:nvSpPr>
            <p:cNvPr id="14" name="Freeform 1041">
              <a:extLst>
                <a:ext uri="{FF2B5EF4-FFF2-40B4-BE49-F238E27FC236}">
                  <a16:creationId xmlns="" xmlns:a16="http://schemas.microsoft.com/office/drawing/2014/main" id="{798B51DF-F826-B34D-9A6F-5AF7BABA549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10304" y="2740905"/>
              <a:ext cx="978872" cy="973438"/>
            </a:xfrm>
            <a:custGeom>
              <a:avLst/>
              <a:gdLst>
                <a:gd name="T0" fmla="*/ 199697 w 284789"/>
                <a:gd name="T1" fmla="*/ 264512 h 283801"/>
                <a:gd name="T2" fmla="*/ 206314 w 284789"/>
                <a:gd name="T3" fmla="*/ 246685 h 283801"/>
                <a:gd name="T4" fmla="*/ 186966 w 284789"/>
                <a:gd name="T5" fmla="*/ 124970 h 283801"/>
                <a:gd name="T6" fmla="*/ 134183 w 284789"/>
                <a:gd name="T7" fmla="*/ 188563 h 283801"/>
                <a:gd name="T8" fmla="*/ 96794 w 284789"/>
                <a:gd name="T9" fmla="*/ 157666 h 283801"/>
                <a:gd name="T10" fmla="*/ 131249 w 284789"/>
                <a:gd name="T11" fmla="*/ 179582 h 283801"/>
                <a:gd name="T12" fmla="*/ 13709 w 284789"/>
                <a:gd name="T13" fmla="*/ 104438 h 283801"/>
                <a:gd name="T14" fmla="*/ 191611 w 284789"/>
                <a:gd name="T15" fmla="*/ 269241 h 283801"/>
                <a:gd name="T16" fmla="*/ 54876 w 284789"/>
                <a:gd name="T17" fmla="*/ 180473 h 283801"/>
                <a:gd name="T18" fmla="*/ 17017 w 284789"/>
                <a:gd name="T19" fmla="*/ 96435 h 283801"/>
                <a:gd name="T20" fmla="*/ 57816 w 284789"/>
                <a:gd name="T21" fmla="*/ 124447 h 283801"/>
                <a:gd name="T22" fmla="*/ 64434 w 284789"/>
                <a:gd name="T23" fmla="*/ 105894 h 283801"/>
                <a:gd name="T24" fmla="*/ 33742 w 284789"/>
                <a:gd name="T25" fmla="*/ 70513 h 283801"/>
                <a:gd name="T26" fmla="*/ 75827 w 284789"/>
                <a:gd name="T27" fmla="*/ 112078 h 283801"/>
                <a:gd name="T28" fmla="*/ 52671 w 284789"/>
                <a:gd name="T29" fmla="*/ 153916 h 283801"/>
                <a:gd name="T30" fmla="*/ 153751 w 284789"/>
                <a:gd name="T31" fmla="*/ 225221 h 283801"/>
                <a:gd name="T32" fmla="*/ 212562 w 284789"/>
                <a:gd name="T33" fmla="*/ 240137 h 283801"/>
                <a:gd name="T34" fmla="*/ 185729 w 284789"/>
                <a:gd name="T35" fmla="*/ 280518 h 283801"/>
                <a:gd name="T36" fmla="*/ 5255 w 284789"/>
                <a:gd name="T37" fmla="*/ 102254 h 283801"/>
                <a:gd name="T38" fmla="*/ 145134 w 284789"/>
                <a:gd name="T39" fmla="*/ 57588 h 283801"/>
                <a:gd name="T40" fmla="*/ 203836 w 284789"/>
                <a:gd name="T41" fmla="*/ 204394 h 283801"/>
                <a:gd name="T42" fmla="*/ 200513 w 284789"/>
                <a:gd name="T43" fmla="*/ 88761 h 283801"/>
                <a:gd name="T44" fmla="*/ 83848 w 284789"/>
                <a:gd name="T45" fmla="*/ 88761 h 283801"/>
                <a:gd name="T46" fmla="*/ 134872 w 284789"/>
                <a:gd name="T47" fmla="*/ 0 h 283801"/>
                <a:gd name="T48" fmla="*/ 167270 w 284789"/>
                <a:gd name="T49" fmla="*/ 26524 h 283801"/>
                <a:gd name="T50" fmla="*/ 200035 w 284789"/>
                <a:gd name="T51" fmla="*/ 13082 h 283801"/>
                <a:gd name="T52" fmla="*/ 231330 w 284789"/>
                <a:gd name="T53" fmla="*/ 39967 h 283801"/>
                <a:gd name="T54" fmla="*/ 250106 w 284789"/>
                <a:gd name="T55" fmla="*/ 58859 h 283801"/>
                <a:gd name="T56" fmla="*/ 276614 w 284789"/>
                <a:gd name="T57" fmla="*/ 81023 h 283801"/>
                <a:gd name="T58" fmla="*/ 264095 w 284789"/>
                <a:gd name="T59" fmla="*/ 122079 h 283801"/>
                <a:gd name="T60" fmla="*/ 290603 w 284789"/>
                <a:gd name="T61" fmla="*/ 154052 h 283801"/>
                <a:gd name="T62" fmla="*/ 259310 w 284789"/>
                <a:gd name="T63" fmla="*/ 183483 h 283801"/>
                <a:gd name="T64" fmla="*/ 265935 w 284789"/>
                <a:gd name="T65" fmla="*/ 224175 h 283801"/>
                <a:gd name="T66" fmla="*/ 250106 w 284789"/>
                <a:gd name="T67" fmla="*/ 228535 h 283801"/>
                <a:gd name="T68" fmla="*/ 224334 w 284789"/>
                <a:gd name="T69" fmla="*/ 227809 h 283801"/>
                <a:gd name="T70" fmla="*/ 238325 w 284789"/>
                <a:gd name="T71" fmla="*/ 211459 h 283801"/>
                <a:gd name="T72" fmla="*/ 258206 w 284789"/>
                <a:gd name="T73" fmla="*/ 220178 h 283801"/>
                <a:gd name="T74" fmla="*/ 251579 w 284789"/>
                <a:gd name="T75" fmla="*/ 189296 h 283801"/>
                <a:gd name="T76" fmla="*/ 260415 w 284789"/>
                <a:gd name="T77" fmla="*/ 156595 h 283801"/>
                <a:gd name="T78" fmla="*/ 281768 w 284789"/>
                <a:gd name="T79" fmla="*/ 133343 h 283801"/>
                <a:gd name="T80" fmla="*/ 255996 w 284789"/>
                <a:gd name="T81" fmla="*/ 126802 h 283801"/>
                <a:gd name="T82" fmla="*/ 267781 w 284789"/>
                <a:gd name="T83" fmla="*/ 89016 h 283801"/>
                <a:gd name="T84" fmla="*/ 256734 w 284789"/>
                <a:gd name="T85" fmla="*/ 66126 h 283801"/>
                <a:gd name="T86" fmla="*/ 232802 w 284789"/>
                <a:gd name="T87" fmla="*/ 74482 h 283801"/>
                <a:gd name="T88" fmla="*/ 223597 w 284789"/>
                <a:gd name="T89" fmla="*/ 35606 h 283801"/>
                <a:gd name="T90" fmla="*/ 202613 w 284789"/>
                <a:gd name="T91" fmla="*/ 21435 h 283801"/>
                <a:gd name="T92" fmla="*/ 186045 w 284789"/>
                <a:gd name="T93" fmla="*/ 40693 h 283801"/>
                <a:gd name="T94" fmla="*/ 158433 w 284789"/>
                <a:gd name="T95" fmla="*/ 11262 h 283801"/>
                <a:gd name="T96" fmla="*/ 132293 w 284789"/>
                <a:gd name="T97" fmla="*/ 11262 h 283801"/>
                <a:gd name="T98" fmla="*/ 104682 w 284789"/>
                <a:gd name="T99" fmla="*/ 40693 h 283801"/>
                <a:gd name="T100" fmla="*/ 85905 w 284789"/>
                <a:gd name="T101" fmla="*/ 21435 h 283801"/>
                <a:gd name="T102" fmla="*/ 76333 w 284789"/>
                <a:gd name="T103" fmla="*/ 51957 h 283801"/>
                <a:gd name="T104" fmla="*/ 59766 w 284789"/>
                <a:gd name="T105" fmla="*/ 65400 h 283801"/>
                <a:gd name="T106" fmla="*/ 59397 w 284789"/>
                <a:gd name="T107" fmla="*/ 39967 h 283801"/>
                <a:gd name="T108" fmla="*/ 97318 w 284789"/>
                <a:gd name="T109" fmla="*/ 18166 h 283801"/>
                <a:gd name="T110" fmla="*/ 123090 w 284789"/>
                <a:gd name="T111" fmla="*/ 11262 h 283801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284789" h="283801">
                  <a:moveTo>
                    <a:pt x="165804" y="220620"/>
                  </a:moveTo>
                  <a:lnTo>
                    <a:pt x="159680" y="226757"/>
                  </a:lnTo>
                  <a:lnTo>
                    <a:pt x="195701" y="262500"/>
                  </a:lnTo>
                  <a:cubicBezTo>
                    <a:pt x="197863" y="260695"/>
                    <a:pt x="200024" y="259251"/>
                    <a:pt x="202185" y="256723"/>
                  </a:cubicBezTo>
                  <a:cubicBezTo>
                    <a:pt x="203626" y="255279"/>
                    <a:pt x="204707" y="253113"/>
                    <a:pt x="204707" y="250947"/>
                  </a:cubicBezTo>
                  <a:cubicBezTo>
                    <a:pt x="204707" y="248419"/>
                    <a:pt x="203626" y="245892"/>
                    <a:pt x="202185" y="244809"/>
                  </a:cubicBezTo>
                  <a:lnTo>
                    <a:pt x="178411" y="220620"/>
                  </a:lnTo>
                  <a:cubicBezTo>
                    <a:pt x="174809" y="217370"/>
                    <a:pt x="169406" y="217370"/>
                    <a:pt x="165804" y="220620"/>
                  </a:cubicBezTo>
                  <a:close/>
                  <a:moveTo>
                    <a:pt x="183225" y="124020"/>
                  </a:moveTo>
                  <a:cubicBezTo>
                    <a:pt x="185021" y="122237"/>
                    <a:pt x="187536" y="122237"/>
                    <a:pt x="189332" y="124020"/>
                  </a:cubicBezTo>
                  <a:cubicBezTo>
                    <a:pt x="191128" y="125803"/>
                    <a:pt x="191128" y="128298"/>
                    <a:pt x="189332" y="130081"/>
                  </a:cubicBezTo>
                  <a:lnTo>
                    <a:pt x="131498" y="187129"/>
                  </a:lnTo>
                  <a:cubicBezTo>
                    <a:pt x="130780" y="188199"/>
                    <a:pt x="129702" y="188555"/>
                    <a:pt x="128624" y="188555"/>
                  </a:cubicBezTo>
                  <a:cubicBezTo>
                    <a:pt x="127547" y="188555"/>
                    <a:pt x="126469" y="188199"/>
                    <a:pt x="125751" y="187129"/>
                  </a:cubicBezTo>
                  <a:lnTo>
                    <a:pt x="94858" y="156466"/>
                  </a:lnTo>
                  <a:cubicBezTo>
                    <a:pt x="93062" y="154683"/>
                    <a:pt x="93062" y="152187"/>
                    <a:pt x="94858" y="150761"/>
                  </a:cubicBezTo>
                  <a:cubicBezTo>
                    <a:pt x="96295" y="148978"/>
                    <a:pt x="98809" y="148978"/>
                    <a:pt x="100606" y="150761"/>
                  </a:cubicBezTo>
                  <a:lnTo>
                    <a:pt x="128624" y="178216"/>
                  </a:lnTo>
                  <a:lnTo>
                    <a:pt x="183225" y="124020"/>
                  </a:lnTo>
                  <a:close/>
                  <a:moveTo>
                    <a:pt x="16677" y="95701"/>
                  </a:moveTo>
                  <a:cubicBezTo>
                    <a:pt x="15596" y="98228"/>
                    <a:pt x="14155" y="100755"/>
                    <a:pt x="13435" y="103644"/>
                  </a:cubicBezTo>
                  <a:cubicBezTo>
                    <a:pt x="467" y="150578"/>
                    <a:pt x="13435" y="201124"/>
                    <a:pt x="48015" y="235783"/>
                  </a:cubicBezTo>
                  <a:cubicBezTo>
                    <a:pt x="82235" y="270082"/>
                    <a:pt x="133025" y="283440"/>
                    <a:pt x="179852" y="270443"/>
                  </a:cubicBezTo>
                  <a:cubicBezTo>
                    <a:pt x="182734" y="269360"/>
                    <a:pt x="185255" y="268276"/>
                    <a:pt x="187777" y="267193"/>
                  </a:cubicBezTo>
                  <a:lnTo>
                    <a:pt x="153557" y="232895"/>
                  </a:lnTo>
                  <a:cubicBezTo>
                    <a:pt x="139148" y="244087"/>
                    <a:pt x="117896" y="243004"/>
                    <a:pt x="104568" y="229645"/>
                  </a:cubicBezTo>
                  <a:lnTo>
                    <a:pt x="53778" y="179100"/>
                  </a:lnTo>
                  <a:cubicBezTo>
                    <a:pt x="46934" y="172241"/>
                    <a:pt x="42972" y="162854"/>
                    <a:pt x="42972" y="152745"/>
                  </a:cubicBezTo>
                  <a:cubicBezTo>
                    <a:pt x="42972" y="144441"/>
                    <a:pt x="45854" y="136498"/>
                    <a:pt x="50897" y="129999"/>
                  </a:cubicBezTo>
                  <a:lnTo>
                    <a:pt x="16677" y="95701"/>
                  </a:lnTo>
                  <a:close/>
                  <a:moveTo>
                    <a:pt x="26763" y="81259"/>
                  </a:moveTo>
                  <a:cubicBezTo>
                    <a:pt x="24962" y="83426"/>
                    <a:pt x="22800" y="85592"/>
                    <a:pt x="21359" y="87758"/>
                  </a:cubicBezTo>
                  <a:lnTo>
                    <a:pt x="56660" y="123501"/>
                  </a:lnTo>
                  <a:lnTo>
                    <a:pt x="63144" y="117363"/>
                  </a:lnTo>
                  <a:cubicBezTo>
                    <a:pt x="64585" y="115558"/>
                    <a:pt x="65665" y="113392"/>
                    <a:pt x="65665" y="111225"/>
                  </a:cubicBezTo>
                  <a:cubicBezTo>
                    <a:pt x="65665" y="109059"/>
                    <a:pt x="64585" y="106893"/>
                    <a:pt x="63144" y="105088"/>
                  </a:cubicBezTo>
                  <a:lnTo>
                    <a:pt x="39370" y="81259"/>
                  </a:lnTo>
                  <a:cubicBezTo>
                    <a:pt x="35768" y="77649"/>
                    <a:pt x="30365" y="77649"/>
                    <a:pt x="26763" y="81259"/>
                  </a:cubicBezTo>
                  <a:close/>
                  <a:moveTo>
                    <a:pt x="33067" y="69977"/>
                  </a:moveTo>
                  <a:cubicBezTo>
                    <a:pt x="37569" y="69977"/>
                    <a:pt x="42072" y="71692"/>
                    <a:pt x="45494" y="75122"/>
                  </a:cubicBezTo>
                  <a:lnTo>
                    <a:pt x="68907" y="98950"/>
                  </a:lnTo>
                  <a:cubicBezTo>
                    <a:pt x="72509" y="102199"/>
                    <a:pt x="74310" y="106532"/>
                    <a:pt x="74310" y="111225"/>
                  </a:cubicBezTo>
                  <a:cubicBezTo>
                    <a:pt x="74310" y="115919"/>
                    <a:pt x="72509" y="120251"/>
                    <a:pt x="68907" y="123501"/>
                  </a:cubicBezTo>
                  <a:lnTo>
                    <a:pt x="59902" y="132888"/>
                  </a:lnTo>
                  <a:cubicBezTo>
                    <a:pt x="54499" y="138303"/>
                    <a:pt x="51617" y="145163"/>
                    <a:pt x="51617" y="152745"/>
                  </a:cubicBezTo>
                  <a:cubicBezTo>
                    <a:pt x="51617" y="160326"/>
                    <a:pt x="54499" y="167547"/>
                    <a:pt x="59902" y="172963"/>
                  </a:cubicBezTo>
                  <a:lnTo>
                    <a:pt x="110692" y="223508"/>
                  </a:lnTo>
                  <a:cubicBezTo>
                    <a:pt x="121858" y="234700"/>
                    <a:pt x="139509" y="234700"/>
                    <a:pt x="150675" y="223508"/>
                  </a:cubicBezTo>
                  <a:lnTo>
                    <a:pt x="159680" y="214482"/>
                  </a:lnTo>
                  <a:cubicBezTo>
                    <a:pt x="166524" y="207622"/>
                    <a:pt x="177691" y="207622"/>
                    <a:pt x="184535" y="214482"/>
                  </a:cubicBezTo>
                  <a:lnTo>
                    <a:pt x="208309" y="238310"/>
                  </a:lnTo>
                  <a:cubicBezTo>
                    <a:pt x="211551" y="241560"/>
                    <a:pt x="213352" y="245892"/>
                    <a:pt x="213352" y="250947"/>
                  </a:cubicBezTo>
                  <a:cubicBezTo>
                    <a:pt x="213352" y="255640"/>
                    <a:pt x="211551" y="259612"/>
                    <a:pt x="208309" y="263222"/>
                  </a:cubicBezTo>
                  <a:cubicBezTo>
                    <a:pt x="200744" y="270443"/>
                    <a:pt x="191739" y="275858"/>
                    <a:pt x="182013" y="278385"/>
                  </a:cubicBezTo>
                  <a:cubicBezTo>
                    <a:pt x="169406" y="281996"/>
                    <a:pt x="156438" y="283801"/>
                    <a:pt x="143471" y="283801"/>
                  </a:cubicBezTo>
                  <a:cubicBezTo>
                    <a:pt x="105649" y="283801"/>
                    <a:pt x="69268" y="268998"/>
                    <a:pt x="41891" y="241560"/>
                  </a:cubicBezTo>
                  <a:cubicBezTo>
                    <a:pt x="5510" y="205095"/>
                    <a:pt x="-8538" y="151300"/>
                    <a:pt x="5150" y="101477"/>
                  </a:cubicBezTo>
                  <a:cubicBezTo>
                    <a:pt x="7671" y="91368"/>
                    <a:pt x="13435" y="82342"/>
                    <a:pt x="20639" y="75122"/>
                  </a:cubicBezTo>
                  <a:cubicBezTo>
                    <a:pt x="24061" y="71692"/>
                    <a:pt x="28564" y="69977"/>
                    <a:pt x="33067" y="69977"/>
                  </a:cubicBezTo>
                  <a:close/>
                  <a:moveTo>
                    <a:pt x="142230" y="57150"/>
                  </a:moveTo>
                  <a:cubicBezTo>
                    <a:pt x="165024" y="57150"/>
                    <a:pt x="186370" y="66143"/>
                    <a:pt x="202651" y="81971"/>
                  </a:cubicBezTo>
                  <a:cubicBezTo>
                    <a:pt x="235575" y="115066"/>
                    <a:pt x="235575" y="168666"/>
                    <a:pt x="202651" y="201761"/>
                  </a:cubicBezTo>
                  <a:cubicBezTo>
                    <a:pt x="201566" y="202481"/>
                    <a:pt x="200480" y="202840"/>
                    <a:pt x="199757" y="202840"/>
                  </a:cubicBezTo>
                  <a:cubicBezTo>
                    <a:pt x="198671" y="202840"/>
                    <a:pt x="197224" y="202481"/>
                    <a:pt x="196501" y="201761"/>
                  </a:cubicBezTo>
                  <a:cubicBezTo>
                    <a:pt x="194692" y="199962"/>
                    <a:pt x="194692" y="197085"/>
                    <a:pt x="196501" y="195646"/>
                  </a:cubicBezTo>
                  <a:cubicBezTo>
                    <a:pt x="226168" y="165788"/>
                    <a:pt x="226168" y="117584"/>
                    <a:pt x="196501" y="88087"/>
                  </a:cubicBezTo>
                  <a:cubicBezTo>
                    <a:pt x="182028" y="73698"/>
                    <a:pt x="162853" y="65783"/>
                    <a:pt x="142230" y="65783"/>
                  </a:cubicBezTo>
                  <a:cubicBezTo>
                    <a:pt x="121969" y="65783"/>
                    <a:pt x="102794" y="73698"/>
                    <a:pt x="88322" y="88087"/>
                  </a:cubicBezTo>
                  <a:cubicBezTo>
                    <a:pt x="86513" y="89526"/>
                    <a:pt x="83618" y="89526"/>
                    <a:pt x="82171" y="88087"/>
                  </a:cubicBezTo>
                  <a:cubicBezTo>
                    <a:pt x="80362" y="86288"/>
                    <a:pt x="80362" y="83410"/>
                    <a:pt x="82171" y="81971"/>
                  </a:cubicBezTo>
                  <a:cubicBezTo>
                    <a:pt x="98090" y="66143"/>
                    <a:pt x="119798" y="57150"/>
                    <a:pt x="142230" y="57150"/>
                  </a:cubicBezTo>
                  <a:close/>
                  <a:moveTo>
                    <a:pt x="132172" y="0"/>
                  </a:moveTo>
                  <a:lnTo>
                    <a:pt x="152738" y="0"/>
                  </a:lnTo>
                  <a:cubicBezTo>
                    <a:pt x="158871" y="0"/>
                    <a:pt x="163922" y="5048"/>
                    <a:pt x="163922" y="11178"/>
                  </a:cubicBezTo>
                  <a:lnTo>
                    <a:pt x="163922" y="26321"/>
                  </a:lnTo>
                  <a:cubicBezTo>
                    <a:pt x="170056" y="27403"/>
                    <a:pt x="175829" y="28845"/>
                    <a:pt x="181962" y="31009"/>
                  </a:cubicBezTo>
                  <a:lnTo>
                    <a:pt x="189178" y="18028"/>
                  </a:lnTo>
                  <a:cubicBezTo>
                    <a:pt x="190621" y="15504"/>
                    <a:pt x="193147" y="13702"/>
                    <a:pt x="196033" y="12980"/>
                  </a:cubicBezTo>
                  <a:cubicBezTo>
                    <a:pt x="198920" y="12259"/>
                    <a:pt x="202167" y="12620"/>
                    <a:pt x="204692" y="14062"/>
                  </a:cubicBezTo>
                  <a:lnTo>
                    <a:pt x="222371" y="24519"/>
                  </a:lnTo>
                  <a:cubicBezTo>
                    <a:pt x="228144" y="27403"/>
                    <a:pt x="229587" y="34254"/>
                    <a:pt x="226701" y="39662"/>
                  </a:cubicBezTo>
                  <a:lnTo>
                    <a:pt x="219124" y="52643"/>
                  </a:lnTo>
                  <a:cubicBezTo>
                    <a:pt x="224175" y="56609"/>
                    <a:pt x="228144" y="60936"/>
                    <a:pt x="232474" y="65623"/>
                  </a:cubicBezTo>
                  <a:lnTo>
                    <a:pt x="245102" y="58412"/>
                  </a:lnTo>
                  <a:cubicBezTo>
                    <a:pt x="247988" y="56970"/>
                    <a:pt x="250874" y="56249"/>
                    <a:pt x="253761" y="56970"/>
                  </a:cubicBezTo>
                  <a:cubicBezTo>
                    <a:pt x="256647" y="57691"/>
                    <a:pt x="259173" y="59854"/>
                    <a:pt x="260616" y="62378"/>
                  </a:cubicBezTo>
                  <a:lnTo>
                    <a:pt x="271079" y="80407"/>
                  </a:lnTo>
                  <a:cubicBezTo>
                    <a:pt x="273965" y="85455"/>
                    <a:pt x="272161" y="92305"/>
                    <a:pt x="266749" y="95550"/>
                  </a:cubicBezTo>
                  <a:lnTo>
                    <a:pt x="254122" y="103122"/>
                  </a:lnTo>
                  <a:cubicBezTo>
                    <a:pt x="255926" y="108891"/>
                    <a:pt x="257729" y="114661"/>
                    <a:pt x="258812" y="121151"/>
                  </a:cubicBezTo>
                  <a:lnTo>
                    <a:pt x="273605" y="121151"/>
                  </a:lnTo>
                  <a:cubicBezTo>
                    <a:pt x="279738" y="121151"/>
                    <a:pt x="284789" y="125838"/>
                    <a:pt x="284789" y="132328"/>
                  </a:cubicBezTo>
                  <a:lnTo>
                    <a:pt x="284789" y="152881"/>
                  </a:lnTo>
                  <a:cubicBezTo>
                    <a:pt x="284789" y="159010"/>
                    <a:pt x="279738" y="164058"/>
                    <a:pt x="273605" y="164058"/>
                  </a:cubicBezTo>
                  <a:lnTo>
                    <a:pt x="258812" y="164058"/>
                  </a:lnTo>
                  <a:cubicBezTo>
                    <a:pt x="257729" y="170188"/>
                    <a:pt x="255926" y="175957"/>
                    <a:pt x="254122" y="182087"/>
                  </a:cubicBezTo>
                  <a:lnTo>
                    <a:pt x="266749" y="189298"/>
                  </a:lnTo>
                  <a:cubicBezTo>
                    <a:pt x="272161" y="192543"/>
                    <a:pt x="273965" y="199394"/>
                    <a:pt x="271079" y="204803"/>
                  </a:cubicBezTo>
                  <a:lnTo>
                    <a:pt x="260616" y="222470"/>
                  </a:lnTo>
                  <a:cubicBezTo>
                    <a:pt x="259173" y="224994"/>
                    <a:pt x="256647" y="227158"/>
                    <a:pt x="253761" y="227879"/>
                  </a:cubicBezTo>
                  <a:cubicBezTo>
                    <a:pt x="252678" y="228239"/>
                    <a:pt x="251957" y="228239"/>
                    <a:pt x="250874" y="228239"/>
                  </a:cubicBezTo>
                  <a:cubicBezTo>
                    <a:pt x="249070" y="228239"/>
                    <a:pt x="246906" y="227879"/>
                    <a:pt x="245102" y="226797"/>
                  </a:cubicBezTo>
                  <a:lnTo>
                    <a:pt x="232474" y="219225"/>
                  </a:lnTo>
                  <a:cubicBezTo>
                    <a:pt x="230309" y="221389"/>
                    <a:pt x="228144" y="223913"/>
                    <a:pt x="225979" y="226076"/>
                  </a:cubicBezTo>
                  <a:cubicBezTo>
                    <a:pt x="224536" y="227879"/>
                    <a:pt x="221650" y="227879"/>
                    <a:pt x="219846" y="226076"/>
                  </a:cubicBezTo>
                  <a:cubicBezTo>
                    <a:pt x="218403" y="224273"/>
                    <a:pt x="218403" y="221389"/>
                    <a:pt x="219846" y="219946"/>
                  </a:cubicBezTo>
                  <a:cubicBezTo>
                    <a:pt x="222732" y="217062"/>
                    <a:pt x="225619" y="214177"/>
                    <a:pt x="228144" y="210932"/>
                  </a:cubicBezTo>
                  <a:cubicBezTo>
                    <a:pt x="229227" y="209490"/>
                    <a:pt x="231752" y="208769"/>
                    <a:pt x="233556" y="209851"/>
                  </a:cubicBezTo>
                  <a:lnTo>
                    <a:pt x="249792" y="219225"/>
                  </a:lnTo>
                  <a:cubicBezTo>
                    <a:pt x="250514" y="219586"/>
                    <a:pt x="250874" y="219586"/>
                    <a:pt x="251596" y="219586"/>
                  </a:cubicBezTo>
                  <a:cubicBezTo>
                    <a:pt x="252318" y="219586"/>
                    <a:pt x="252678" y="219225"/>
                    <a:pt x="253039" y="218504"/>
                  </a:cubicBezTo>
                  <a:lnTo>
                    <a:pt x="263502" y="200476"/>
                  </a:lnTo>
                  <a:cubicBezTo>
                    <a:pt x="264224" y="199033"/>
                    <a:pt x="263863" y="197591"/>
                    <a:pt x="262420" y="196870"/>
                  </a:cubicBezTo>
                  <a:lnTo>
                    <a:pt x="246545" y="187856"/>
                  </a:lnTo>
                  <a:cubicBezTo>
                    <a:pt x="244741" y="186414"/>
                    <a:pt x="243658" y="184250"/>
                    <a:pt x="244741" y="182087"/>
                  </a:cubicBezTo>
                  <a:cubicBezTo>
                    <a:pt x="247627" y="174875"/>
                    <a:pt x="249792" y="166943"/>
                    <a:pt x="250874" y="159010"/>
                  </a:cubicBezTo>
                  <a:cubicBezTo>
                    <a:pt x="251235" y="156847"/>
                    <a:pt x="252678" y="155405"/>
                    <a:pt x="255204" y="155405"/>
                  </a:cubicBezTo>
                  <a:lnTo>
                    <a:pt x="273605" y="155405"/>
                  </a:lnTo>
                  <a:cubicBezTo>
                    <a:pt x="275048" y="155405"/>
                    <a:pt x="276130" y="154323"/>
                    <a:pt x="276130" y="152881"/>
                  </a:cubicBezTo>
                  <a:lnTo>
                    <a:pt x="276130" y="132328"/>
                  </a:lnTo>
                  <a:cubicBezTo>
                    <a:pt x="276130" y="130526"/>
                    <a:pt x="275048" y="129444"/>
                    <a:pt x="273605" y="129444"/>
                  </a:cubicBezTo>
                  <a:lnTo>
                    <a:pt x="255204" y="129444"/>
                  </a:lnTo>
                  <a:cubicBezTo>
                    <a:pt x="252678" y="129444"/>
                    <a:pt x="251235" y="128002"/>
                    <a:pt x="250874" y="125838"/>
                  </a:cubicBezTo>
                  <a:cubicBezTo>
                    <a:pt x="249792" y="117906"/>
                    <a:pt x="247627" y="110334"/>
                    <a:pt x="244741" y="102762"/>
                  </a:cubicBezTo>
                  <a:cubicBezTo>
                    <a:pt x="243658" y="100598"/>
                    <a:pt x="244741" y="98435"/>
                    <a:pt x="246545" y="97353"/>
                  </a:cubicBezTo>
                  <a:lnTo>
                    <a:pt x="262420" y="88339"/>
                  </a:lnTo>
                  <a:cubicBezTo>
                    <a:pt x="263863" y="87257"/>
                    <a:pt x="264224" y="85815"/>
                    <a:pt x="263502" y="84733"/>
                  </a:cubicBezTo>
                  <a:lnTo>
                    <a:pt x="253039" y="66705"/>
                  </a:lnTo>
                  <a:cubicBezTo>
                    <a:pt x="252678" y="66344"/>
                    <a:pt x="252318" y="65623"/>
                    <a:pt x="251596" y="65623"/>
                  </a:cubicBezTo>
                  <a:cubicBezTo>
                    <a:pt x="250874" y="65263"/>
                    <a:pt x="250514" y="65263"/>
                    <a:pt x="249792" y="65623"/>
                  </a:cubicBezTo>
                  <a:lnTo>
                    <a:pt x="233556" y="74998"/>
                  </a:lnTo>
                  <a:cubicBezTo>
                    <a:pt x="231752" y="76080"/>
                    <a:pt x="229227" y="75719"/>
                    <a:pt x="228144" y="73916"/>
                  </a:cubicBezTo>
                  <a:cubicBezTo>
                    <a:pt x="223093" y="67426"/>
                    <a:pt x="217320" y="62018"/>
                    <a:pt x="210826" y="56970"/>
                  </a:cubicBezTo>
                  <a:cubicBezTo>
                    <a:pt x="209383" y="55888"/>
                    <a:pt x="208661" y="53364"/>
                    <a:pt x="210104" y="51561"/>
                  </a:cubicBezTo>
                  <a:lnTo>
                    <a:pt x="219124" y="35336"/>
                  </a:lnTo>
                  <a:cubicBezTo>
                    <a:pt x="219846" y="34254"/>
                    <a:pt x="219485" y="32451"/>
                    <a:pt x="218403" y="31730"/>
                  </a:cubicBezTo>
                  <a:lnTo>
                    <a:pt x="200363" y="21273"/>
                  </a:lnTo>
                  <a:cubicBezTo>
                    <a:pt x="199641" y="20913"/>
                    <a:pt x="198920" y="20913"/>
                    <a:pt x="198559" y="21273"/>
                  </a:cubicBezTo>
                  <a:cubicBezTo>
                    <a:pt x="197837" y="21273"/>
                    <a:pt x="197116" y="21995"/>
                    <a:pt x="196755" y="22716"/>
                  </a:cubicBezTo>
                  <a:lnTo>
                    <a:pt x="187735" y="38581"/>
                  </a:lnTo>
                  <a:cubicBezTo>
                    <a:pt x="186653" y="40384"/>
                    <a:pt x="184127" y="41105"/>
                    <a:pt x="182323" y="40384"/>
                  </a:cubicBezTo>
                  <a:cubicBezTo>
                    <a:pt x="174746" y="37499"/>
                    <a:pt x="166809" y="35336"/>
                    <a:pt x="158871" y="34254"/>
                  </a:cubicBezTo>
                  <a:cubicBezTo>
                    <a:pt x="156707" y="33893"/>
                    <a:pt x="155263" y="32091"/>
                    <a:pt x="155263" y="29927"/>
                  </a:cubicBezTo>
                  <a:lnTo>
                    <a:pt x="155263" y="11178"/>
                  </a:lnTo>
                  <a:cubicBezTo>
                    <a:pt x="155263" y="9735"/>
                    <a:pt x="154181" y="8654"/>
                    <a:pt x="152738" y="8654"/>
                  </a:cubicBezTo>
                  <a:lnTo>
                    <a:pt x="132172" y="8654"/>
                  </a:lnTo>
                  <a:cubicBezTo>
                    <a:pt x="130729" y="8654"/>
                    <a:pt x="129647" y="9735"/>
                    <a:pt x="129647" y="11178"/>
                  </a:cubicBezTo>
                  <a:lnTo>
                    <a:pt x="129647" y="29927"/>
                  </a:lnTo>
                  <a:cubicBezTo>
                    <a:pt x="129647" y="32091"/>
                    <a:pt x="127843" y="33893"/>
                    <a:pt x="125678" y="34254"/>
                  </a:cubicBezTo>
                  <a:cubicBezTo>
                    <a:pt x="117741" y="35336"/>
                    <a:pt x="110164" y="37499"/>
                    <a:pt x="102587" y="40384"/>
                  </a:cubicBezTo>
                  <a:cubicBezTo>
                    <a:pt x="100783" y="41105"/>
                    <a:pt x="98258" y="40384"/>
                    <a:pt x="97536" y="38581"/>
                  </a:cubicBezTo>
                  <a:lnTo>
                    <a:pt x="87794" y="22716"/>
                  </a:lnTo>
                  <a:cubicBezTo>
                    <a:pt x="87434" y="21273"/>
                    <a:pt x="85630" y="20913"/>
                    <a:pt x="84186" y="21273"/>
                  </a:cubicBezTo>
                  <a:lnTo>
                    <a:pt x="66507" y="31730"/>
                  </a:lnTo>
                  <a:cubicBezTo>
                    <a:pt x="65425" y="32451"/>
                    <a:pt x="65064" y="34254"/>
                    <a:pt x="65425" y="35336"/>
                  </a:cubicBezTo>
                  <a:lnTo>
                    <a:pt x="74806" y="51561"/>
                  </a:lnTo>
                  <a:cubicBezTo>
                    <a:pt x="75888" y="53364"/>
                    <a:pt x="75527" y="55888"/>
                    <a:pt x="73723" y="56970"/>
                  </a:cubicBezTo>
                  <a:cubicBezTo>
                    <a:pt x="70476" y="59494"/>
                    <a:pt x="67590" y="62018"/>
                    <a:pt x="65064" y="64902"/>
                  </a:cubicBezTo>
                  <a:cubicBezTo>
                    <a:pt x="63260" y="66705"/>
                    <a:pt x="60374" y="66705"/>
                    <a:pt x="58570" y="64902"/>
                  </a:cubicBezTo>
                  <a:cubicBezTo>
                    <a:pt x="57127" y="63460"/>
                    <a:pt x="57127" y="60575"/>
                    <a:pt x="58570" y="59133"/>
                  </a:cubicBezTo>
                  <a:cubicBezTo>
                    <a:pt x="60735" y="56970"/>
                    <a:pt x="63260" y="54806"/>
                    <a:pt x="65425" y="52643"/>
                  </a:cubicBezTo>
                  <a:lnTo>
                    <a:pt x="58209" y="39662"/>
                  </a:lnTo>
                  <a:cubicBezTo>
                    <a:pt x="54962" y="34254"/>
                    <a:pt x="56766" y="27403"/>
                    <a:pt x="62178" y="24519"/>
                  </a:cubicBezTo>
                  <a:lnTo>
                    <a:pt x="80218" y="14062"/>
                  </a:lnTo>
                  <a:cubicBezTo>
                    <a:pt x="85630" y="10817"/>
                    <a:pt x="92485" y="12620"/>
                    <a:pt x="95371" y="18028"/>
                  </a:cubicBezTo>
                  <a:lnTo>
                    <a:pt x="102948" y="31009"/>
                  </a:lnTo>
                  <a:cubicBezTo>
                    <a:pt x="108721" y="28845"/>
                    <a:pt x="114854" y="27403"/>
                    <a:pt x="120627" y="26321"/>
                  </a:cubicBezTo>
                  <a:lnTo>
                    <a:pt x="120627" y="11178"/>
                  </a:lnTo>
                  <a:cubicBezTo>
                    <a:pt x="120627" y="5048"/>
                    <a:pt x="126039" y="0"/>
                    <a:pt x="13217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lstStyle/>
            <a:p>
              <a:endParaRPr lang="en-US" sz="1350" b="1" dirty="0">
                <a:latin typeface="Lato Light" panose="020F0502020204030203" pitchFamily="34" charset="0"/>
              </a:endParaRPr>
            </a:p>
          </p:txBody>
        </p:sp>
        <p:sp>
          <p:nvSpPr>
            <p:cNvPr id="23" name="Subtitle 2">
              <a:extLst>
                <a:ext uri="{FF2B5EF4-FFF2-40B4-BE49-F238E27FC236}">
                  <a16:creationId xmlns="" xmlns:a16="http://schemas.microsoft.com/office/drawing/2014/main" id="{03D2E0DE-52BC-0F43-B03A-57A33966A378}"/>
                </a:ext>
              </a:extLst>
            </p:cNvPr>
            <p:cNvSpPr txBox="1">
              <a:spLocks/>
            </p:cNvSpPr>
            <p:nvPr/>
          </p:nvSpPr>
          <p:spPr>
            <a:xfrm>
              <a:off x="4279400" y="3398138"/>
              <a:ext cx="1991093" cy="268449"/>
            </a:xfrm>
            <a:prstGeom prst="rect">
              <a:avLst/>
            </a:prstGeom>
          </p:spPr>
          <p:txBody>
            <a:bodyPr vert="horz" wrap="square" lIns="68580" tIns="34290" rIns="68580" bIns="3429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2625"/>
                </a:lnSpc>
              </a:pPr>
              <a:r>
                <a:rPr lang="en-US" b="1" dirty="0">
                  <a:solidFill>
                    <a:schemeClr val="bg1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Mukta ExtraLight" panose="020B0000000000000000" pitchFamily="34" charset="77"/>
                </a:rPr>
                <a:t>mpssdi@mp.gov.in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CBC00220-8B90-5C41-8CD7-F1496A8EDB28}"/>
                </a:ext>
              </a:extLst>
            </p:cNvPr>
            <p:cNvSpPr txBox="1"/>
            <p:nvPr/>
          </p:nvSpPr>
          <p:spPr>
            <a:xfrm>
              <a:off x="4290592" y="2833483"/>
              <a:ext cx="1143689" cy="307777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Poppins" pitchFamily="2" charset="77"/>
                  <a:ea typeface="League Spartan" charset="0"/>
                  <a:cs typeface="Poppins" pitchFamily="2" charset="77"/>
                </a:rPr>
                <a:t>CONTACT</a:t>
              </a:r>
            </a:p>
          </p:txBody>
        </p:sp>
        <p:sp>
          <p:nvSpPr>
            <p:cNvPr id="25" name="Subtitle 2">
              <a:extLst>
                <a:ext uri="{FF2B5EF4-FFF2-40B4-BE49-F238E27FC236}">
                  <a16:creationId xmlns="" xmlns:a16="http://schemas.microsoft.com/office/drawing/2014/main" id="{C4EEA0E6-6591-A344-B182-F6ADBDE3D895}"/>
                </a:ext>
              </a:extLst>
            </p:cNvPr>
            <p:cNvSpPr txBox="1">
              <a:spLocks/>
            </p:cNvSpPr>
            <p:nvPr/>
          </p:nvSpPr>
          <p:spPr>
            <a:xfrm>
              <a:off x="4269493" y="3127177"/>
              <a:ext cx="3226640" cy="251137"/>
            </a:xfrm>
            <a:prstGeom prst="rect">
              <a:avLst/>
            </a:prstGeom>
          </p:spPr>
          <p:txBody>
            <a:bodyPr vert="horz" wrap="square" lIns="68580" tIns="34290" rIns="68580" bIns="3429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2625"/>
                </a:lnSpc>
              </a:pPr>
              <a:r>
                <a:rPr lang="en-IN" sz="1800" b="1" dirty="0">
                  <a:solidFill>
                    <a:schemeClr val="bg1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Mukta ExtraLight" panose="020B0000000000000000" pitchFamily="34" charset="77"/>
                </a:rPr>
                <a:t>+</a:t>
              </a:r>
              <a:r>
                <a:rPr lang="en-IN" sz="2100" b="1" dirty="0">
                  <a:solidFill>
                    <a:schemeClr val="bg1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Mukta ExtraLight" panose="020B0000000000000000" pitchFamily="34" charset="77"/>
                </a:rPr>
                <a:t>91 755 2518300, +91 755 2518500</a:t>
              </a:r>
              <a:endParaRPr lang="en-US" sz="1800" b="1" dirty="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endParaRP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5421FDF5-9CD6-12AA-2E02-DD073ADA8B9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3999" y="514203"/>
            <a:ext cx="1770885" cy="1329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8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5981</TotalTime>
  <Words>1498</Words>
  <Application>Microsoft Office PowerPoint</Application>
  <PresentationFormat>Custom</PresentationFormat>
  <Paragraphs>224</Paragraphs>
  <Slides>25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44" baseType="lpstr">
      <vt:lpstr>Microsoft Sans Serif</vt:lpstr>
      <vt:lpstr>League Spartan</vt:lpstr>
      <vt:lpstr>Mukta ExtraLight</vt:lpstr>
      <vt:lpstr>Roboto</vt:lpstr>
      <vt:lpstr>Garamond</vt:lpstr>
      <vt:lpstr>Calibri</vt:lpstr>
      <vt:lpstr>Poppins</vt:lpstr>
      <vt:lpstr>arial</vt:lpstr>
      <vt:lpstr>Berlin Sans FB</vt:lpstr>
      <vt:lpstr>Lato Light</vt:lpstr>
      <vt:lpstr>Söhne</vt:lpstr>
      <vt:lpstr>arial</vt:lpstr>
      <vt:lpstr>Open Sans Light</vt:lpstr>
      <vt:lpstr>Times New Roman</vt:lpstr>
      <vt:lpstr>Wingdings</vt:lpstr>
      <vt:lpstr>Arial Rounded MT Bold</vt:lpstr>
      <vt:lpstr>Canva Sans Bold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Purple &amp;  white business profile presentation</dc:title>
  <dc:creator>Asus</dc:creator>
  <cp:lastModifiedBy>Microsoft account</cp:lastModifiedBy>
  <cp:revision>49</cp:revision>
  <dcterms:created xsi:type="dcterms:W3CDTF">2006-08-16T00:00:00Z</dcterms:created>
  <dcterms:modified xsi:type="dcterms:W3CDTF">2026-04-10T10:01:24Z</dcterms:modified>
  <dc:identifier>DAF3hG6i12M</dc:identifier>
</cp:coreProperties>
</file>