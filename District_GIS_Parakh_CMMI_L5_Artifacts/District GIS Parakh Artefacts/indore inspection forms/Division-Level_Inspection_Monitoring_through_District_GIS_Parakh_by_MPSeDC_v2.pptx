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8"/>
    <p:sldId id="259" r:id="rId9"/>
    <p:sldId id="260" r:id="rId10"/>
    <p:sldId id="261" r:id="rId11"/>
    <p:sldId id="262" r:id="rId12"/>
    <p:sldId id="263" r:id="rId13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37160"/>
            <a:ext cx="1142681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500" b="1">
                <a:solidFill>
                  <a:srgbClr val="113054"/>
                </a:solidFill>
                <a:latin typeface="Aptos"/>
              </a:defRPr>
            </a:pPr>
            <a:r>
              <a:rPr sz="2000" b="1">
                <a:solidFill>
                  <a:srgbClr val="FF0000"/>
                </a:solidFill>
                <a:latin typeface="Aptos"/>
              </a:rPr>
              <a:t>Division-Level Inspection Monitoring — District GIS Parakh (MPSeDC)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186" y="1643492"/>
            <a:ext cx="10716203" cy="33855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080" b="1">
                <a:solidFill>
                  <a:srgbClr val="187E67"/>
                </a:solidFill>
                <a:latin typeface="Aptos"/>
              </a:defRPr>
            </a:pPr>
            <a:r>
              <a:rPr sz="1600" dirty="0"/>
              <a:t>End-to-End Inspection Workflow: Field Capture → Review &amp; Action → Collectorate Monitoring → Divisional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99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3499" y="1965759"/>
            <a:ext cx="2633472" cy="64008"/>
          </a:xfrm>
          <a:prstGeom prst="rect">
            <a:avLst/>
          </a:prstGeom>
          <a:solidFill>
            <a:srgbClr val="2D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3227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D67A0"/>
                </a:solidFill>
                <a:latin typeface="Aptos"/>
              </a:defRPr>
            </a:pPr>
            <a:r>
              <a:t>1  FIELD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15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Department-specific checklist</a:t>
            </a:r>
            <a:br/>
            <a:r>
              <a:t>Remarks • Photos/Documents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8106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18380" y="1965759"/>
            <a:ext cx="2633472" cy="64008"/>
          </a:xfrm>
          <a:prstGeom prst="rect">
            <a:avLst/>
          </a:prstGeom>
          <a:solidFill>
            <a:srgbClr val="2C8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18384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C8263"/>
                </a:solidFill>
                <a:latin typeface="Aptos"/>
              </a:defRPr>
            </a:pPr>
            <a:r>
              <a:rPr dirty="0"/>
              <a:t>Mapped RO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350" y="2396076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rPr dirty="0"/>
              <a:t>Reporting Officer reviews</a:t>
            </a:r>
            <a:br>
              <a:rPr dirty="0"/>
            </a:br>
            <a:r>
              <a:rPr dirty="0"/>
              <a:t>Verifies / Rejects with remarks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8194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7920" y="1965759"/>
            <a:ext cx="2633472" cy="64008"/>
          </a:xfrm>
          <a:prstGeom prst="rect">
            <a:avLst/>
          </a:prstGeom>
          <a:solidFill>
            <a:srgbClr val="C6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4908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C67526"/>
                </a:solidFill>
                <a:latin typeface="Aptos"/>
              </a:defRPr>
            </a:pPr>
            <a:r>
              <a:rPr dirty="0"/>
              <a:t>3  COLLECTORATE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5113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rPr dirty="0"/>
              <a:t>State Admin / Nodal Officer</a:t>
            </a:r>
            <a:br>
              <a:rPr dirty="0"/>
            </a:br>
            <a:r>
              <a:rPr dirty="0"/>
              <a:t>Consolidated district-level 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0065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80065" y="1965759"/>
            <a:ext cx="2633472" cy="64008"/>
          </a:xfrm>
          <a:prstGeom prst="rect">
            <a:avLst/>
          </a:prstGeom>
          <a:solidFill>
            <a:srgbClr val="67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89793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674E96"/>
                </a:solidFill>
                <a:latin typeface="Aptos"/>
              </a:defRPr>
            </a:pPr>
            <a:r>
              <a:t>4  DIVISIONAL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8081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8 districts + departments</a:t>
            </a:r>
            <a:br/>
            <a:r>
              <a:t>Division-level report &amp;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99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4939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D67A0"/>
                </a:solidFill>
                <a:latin typeface="Aptos"/>
              </a:defRPr>
            </a:pPr>
            <a:r>
              <a:t>INSPECTION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939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Published department inspection form / checklist</a:t>
            </a:r>
          </a:p>
        </p:txBody>
      </p:sp>
      <p:pic>
        <p:nvPicPr>
          <p:cNvPr id="24" name="Picture 23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39" y="3675899"/>
            <a:ext cx="2450592" cy="2103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4939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D67A0"/>
                </a:solidFill>
                <a:latin typeface="Aptos"/>
              </a:defRPr>
            </a:pPr>
            <a:r>
              <a:t>Form / Checklist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48411" y="2907803"/>
            <a:ext cx="3325318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22834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C8263"/>
                </a:solidFill>
                <a:latin typeface="Aptos"/>
              </a:defRPr>
            </a:pPr>
            <a:r>
              <a:t>Verify Inspection: only by mapped 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2834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Verify Inspection: status + remarks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4577" y="5789536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C8263"/>
                </a:solidFill>
                <a:latin typeface="Aptos"/>
              </a:defRPr>
            </a:pPr>
            <a:r>
              <a:rPr dirty="0"/>
              <a:t>RO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136" y="2907803"/>
            <a:ext cx="3207784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6619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C67526"/>
                </a:solidFill>
                <a:latin typeface="Aptos"/>
              </a:defRPr>
            </a:pPr>
            <a:r>
              <a:t>COLLECTORATE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619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State Admin view: Verified / Accept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619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C67526"/>
                </a:solidFill>
                <a:latin typeface="Aptos"/>
              </a:defRPr>
            </a:pPr>
            <a:r>
              <a:t>District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0065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71505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674E96"/>
                </a:solidFill>
                <a:latin typeface="Aptos"/>
              </a:defRPr>
            </a:pPr>
            <a:r>
              <a:t>DIVISIONAL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1505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rPr dirty="0"/>
              <a:t>Division-level Department General Report</a:t>
            </a:r>
          </a:p>
        </p:txBody>
      </p:sp>
      <p:pic>
        <p:nvPicPr>
          <p:cNvPr id="39" name="Picture 38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93" y="3557027"/>
            <a:ext cx="2450592" cy="21031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571505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674E96"/>
                </a:solidFill>
                <a:latin typeface="Aptos"/>
              </a:defRPr>
            </a:pPr>
            <a:r>
              <a:t>Division Monitoring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393584"/>
            <a:ext cx="11183112" cy="457200"/>
          </a:xfrm>
          <a:prstGeom prst="roundRect">
            <a:avLst/>
          </a:prstGeom>
          <a:solidFill>
            <a:srgbClr val="11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6469924"/>
            <a:ext cx="1077163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ONE PLATFORM  •  MULTIPLE DEPARTMENTS  •  8 DISTRICTS  •  NEW: ACTION MENU (VERIFY &amp; REJECT) + BILINGUAL FORM SEARCH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B1A66E-EECF-93A3-2EF4-7205EEF2D775}"/>
              </a:ext>
            </a:extLst>
          </p:cNvPr>
          <p:cNvSpPr txBox="1"/>
          <p:nvPr/>
        </p:nvSpPr>
        <p:spPr>
          <a:xfrm>
            <a:off x="410524" y="731520"/>
            <a:ext cx="1116875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solidFill>
                  <a:schemeClr val="accent1"/>
                </a:solidFill>
              </a:rPr>
              <a:t>Use Cases- </a:t>
            </a:r>
            <a:r>
              <a:rPr lang="en-IN" b="1" dirty="0"/>
              <a:t>District GIS Parakh enables centralized inspection monitoring across all 8 districts of Indore Division through a unified divisional hierarchy.</a:t>
            </a:r>
            <a:r>
              <a:rPr lang="en-IN" dirty="0"/>
              <a:t> It provides </a:t>
            </a:r>
            <a:r>
              <a:rPr lang="en-IN" b="1" dirty="0"/>
              <a:t>district- and department-wise visibility, division-scoped user management, and consolidated inspection reports</a:t>
            </a:r>
            <a:r>
              <a:rPr lang="en-IN" dirty="0"/>
              <a:t> for effective review and administrative monitoring.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79EC2F-8038-8918-12F5-D7EA9482C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48410" y="3513325"/>
            <a:ext cx="3300486" cy="2002435"/>
          </a:xfrm>
          <a:prstGeom prst="rect">
            <a:avLst/>
          </a:prstGeom>
        </p:spPr>
      </p:pic>
      <p:pic>
        <p:nvPicPr>
          <p:cNvPr id="45" name="Picture 44" descr="image17.png">
            <a:extLst>
              <a:ext uri="{FF2B5EF4-FFF2-40B4-BE49-F238E27FC236}">
                <a16:creationId xmlns:a16="http://schemas.microsoft.com/office/drawing/2014/main" id="{7C0B6509-9DDC-FCDB-FCEE-DB2C2BFF7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531" y="4971950"/>
            <a:ext cx="1613605" cy="1171833"/>
          </a:xfrm>
          <a:prstGeom prst="rect">
            <a:avLst/>
          </a:prstGeom>
        </p:spPr>
      </p:pic>
      <p:pic>
        <p:nvPicPr>
          <p:cNvPr id="46" name="Picture 45" descr="The image shows a dashboard interface with various columns displaying data related to school management, including user information, school categories, and verification status.&#10;&#10;AI-generated content may be incorrect.">
            <a:extLst>
              <a:ext uri="{FF2B5EF4-FFF2-40B4-BE49-F238E27FC236}">
                <a16:creationId xmlns:a16="http://schemas.microsoft.com/office/drawing/2014/main" id="{7D578FAE-F82B-A310-5A5F-F96CE40BAB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94041" y="3513325"/>
            <a:ext cx="3233987" cy="1954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15568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2500" b="1">
                <a:solidFill>
                  <a:srgbClr val="113054"/>
                </a:solidFill>
                <a:latin typeface="Aptos"/>
              </a:defRPr>
            </a:pPr>
            <a:r>
              <a:t>Official Letters | Inspection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21792"/>
            <a:ext cx="10972800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100" b="1">
                <a:solidFill>
                  <a:srgbClr val="187E67"/>
                </a:solidFill>
                <a:latin typeface="Aptos"/>
              </a:defRPr>
            </a:pPr>
            <a:r>
              <a:t>Official communication supporting the Inspection Management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5504688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5138928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674E96"/>
                </a:solidFill>
                <a:latin typeface="Aptos"/>
              </a:defRPr>
            </a:pPr>
            <a:r>
              <a:t>LETTER FROM COMMISSIONER, INDORE DIVISION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7621" y="1207008"/>
            <a:ext cx="5495544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216152"/>
            <a:ext cx="5129784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2D67A0"/>
                </a:solidFill>
                <a:latin typeface="Aptos"/>
              </a:defRPr>
            </a:pPr>
            <a:r>
              <a:rPr dirty="0"/>
              <a:t>LETTER FROM </a:t>
            </a:r>
            <a:r>
              <a:rPr dirty="0" err="1"/>
              <a:t>MPSeDC</a:t>
            </a:r>
            <a:endParaRPr dirty="0"/>
          </a:p>
        </p:txBody>
      </p:sp>
      <p:pic>
        <p:nvPicPr>
          <p:cNvPr id="9" name="Picture 8" descr="WhatsApp Image 2026-09-10 at 12.44.2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41" y="1527048"/>
            <a:ext cx="3461046" cy="4800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106424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>
              <a:defRPr sz="750" b="0">
                <a:solidFill>
                  <a:srgbClr val="697380"/>
                </a:solidFill>
                <a:latin typeface="Aptos"/>
              </a:defRPr>
            </a:pPr>
            <a:r>
              <a:t>Official documents provided with the District GIS Parakh project materials</a:t>
            </a:r>
          </a:p>
        </p:txBody>
      </p:sp>
      <p:pic>
        <p:nvPicPr>
          <p:cNvPr id="12" name="Picture 11" descr="letter_mpsedc_highres.png">
            <a:extLst>
              <a:ext uri="{FF2B5EF4-FFF2-40B4-BE49-F238E27FC236}">
                <a16:creationId xmlns:a16="http://schemas.microsoft.com/office/drawing/2014/main" id="{A5408EE4-9D82-0992-4CB3-43A39D53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62" y="1536192"/>
            <a:ext cx="357339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Meeting Highlights — Indore Division Forms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Translated summary of the Indore Division Forms MoM • 17-Sep-2026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3054"/>
                </a:solidFill>
                <a:latin typeface="Aptos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73152" cy="566928"/>
          </a:xfrm>
          <a:prstGeom prst="rect">
            <a:avLst/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17 new forms approved for all 8 districts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  <a:latin typeface="Aptos"/>
              </a:rPr>
              <a:t>Per the Commissioner's direction, Action Taken and departmental forms will no longer be limited to Indore Collectorate alone, but made available across all 8 districts of the Division (Jhabua, Khandwa, etc.).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" cy="566928"/>
          </a:xfrm>
          <a:prstGeom prst="rect">
            <a:avLst/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New Action menu + bilingual search in the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51760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  <a:latin typeface="Aptos"/>
              </a:rPr>
              <a:t>A separate Action menu will be added for Verify and Reject, and forms can now be searched in both Hindi and English.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73552"/>
            <a:ext cx="73152" cy="566928"/>
          </a:xfrm>
          <a:prstGeom prst="rect">
            <a:avLst/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7355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Dashboard &amp; form-launch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47872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  <a:latin typeface="Aptos"/>
              </a:rPr>
              <a:t>The first version of the Project Parakh dashboard goes live today; the remaining forms (of the 17) will be completed within the following week.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9664"/>
            <a:ext cx="73152" cy="566928"/>
          </a:xfrm>
          <a:prstGeom prst="rect">
            <a:avLst/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6966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Data access &amp; security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4398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  <a:latin typeface="Aptos"/>
              </a:rPr>
              <a:t>Data is visible only within the relevant department ('Belongs to Department') and its governing authority — e.g. Indore's Mining Officer cannot view Dhar's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65776"/>
            <a:ext cx="73152" cy="566928"/>
          </a:xfrm>
          <a:prstGeom prst="rect">
            <a:avLst/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06577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Key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009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  <a:latin typeface="Aptos"/>
              </a:rPr>
              <a:t>The user manual/documentation is to be updated, while reporting and the new Action menu are targeted to go live by Monday.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Source: Indore Division Forms MoM Meeting Transcript — translated Hindi → English for this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Meeting Highlights — Key Decisions (Full Discussion)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Translated summary of the Indore Division Forms MoM • 17-Sep-2026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457200" cy="1609344"/>
          </a:xfrm>
          <a:prstGeom prst="roundRect">
            <a:avLst>
              <a:gd name="adj" fmla="val 6000"/>
            </a:avLst>
          </a:prstGeom>
          <a:solidFill>
            <a:srgbClr val="2D6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57200" cy="1609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698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7A0"/>
                </a:solidFill>
                <a:latin typeface="Aptos"/>
              </a:rPr>
              <a:t>Reporting vs. Action — kept as separate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99031"/>
            <a:ext cx="10607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A distinct new menu is being added for Verify Survey and Action Taken so it does not clash with the reporting flow.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The Reporting section will also allow document uploads, to improve verification quality.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Authority to take action rests only with the concerned department's HOD, acting in the RO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25496"/>
            <a:ext cx="457200" cy="1609344"/>
          </a:xfrm>
          <a:prstGeom prst="roundRect">
            <a:avLst>
              <a:gd name="adj" fmla="val 6000"/>
            </a:avLst>
          </a:prstGeom>
          <a:solidFill>
            <a:srgbClr val="2C8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457200" cy="1609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4378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8263"/>
                </a:solidFill>
                <a:latin typeface="Aptos"/>
              </a:rPr>
              <a:t>Forms &amp; hierarchy for Indore 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72968"/>
            <a:ext cx="10607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17 departmental forms are being built for the 8 districts under Indore Division; 6–7 forms across Education, Higher Education, Health, Rural Development (PNRD), MSME, Social Justice and WCD are final.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Forms roll out to all 8 districts via the 'District GIS' model, rather than being limited to Indore Collectorate alone.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The Jan Vishwas form remains a state-level form visible in all 55 districts, while the 17 forms are for the Indore Divisional Commissioner's oversight.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99431"/>
            <a:ext cx="457200" cy="1609344"/>
          </a:xfrm>
          <a:prstGeom prst="roundRect">
            <a:avLst>
              <a:gd name="adj" fmla="val 6000"/>
            </a:avLst>
          </a:prstGeom>
          <a:solidFill>
            <a:srgbClr val="C6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99431"/>
            <a:ext cx="457200" cy="1609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19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7526"/>
                </a:solidFill>
                <a:latin typeface="Aptos"/>
              </a:rPr>
              <a:t>Mobile app &amp; search utility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46903"/>
            <a:ext cx="10607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Search will be improved to organise the long form list for Inspectors.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Form names will carry both English and Hindi (in brackets) so staff at every level can search by keyword.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A generic, access-level-table-driven utility was agreed on — not a custom interface per officer, and not hard-coded per query — so form management stays flexible going forward.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Source: Indore Division Forms MoM Meeting Transcript — translated Hindi → English for this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7 Department General Forms — Indore Division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Finalised forms rolled out across all 8 districts: Indore, Dhar, Jhabua, Khandwa, Khargone, Barwani, Burhanpur, Alirajpur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4"/>
                </a:solidFill>
                <a:latin typeface="Aptos"/>
              </a:rPr>
              <a:t>All 7 forms are configured as ‘Department General Form’ type in Parakh.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347472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53896"/>
            <a:ext cx="4014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Department (English)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0872" y="1453896"/>
            <a:ext cx="3419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विभाग (हिंदी)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1453896"/>
            <a:ext cx="3374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Form / Checklist Basis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64792"/>
            <a:ext cx="11247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19656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School Education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819656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शिक्षा विभाग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19656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District-level property/institution inspection checklist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95144"/>
            <a:ext cx="11247120" cy="530352"/>
          </a:xfrm>
          <a:prstGeom prst="rect">
            <a:avLst/>
          </a:prstGeom>
          <a:solidFill>
            <a:srgbClr val="D3DBE5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50008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Higher Education 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350008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उच्च शिक्षा विभाग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50008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District-level property/institution inspection checklist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25496"/>
            <a:ext cx="11247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Health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880360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स्वास्थ्य विभाग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880360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District-level property/institution inspection checklist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55848"/>
            <a:ext cx="11247120" cy="530352"/>
          </a:xfrm>
          <a:prstGeom prst="rect">
            <a:avLst/>
          </a:prstGeom>
          <a:solidFill>
            <a:srgbClr val="D3DBE5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10712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Panchayat &amp; Rural Development (PNRD)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410712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पंचायती राज एवं ग्रामीण विकास विभाग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410712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District-level property/institution inspection checklist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11247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941063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MSME Department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941063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एमएसएमई विभाग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941063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MSME Inspection Report Format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16552"/>
            <a:ext cx="11247120" cy="530352"/>
          </a:xfrm>
          <a:prstGeom prst="rect">
            <a:avLst/>
          </a:prstGeom>
          <a:solidFill>
            <a:srgbClr val="D3DBE5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471416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Social Justice &amp; Divyangjan Empowerment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471416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सामाजिक न्याय एवं दिव्यांगजन सशक्तिकरण विभाग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471416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Institution selection &amp; baseline-information checklist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46904"/>
            <a:ext cx="11247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001768"/>
            <a:ext cx="40142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4"/>
                </a:solidFill>
                <a:latin typeface="Aptos"/>
              </a:rPr>
              <a:t>Women &amp; Child Development (WCD) — Anganwadi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5001768"/>
            <a:ext cx="3419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7E67"/>
                </a:solidFill>
                <a:latin typeface="Aptos"/>
              </a:rPr>
              <a:t>महिला एवं बाल विकास विभाग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5001768"/>
            <a:ext cx="3374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ptos"/>
              </a:rPr>
              <a:t>Anganwadi Inspection Form (Consolidated)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86984"/>
            <a:ext cx="11247120" cy="621792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E8C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4184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3744"/>
                </a:solidFill>
                <a:latin typeface="Aptos"/>
              </a:rPr>
              <a:t>Bilingual search: every form name carries both English and Hindi (in brackets) so field staff at any level can search by keyword in either language. The Jan Vishwas form stays a separate state-level form visible across all 55 districts; these 7 forms are scoped to Indore Division's 8-district rollout.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Departments confirmed final in the Indore Division Forms MoM (17-Sep-2026) and the Indore Inspection Requirement Specification V2.0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Access &amp; Action 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Who can see an inspection vs. who can act on it — hierarchy-scoped Verify/Reject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3054"/>
                </a:solidFill>
                <a:latin typeface="Aptos"/>
              </a:rPr>
              <a:t>Visibility vs. Action rights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2D3744"/>
                </a:solidFill>
                <a:latin typeface="Aptos"/>
              </a:rPr>
              <a:t>•  Inspector / Field Officer / Surveyor records are visible (read-only) to all departments within that district — giving full cross-department transparency on ground-level inspection activity.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D3744"/>
                </a:solidFill>
                <a:latin typeface="Aptos"/>
              </a:rPr>
              <a:t>•  Verify / Reject action, however, can only be taken by the specific Reporting Officer (RO) under whom that Field Inspector/Surveyor was created — not by any other RO in the district.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D3744"/>
                </a:solidFill>
                <a:latin typeface="Aptos"/>
              </a:rPr>
              <a:t>•  That RO's own actions roll up through the reporting hierarchy to the Nodal Officer above them, keeping one clear line of accountability from Inspector → RO → Nodal Officer.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D3744"/>
                </a:solidFill>
                <a:latin typeface="Aptos"/>
              </a:rPr>
              <a:t>•  This is enforced by the Reporting Officer column captured against every user at creation time (see the User List extract alongside), not by a hard-coded, one-off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862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 w="12700">
            <a:solidFill>
              <a:srgbClr val="2C8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C8263"/>
                </a:solidFill>
                <a:latin typeface="Aptos"/>
              </a:rPr>
              <a:t>NEW — Left Menu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‘Action – Verify &amp; Reject’ added as its own menu item, separate from Reporting.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D3744"/>
                </a:solidFill>
                <a:latin typeface="Aptos"/>
              </a:rPr>
              <a:t>•  ‘Action Reports’ will be visible inside the Reports section.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923544"/>
            <a:ext cx="565099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lis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349950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311810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Aptos"/>
              </a:rPr>
              <a:t>User List — each Inspector/RO mapped to a Reporting Officer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3392424"/>
            <a:ext cx="5650992" cy="2404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dd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3883389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581558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Aptos"/>
              </a:rPr>
              <a:t>Add User — Government Department / Sub-Department captured at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Confirms: 'authority to act rests only with the concerned department's HOD, in the RO role' — Indore Division Forms MoM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Divisional Monitoring Dashboard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Monitoring Dashboard for Division &amp; District Access — Indore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69264"/>
            <a:ext cx="7479792" cy="4553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4066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41264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Aptos"/>
              </a:rPr>
              <a:t>Administrative Dashboard — geoportal.mp.gov.in/parakhweb/divisionDistrictDashboard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051560"/>
            <a:ext cx="3611880" cy="713232"/>
          </a:xfrm>
          <a:prstGeom prst="roundRect">
            <a:avLst>
              <a:gd name="adj" fmla="val 6000"/>
            </a:avLst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1064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1,884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7218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8EA"/>
                </a:solidFill>
                <a:latin typeface="Aptos"/>
              </a:rPr>
              <a:t>Registered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92807"/>
            <a:ext cx="3611880" cy="713232"/>
          </a:xfrm>
          <a:prstGeom prst="roundRect">
            <a:avLst>
              <a:gd name="adj" fmla="val 6000"/>
            </a:avLst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13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8EA"/>
                </a:solidFill>
                <a:latin typeface="Aptos"/>
              </a:rPr>
              <a:t>Launched 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734056"/>
            <a:ext cx="3611880" cy="713232"/>
          </a:xfrm>
          <a:prstGeom prst="roundRect">
            <a:avLst>
              <a:gd name="adj" fmla="val 6000"/>
            </a:avLst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14,883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8EA"/>
                </a:solidFill>
                <a:latin typeface="Aptos"/>
              </a:rPr>
              <a:t>Inspections Conducted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575303"/>
            <a:ext cx="3611880" cy="713232"/>
          </a:xfrm>
          <a:prstGeom prst="roundRect">
            <a:avLst>
              <a:gd name="adj" fmla="val 6000"/>
            </a:avLst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630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16,953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959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8EA"/>
                </a:solidFill>
                <a:latin typeface="Aptos"/>
              </a:rPr>
              <a:t>Registered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462272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D3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5811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3054"/>
                </a:solidFill>
                <a:latin typeface="Aptos"/>
              </a:rPr>
              <a:t>Last 30 Days Snapshot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87375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2,373 period inspections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Top district: Dhar (757 — 32%)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Most-inspected form: विद्यालय निरीक्षण (419 — 18%)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31 forms tracked; district &amp; form-wise breakdowns, leaderboard and cumulative trend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Active window: 19 Aug 2026 – 18 Sep 2026 • First dashboard version launched for Commissioner review per the 17-Sep MoM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View Launched Forms — Bilingual Search (Hindi &amp; English)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D8EA"/>
                </a:solidFill>
                <a:latin typeface="Aptos"/>
              </a:rPr>
              <a:t>Detailed View of Launched Forms, filterable by Department and Form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69264"/>
            <a:ext cx="7708392" cy="4599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m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538299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86984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Aptos"/>
              </a:rPr>
              <a:t>View Launched Form — geoportal.mp.gov.in/parakhweb/viewformlist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051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3054"/>
                </a:solidFill>
                <a:latin typeface="Aptos"/>
              </a:rPr>
              <a:t>What's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389888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Search box finds a form by keyword in either Hindi or English — form names are shown in both languages, e.g. आवेदन फॉर्म, छात्रावास निरीक्षण एवं रैंकिंग.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Department dropdown lists all 8 Indore Division collectorates plus cross-cutting departments (Ayush, Asset Survey, District GIS, PNRD-MGNREGA, PNRD-MPSRLM …).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D3744"/>
                </a:solidFill>
                <a:latin typeface="Aptos"/>
              </a:rPr>
              <a:t>•  Every card is tagged ‘Department General Form’ and offers both View Form and View Report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7033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E8C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3744"/>
                </a:solidFill>
                <a:latin typeface="Aptos"/>
              </a:rPr>
              <a:t>A generic, access-level-driven search utility was agreed on in place of a custom per-officer interface, so the form list stays manageable as more districts and departments are added.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471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ptos"/>
              </a:rPr>
              <a:t>Per the Indore Division Forms MoM: 'form names in both English and Hindi (in brackets) so staff at every level can search by keyword'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471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201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Chauhan</cp:lastModifiedBy>
  <cp:revision>3</cp:revision>
  <dcterms:created xsi:type="dcterms:W3CDTF">2013-01-27T09:14:16Z</dcterms:created>
  <dcterms:modified xsi:type="dcterms:W3CDTF">2026-09-10T07:54:09Z</dcterms:modified>
  <cp:category/>
</cp:coreProperties>
</file>