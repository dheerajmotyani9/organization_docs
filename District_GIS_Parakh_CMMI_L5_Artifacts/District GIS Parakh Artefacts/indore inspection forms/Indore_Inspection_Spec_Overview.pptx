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2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E2A6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2651760" cy="365760"/>
          </a:xfrm>
          <a:prstGeom prst="roundRect">
            <a:avLst>
              <a:gd name="adj" fmla="val 17500"/>
            </a:avLst>
          </a:prstGeom>
          <a:solidFill>
            <a:srgbClr val="C9962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 ·  PARAKH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 Division Inspection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Technical &amp; Functional Specification —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checklist forms (17 depts · 58 institution types)  ·  Divisional workflow management  ·  Action tracking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Indore Commissioner &amp; Collectorate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specification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10512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810512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single business + technical + functional spec for the Indore division inspection workflow — from field checklist capture to Divisional Commissioner monitoring.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98094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driver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980944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manual, paper-based departmental inspection notes with a structured, auditable digital checklist inside District GIS Parakh.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078224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151376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4151376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department checklist forms · Divisional Commissioner login &amp; dashboard · auto-assignment &amp; action tracking · department-wise reporting.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248656"/>
            <a:ext cx="11247120" cy="1024128"/>
          </a:xfrm>
          <a:prstGeom prst="roundRect">
            <a:avLst>
              <a:gd name="adj" fmla="val 714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53218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5321808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SLA-based escalation and automated closure workflow (deferred, not in current build).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44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hierarchy &amp; scope of visibility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6204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103120"/>
            <a:ext cx="548640" cy="54864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districts within the division. Tracks &amp; monitors progress division-wide.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27248" y="32918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64992" y="18288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2103120"/>
            <a:ext cx="548640" cy="54864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13" name="Text 11"/>
          <p:cNvSpPr/>
          <p:nvPr/>
        </p:nvSpPr>
        <p:spPr>
          <a:xfrm>
            <a:off x="441655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02152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47872" y="3611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departments within the district. Monitors HOD action &amp; protocol compliance.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32918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2784" y="18288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4344" y="2103120"/>
            <a:ext cx="548640" cy="54864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19" name="Text 17"/>
          <p:cNvSpPr/>
          <p:nvPr/>
        </p:nvSpPr>
        <p:spPr>
          <a:xfrm>
            <a:off x="7324344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9944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HOD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55664" y="3611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department only. Updates action taken, uploads letter/evidence.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42832" y="329184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80576" y="182880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32136" y="2103120"/>
            <a:ext cx="548640" cy="54864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25" name="Text 23"/>
          <p:cNvSpPr/>
          <p:nvPr/>
        </p:nvSpPr>
        <p:spPr>
          <a:xfrm>
            <a:off x="1023213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7736" y="2788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63456" y="3611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department/sub-department. Conducts inspection and submits.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55264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255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FORMS · WORK IN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departments · 58 institution/asset types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checklist follows one common structure (Sec. 5.3) with department-specific inspection 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28216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11" name="Text 9"/>
          <p:cNvSpPr/>
          <p:nvPr/>
        </p:nvSpPr>
        <p:spPr>
          <a:xfrm>
            <a:off x="1728216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28216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28216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090672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3090672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90672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53128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4453128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Panchayat &amp; Rural Dev.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53128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15584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23" name="Text 21"/>
          <p:cNvSpPr/>
          <p:nvPr/>
        </p:nvSpPr>
        <p:spPr>
          <a:xfrm>
            <a:off x="5815584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15584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5584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78040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78040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40496" y="187452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8540496" y="190195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540496" y="236829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236829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65760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728216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39" name="Text 37"/>
          <p:cNvSpPr/>
          <p:nvPr/>
        </p:nvSpPr>
        <p:spPr>
          <a:xfrm>
            <a:off x="1728216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728216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28216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090672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43" name="Text 41"/>
          <p:cNvSpPr/>
          <p:nvPr/>
        </p:nvSpPr>
        <p:spPr>
          <a:xfrm>
            <a:off x="3090672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90672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0672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453128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47" name="Text 45"/>
          <p:cNvSpPr/>
          <p:nvPr/>
        </p:nvSpPr>
        <p:spPr>
          <a:xfrm>
            <a:off x="4453128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UADD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53128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815584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51" name="Text 49"/>
          <p:cNvSpPr/>
          <p:nvPr/>
        </p:nvSpPr>
        <p:spPr>
          <a:xfrm>
            <a:off x="5815584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815584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15584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178040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55" name="Text 53"/>
          <p:cNvSpPr/>
          <p:nvPr/>
        </p:nvSpPr>
        <p:spPr>
          <a:xfrm>
            <a:off x="7178040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MPEB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178040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78040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540496" y="306324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59" name="Text 57"/>
          <p:cNvSpPr/>
          <p:nvPr/>
        </p:nvSpPr>
        <p:spPr>
          <a:xfrm>
            <a:off x="8540496" y="309067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540496" y="355701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40496" y="355701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65760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16204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728216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67" name="Text 65"/>
          <p:cNvSpPr/>
          <p:nvPr/>
        </p:nvSpPr>
        <p:spPr>
          <a:xfrm>
            <a:off x="1728216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MPRDC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728216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28216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3090672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71" name="Text 69"/>
          <p:cNvSpPr/>
          <p:nvPr/>
        </p:nvSpPr>
        <p:spPr>
          <a:xfrm>
            <a:off x="3090672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090672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90672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4453128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75" name="Text 73"/>
          <p:cNvSpPr/>
          <p:nvPr/>
        </p:nvSpPr>
        <p:spPr>
          <a:xfrm>
            <a:off x="4453128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453128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53128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5815584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79" name="Text 77"/>
          <p:cNvSpPr/>
          <p:nvPr/>
        </p:nvSpPr>
        <p:spPr>
          <a:xfrm>
            <a:off x="5815584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OBC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815584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15584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7178040" y="4251960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4F5F8"/>
          </a:solidFill>
          <a:ln/>
        </p:spPr>
      </p:sp>
      <p:sp>
        <p:nvSpPr>
          <p:cNvPr id="83" name="Text 81"/>
          <p:cNvSpPr/>
          <p:nvPr/>
        </p:nvSpPr>
        <p:spPr>
          <a:xfrm>
            <a:off x="7178040" y="4279392"/>
            <a:ext cx="1307592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GMDIC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178040" y="4745736"/>
            <a:ext cx="13075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78040" y="47457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10058400" y="1874520"/>
            <a:ext cx="1691640" cy="3291840"/>
          </a:xfrm>
          <a:prstGeom prst="roundRect">
            <a:avLst>
              <a:gd name="adj" fmla="val 5405"/>
            </a:avLst>
          </a:prstGeom>
          <a:solidFill>
            <a:srgbClr val="16204F"/>
          </a:solidFill>
          <a:ln/>
        </p:spPr>
      </p:sp>
      <p:sp>
        <p:nvSpPr>
          <p:cNvPr id="87" name="Text 85"/>
          <p:cNvSpPr/>
          <p:nvPr/>
        </p:nvSpPr>
        <p:spPr>
          <a:xfrm>
            <a:off x="10058400" y="20574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4200" dirty="0"/>
          </a:p>
        </p:txBody>
      </p:sp>
      <p:sp>
        <p:nvSpPr>
          <p:cNvPr id="88" name="Text 86"/>
          <p:cNvSpPr/>
          <p:nvPr/>
        </p:nvSpPr>
        <p:spPr>
          <a:xfrm>
            <a:off x="10131552" y="288036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institution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types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10131552" y="4434840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19856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419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 · SECTION 5.3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checklist — common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behaviour on Web and Mobile; department-specific inspection points sit inside a standard shell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16204F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Header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792" y="35661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Inspecting Officer, Designation, Date, Concerned Department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15184" y="33832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196596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80360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Identification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07792" y="35661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Name &amp; Code, Address, Date, Inspector Name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1184" y="33832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162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Body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93792" y="35661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dept-specific points rated Satisfactory / Unsatisfactory / N.A.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33832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96596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52360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79792" y="35661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(1), Photo (2) — geo-tagged mobile capture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73184" y="338328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601200" y="196596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16204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24160" y="222199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38360" y="2880360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Closure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65792" y="356616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Remarks, Recommendation, Correction Timeline, Responsible Officer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19856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419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 · SECTION 5.5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action-tracking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620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Auto-routed to Dept. HOD; read-only to Collector &amp; Commissioner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6204F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HOD 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2E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Closed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taken, evidence uploaded, finding closed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06840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196596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8A2E2E"/>
          </a:solidFill>
          <a:ln/>
        </p:spPr>
      </p:sp>
      <p:sp>
        <p:nvSpPr>
          <p:cNvPr id="18" name="Text 16"/>
          <p:cNvSpPr/>
          <p:nvPr/>
        </p:nvSpPr>
        <p:spPr>
          <a:xfrm>
            <a:off x="946404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Unapproved / Rejected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09760" y="2788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inspector with remark / re-inspection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monitors SLA (department acting within timeframe)  ·  Divisional Commissioner sees summary status only  ·  Full SLA automation &amp; escalation is Phase 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37560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 · SECTION 6.1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—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0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(Field Capture)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draft, sync-on-reconnect, dropdown &amp; mandatory-field validation, photo capture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04F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(Reporting &amp; Monitoring)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login — Inspector, HOD, Collector, Divisional Commissioner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04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94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PARAKH Server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synced records, stores master data, serves reports &amp; dashboards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4F5F8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20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794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Layer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480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· Sub-Department (Institution Type) · Checklist Template — versioned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37560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 · SECTION 6.3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access-control matrix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2331720"/>
                <a:gridCol w="2331720"/>
                <a:gridCol w="237744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Create / Submit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Rights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 Scope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Divisional Commissioner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Read-only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Division-wide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District Collector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Read-only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District, all depts.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Yes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Department HOD / 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Via inspector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Verify/Reject/Remark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Own department 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Yes (dept.)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Field Inspector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Create/Submit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Assigned dept./sub-dept.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System Admin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Full (master data)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All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</a:rPr>
                        <a:t>Yes (admin)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913632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SOP REQUIREMENT → WHAT'S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Dept.-wise inspection forms (mobile)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0" y="181051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0" y="18105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checklist capture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0" y="235915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23591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created as Department HOD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0" y="290779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907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HOD visible in user list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0" y="345643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3456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 Report — HOD review &amp; action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0" y="400507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4005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Collector-level monitoring view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0" y="455371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45537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Divisional Commissioner dashboard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0" y="510235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C9962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0" y="5102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/ closure automation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0" y="5650992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8A8FA3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0" y="56509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Phase 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C99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BUILD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sequence (Phase 1)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Finalise Department / Sub-Department master data (incl. 56 RO mappings)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Divisional Commissioner login &amp; district roll-up view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 Inspection Form for all 17 depts / 58 institution types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User Screen (list/search/edit) with filters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User–Department Assignment (Inspector mapping) screen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Add filters &amp; dept.-wise user list/search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Roll out Inspection Form with Dept./Sub-Dept. dropdowns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Build Dept.-wise Report with filter columns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Implement auto-assignment/work allocation to HOD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Build Action View page — remark, evidence, status control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Enable dept./officer-wise filtered reporting &amp; status dashboard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Complete &amp; roll out Divisional Commissioner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GIS · PARAKH  |  Indore Division Inspection Management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E2A6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1E2A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checklist shell.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departments.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division-wide view.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Forms → HOD (RO) Setup → General Form Report &amp; Action → Collector &amp; Commissioner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2026-08-08T03:13:10Z</dcterms:created>
  <dcterms:modified xsi:type="dcterms:W3CDTF">2026-08-08T03:13:10Z</dcterms:modified>
</cp:coreProperties>
</file>