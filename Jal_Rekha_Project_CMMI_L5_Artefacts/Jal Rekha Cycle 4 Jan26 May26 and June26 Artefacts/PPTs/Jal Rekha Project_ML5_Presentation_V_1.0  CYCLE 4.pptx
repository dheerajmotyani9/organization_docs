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708" r:id="rId3"/>
  </p:sldMasterIdLst>
  <p:notesMasterIdLst>
    <p:notesMasterId r:id="rId100"/>
  </p:notesMasterIdLst>
  <p:handoutMasterIdLst>
    <p:handoutMasterId r:id="rId101"/>
  </p:handoutMasterIdLst>
  <p:sldIdLst>
    <p:sldId id="256" r:id="rId4"/>
    <p:sldId id="513" r:id="rId5"/>
    <p:sldId id="257" r:id="rId6"/>
    <p:sldId id="362" r:id="rId7"/>
    <p:sldId id="359" r:id="rId8"/>
    <p:sldId id="360" r:id="rId9"/>
    <p:sldId id="482" r:id="rId10"/>
    <p:sldId id="300" r:id="rId11"/>
    <p:sldId id="525" r:id="rId12"/>
    <p:sldId id="263" r:id="rId13"/>
    <p:sldId id="512" r:id="rId14"/>
    <p:sldId id="617" r:id="rId15"/>
    <p:sldId id="618" r:id="rId16"/>
    <p:sldId id="619" r:id="rId17"/>
    <p:sldId id="620" r:id="rId18"/>
    <p:sldId id="621" r:id="rId19"/>
    <p:sldId id="623" r:id="rId20"/>
    <p:sldId id="526" r:id="rId21"/>
    <p:sldId id="634" r:id="rId22"/>
    <p:sldId id="511" r:id="rId23"/>
    <p:sldId id="624" r:id="rId24"/>
    <p:sldId id="635" r:id="rId25"/>
    <p:sldId id="636" r:id="rId26"/>
    <p:sldId id="637" r:id="rId27"/>
    <p:sldId id="638" r:id="rId28"/>
    <p:sldId id="639" r:id="rId29"/>
    <p:sldId id="640" r:id="rId30"/>
    <p:sldId id="641" r:id="rId31"/>
    <p:sldId id="524" r:id="rId32"/>
    <p:sldId id="516" r:id="rId33"/>
    <p:sldId id="517" r:id="rId34"/>
    <p:sldId id="518" r:id="rId35"/>
    <p:sldId id="519" r:id="rId36"/>
    <p:sldId id="627" r:id="rId37"/>
    <p:sldId id="625" r:id="rId38"/>
    <p:sldId id="527" r:id="rId39"/>
    <p:sldId id="484" r:id="rId40"/>
    <p:sldId id="485" r:id="rId41"/>
    <p:sldId id="487" r:id="rId42"/>
    <p:sldId id="488" r:id="rId43"/>
    <p:sldId id="489" r:id="rId44"/>
    <p:sldId id="626" r:id="rId45"/>
    <p:sldId id="551" r:id="rId46"/>
    <p:sldId id="631" r:id="rId47"/>
    <p:sldId id="642" r:id="rId48"/>
    <p:sldId id="643" r:id="rId49"/>
    <p:sldId id="644" r:id="rId50"/>
    <p:sldId id="645" r:id="rId51"/>
    <p:sldId id="646" r:id="rId52"/>
    <p:sldId id="647" r:id="rId53"/>
    <p:sldId id="592" r:id="rId54"/>
    <p:sldId id="628" r:id="rId55"/>
    <p:sldId id="593" r:id="rId56"/>
    <p:sldId id="594" r:id="rId57"/>
    <p:sldId id="595" r:id="rId58"/>
    <p:sldId id="597" r:id="rId59"/>
    <p:sldId id="629" r:id="rId60"/>
    <p:sldId id="599" r:id="rId61"/>
    <p:sldId id="600" r:id="rId62"/>
    <p:sldId id="648" r:id="rId63"/>
    <p:sldId id="612" r:id="rId64"/>
    <p:sldId id="602" r:id="rId65"/>
    <p:sldId id="603" r:id="rId66"/>
    <p:sldId id="605" r:id="rId67"/>
    <p:sldId id="630" r:id="rId68"/>
    <p:sldId id="632" r:id="rId69"/>
    <p:sldId id="649" r:id="rId70"/>
    <p:sldId id="650" r:id="rId71"/>
    <p:sldId id="651" r:id="rId72"/>
    <p:sldId id="652" r:id="rId73"/>
    <p:sldId id="653" r:id="rId74"/>
    <p:sldId id="654" r:id="rId75"/>
    <p:sldId id="610" r:id="rId76"/>
    <p:sldId id="633" r:id="rId77"/>
    <p:sldId id="538" r:id="rId78"/>
    <p:sldId id="655" r:id="rId79"/>
    <p:sldId id="656" r:id="rId80"/>
    <p:sldId id="539" r:id="rId81"/>
    <p:sldId id="666" r:id="rId82"/>
    <p:sldId id="540" r:id="rId83"/>
    <p:sldId id="667" r:id="rId84"/>
    <p:sldId id="535" r:id="rId85"/>
    <p:sldId id="657" r:id="rId86"/>
    <p:sldId id="659" r:id="rId87"/>
    <p:sldId id="660" r:id="rId88"/>
    <p:sldId id="664" r:id="rId89"/>
    <p:sldId id="665" r:id="rId90"/>
    <p:sldId id="663" r:id="rId91"/>
    <p:sldId id="615" r:id="rId92"/>
    <p:sldId id="668" r:id="rId93"/>
    <p:sldId id="672" r:id="rId94"/>
    <p:sldId id="670" r:id="rId95"/>
    <p:sldId id="673" r:id="rId96"/>
    <p:sldId id="669" r:id="rId97"/>
    <p:sldId id="674" r:id="rId98"/>
    <p:sldId id="671" r:id="rId9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33F951-9319-40B4-8221-EED6B89A3132}">
          <p14:sldIdLst>
            <p14:sldId id="256"/>
          </p14:sldIdLst>
        </p14:section>
        <p14:section name="Cycle 1 (Productivity)" id="{328D798A-A2D3-4EE0-A959-D80A2C6441B8}">
          <p14:sldIdLst>
            <p14:sldId id="513"/>
            <p14:sldId id="257"/>
            <p14:sldId id="362"/>
            <p14:sldId id="359"/>
            <p14:sldId id="360"/>
            <p14:sldId id="482"/>
            <p14:sldId id="300"/>
            <p14:sldId id="525"/>
            <p14:sldId id="263"/>
          </p14:sldIdLst>
        </p14:section>
        <p14:section name="Cycle 2 (Productivity)" id="{4FE6CF68-D3F5-4F95-B971-34A08064D573}">
          <p14:sldIdLst>
            <p14:sldId id="512"/>
            <p14:sldId id="617"/>
            <p14:sldId id="618"/>
            <p14:sldId id="619"/>
            <p14:sldId id="620"/>
            <p14:sldId id="621"/>
            <p14:sldId id="623"/>
            <p14:sldId id="526"/>
            <p14:sldId id="634"/>
            <p14:sldId id="511"/>
          </p14:sldIdLst>
        </p14:section>
        <p14:section name="Cycle 3 (Productivity)" id="{D09C527C-5C9F-4C79-A87D-F71BDA4E0852}">
          <p14:sldIdLst>
            <p14:sldId id="624"/>
            <p14:sldId id="635"/>
            <p14:sldId id="636"/>
            <p14:sldId id="637"/>
            <p14:sldId id="638"/>
            <p14:sldId id="639"/>
            <p14:sldId id="640"/>
            <p14:sldId id="641"/>
          </p14:sldIdLst>
        </p14:section>
        <p14:section name="Cycle 1 (Cycle Time)" id="{711DDA46-AC35-4C17-928F-42A622BAB881}">
          <p14:sldIdLst>
            <p14:sldId id="524"/>
            <p14:sldId id="516"/>
            <p14:sldId id="517"/>
            <p14:sldId id="518"/>
            <p14:sldId id="519"/>
            <p14:sldId id="627"/>
            <p14:sldId id="625"/>
            <p14:sldId id="527"/>
          </p14:sldIdLst>
        </p14:section>
        <p14:section name="Cycle 2 (Cycle Time)" id="{8723CB93-F013-4DA7-ADD9-F72BC993CBF9}">
          <p14:sldIdLst>
            <p14:sldId id="484"/>
            <p14:sldId id="485"/>
            <p14:sldId id="487"/>
            <p14:sldId id="488"/>
            <p14:sldId id="489"/>
            <p14:sldId id="626"/>
            <p14:sldId id="551"/>
          </p14:sldIdLst>
        </p14:section>
        <p14:section name="Cycle 3 (Cycle Time)" id="{4D0F0996-DA30-4D0D-9107-9271B49B67A2}">
          <p14:sldIdLst>
            <p14:sldId id="631"/>
            <p14:sldId id="642"/>
            <p14:sldId id="643"/>
            <p14:sldId id="644"/>
            <p14:sldId id="645"/>
            <p14:sldId id="646"/>
            <p14:sldId id="647"/>
          </p14:sldIdLst>
        </p14:section>
        <p14:section name="Cycle 1 (DRE)" id="{D3678A49-D720-492C-B5C9-88DF1C5F66DB}">
          <p14:sldIdLst>
            <p14:sldId id="592"/>
            <p14:sldId id="628"/>
            <p14:sldId id="593"/>
            <p14:sldId id="594"/>
            <p14:sldId id="595"/>
            <p14:sldId id="597"/>
            <p14:sldId id="629"/>
            <p14:sldId id="599"/>
          </p14:sldIdLst>
        </p14:section>
        <p14:section name="Cycle 2 (DRE)" id="{EC333048-669D-4323-868E-4312A081B632}">
          <p14:sldIdLst>
            <p14:sldId id="600"/>
            <p14:sldId id="648"/>
            <p14:sldId id="612"/>
            <p14:sldId id="602"/>
            <p14:sldId id="603"/>
            <p14:sldId id="605"/>
            <p14:sldId id="630"/>
          </p14:sldIdLst>
        </p14:section>
        <p14:section name="Cycle 3 (DRE)" id="{2A285BD0-614D-4A63-9AAF-A58F06494FE4}">
          <p14:sldIdLst>
            <p14:sldId id="632"/>
            <p14:sldId id="649"/>
            <p14:sldId id="650"/>
            <p14:sldId id="651"/>
            <p14:sldId id="652"/>
            <p14:sldId id="653"/>
            <p14:sldId id="654"/>
            <p14:sldId id="610"/>
          </p14:sldIdLst>
        </p14:section>
        <p14:section name="2 Sample T Test" id="{63ECB682-EC19-4D10-9078-3B0B20BE7C34}">
          <p14:sldIdLst>
            <p14:sldId id="633"/>
            <p14:sldId id="538"/>
            <p14:sldId id="655"/>
            <p14:sldId id="656"/>
            <p14:sldId id="539"/>
            <p14:sldId id="666"/>
            <p14:sldId id="540"/>
            <p14:sldId id="667"/>
            <p14:sldId id="535"/>
          </p14:sldIdLst>
        </p14:section>
        <p14:section name="Sample F Test" id="{C7930955-2993-4DA4-A001-4E6804E5AE59}">
          <p14:sldIdLst>
            <p14:sldId id="657"/>
            <p14:sldId id="659"/>
            <p14:sldId id="660"/>
            <p14:sldId id="664"/>
            <p14:sldId id="665"/>
            <p14:sldId id="663"/>
          </p14:sldIdLst>
        </p14:section>
        <p14:section name="Cp &amp; Cpk Analysis" id="{8D36D57E-B080-4459-A663-4284B7BD4CE8}">
          <p14:sldIdLst>
            <p14:sldId id="615"/>
            <p14:sldId id="668"/>
            <p14:sldId id="672"/>
            <p14:sldId id="670"/>
            <p14:sldId id="673"/>
            <p14:sldId id="669"/>
            <p14:sldId id="674"/>
            <p14:sldId id="6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4624" autoAdjust="0"/>
  </p:normalViewPr>
  <p:slideViewPr>
    <p:cSldViewPr>
      <p:cViewPr varScale="1">
        <p:scale>
          <a:sx n="65" d="100"/>
          <a:sy n="65" d="100"/>
        </p:scale>
        <p:origin x="596" y="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slide" Target="slides/slide84.xml"/><Relationship Id="rId102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103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E880D-2678-4732-8BAB-0E2B82449FB4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smtClean="0"/>
              <a:t>Cycle 1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514CE-5656-434F-838D-AABAAB937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1451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3C6DB-CB73-4C12-B631-D9AFD6C7C4FA}" type="datetimeFigureOut">
              <a:rPr lang="en-IN" smtClean="0"/>
              <a:pPr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smtClean="0"/>
              <a:t>Cycle 1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58DC8-4EA0-49F2-9CC8-18FEE9A0548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70124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58DC8-4EA0-49F2-9CC8-18FEE9A05486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Cycle 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879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58DC8-4EA0-49F2-9CC8-18FEE9A05486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Cycle 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117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58DC8-4EA0-49F2-9CC8-18FEE9A05486}" type="slidenum">
              <a:rPr lang="en-IN" smtClean="0"/>
              <a:pPr/>
              <a:t>38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Cycle 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657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58DC8-4EA0-49F2-9CC8-18FEE9A05486}" type="slidenum">
              <a:rPr lang="en-IN" smtClean="0"/>
              <a:pPr/>
              <a:t>45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Cycle 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856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7938"/>
            <a:ext cx="12192000" cy="686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879"/>
            <a:ext cx="10363200" cy="1379084"/>
          </a:xfrm>
        </p:spPr>
        <p:txBody>
          <a:bodyPr anchor="b">
            <a:noAutofit/>
          </a:bodyPr>
          <a:lstStyle>
            <a:lvl1pPr algn="ctr">
              <a:defRPr sz="3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CFF887-60DC-4D63-B90D-234512CD0ED6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5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790799"/>
          </a:xfrm>
        </p:spPr>
        <p:txBody>
          <a:bodyPr/>
          <a:lstStyle>
            <a:lvl1pPr>
              <a:defRPr sz="24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7929"/>
            <a:ext cx="10515600" cy="4789034"/>
          </a:xfrm>
        </p:spPr>
        <p:txBody>
          <a:bodyPr>
            <a:normAutofit/>
          </a:bodyPr>
          <a:lstStyle>
            <a:lvl1pPr>
              <a:defRPr sz="135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050">
                <a:latin typeface="+mn-lt"/>
              </a:defRPr>
            </a:lvl3pPr>
            <a:lvl4pPr>
              <a:defRPr sz="900">
                <a:latin typeface="+mn-lt"/>
              </a:defRPr>
            </a:lvl4pPr>
            <a:lvl5pPr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CEC95F-8747-4416-BD1D-871F97F03DB3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04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>
            <a:normAutofit/>
          </a:bodyPr>
          <a:lstStyle>
            <a:lvl1pPr>
              <a:defRPr sz="3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0D70AF-EBD0-4F9B-AE3A-740A3E111BF6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99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E7B3BF-486D-41DB-9D07-68BBE80D3DA6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9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5DEFC2-8D3F-4904-868E-38276BAB27D2}" type="datetime1">
              <a:rPr lang="en-US" smtClean="0"/>
              <a:t>2/23/2026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2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CC6238-560F-4B03-BCC8-9046665C9419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31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BE78F6-19B9-4A4A-9456-C6ED9E73340E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51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60F7C0-A9A1-4EC9-8B21-ECBA7C7E892C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2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EEA28D-E52E-4579-8142-AFDF86D4B54B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52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657E10-F6F8-46F6-8339-F77576B0113B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8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8A70AB-0130-4030-A6EC-2EC13828B90E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42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4CF-86BC-447D-B700-ADD83FBB9AB8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41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B23F-1284-4015-B072-16D603EAEBFE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8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54864-3787-4617-BC7D-2D25A03EB0FD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18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4D92-03B5-4CF3-B97F-C8F7CCCB25DD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91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43D7-4FCD-4CD3-B14D-6D8392F98640}" type="datetime1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62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D94C-A21F-4343-8A1A-E38D4464D073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61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D4B-6B1B-4EE0-9E3C-659944F36DF8}" type="datetime1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20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3A61B-AE90-44AE-BB23-AA280E3FFC5B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67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CD32C-5DB2-49E4-886C-C92B86CE9D6F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88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549C-01B6-4511-84BC-83D0944E1197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032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8D83-B790-482A-B638-88F9297835DB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095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D01FB1-E74A-DA31-DC33-436BD25C9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27F51E5-19A4-DBD5-8277-2E4F58FBE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1D544D-AFF9-E696-54EE-4702D9F2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9B1A6-C86B-4331-A2F3-7BC13C7E7436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0FE78F0-1EDB-5940-68DA-75AB34B8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F683FC-C3EB-7D50-819C-4BDC4248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548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DDAC2E-1D84-D1DA-762C-6D2EC576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7B0998-18F1-B31A-2759-54266DEC6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3481F8-0009-E1A4-8BDD-8325D894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CAAF-55BC-4DF7-A39E-B531B5C80028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55AD129-998D-8604-614D-E0070B40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7D411C9-E687-5531-B951-7F98E1C8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51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87902D-F2FF-2BA6-FB3D-80943824D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A67E227-A98E-2507-BE6D-40490E8BD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3F5C66-8136-6BB5-539D-649D54EF1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5679-7E16-4960-A027-6001C4219653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CC8C26-080B-59DB-93EC-C669B8BA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2B3595-705B-D212-3248-2675FB83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15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B71916-E93A-8AA3-D028-F86DA93A1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408BCE-1884-75D8-0EAC-A0B04BD37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CD44276-6916-9066-8DEC-EF7A98D0E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0AEBFB-6B15-3AC0-11F3-8D879787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0E31-AA0B-484D-94D2-D456213B17D6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1A4AF20-DA88-3FF8-B25F-705BB5D49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7F76962-77B5-BC58-315F-87C5796D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829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D65B35-BC96-3148-5B04-E323CDB2B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78AE056-F9A9-5FBF-7E4B-DCC5359B3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2BFB8C3-10BA-80DC-F46B-22BBA8E38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B06D2C8-83AE-6E1E-B1B4-8D4C9BECA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24E7F2B-6103-398A-7297-347A6995F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659EF09-2381-4923-6C45-6838E29D3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6BAFF-BD2A-4E8C-9A23-F8FD93FC685B}" type="datetime1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FEDCFAB-0446-086C-6085-87EC7838F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E3615F9-BB55-EF29-B841-DD5F3C75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986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0E83C6-9A70-837E-E91D-1407D513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90ABABF-7550-54E1-1DD7-5626E0F5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0FF3-E848-49EA-B550-D0B97ACAA21B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05E023C-30A9-4AB6-0F95-F32B1A321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FFFA70D-FA00-131F-C628-3629B39D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469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46CA715-FD86-DCE6-65A9-AA256771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1A4E7-E9D9-47DA-8789-7B5C0F130846}" type="datetime1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14BA048-BC95-9DCB-BE7C-4E6323A9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7437CFD-7B5D-3E00-9CC3-5169B2D1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28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5091D9-1E63-19BE-9047-0C79E075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A5F67F-2CAC-5734-6BD8-47AD86837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0094278-EBEA-0EE0-F175-8C0E81881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35E95E5-EC67-D153-6C32-EB7C6357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8ED83-832C-4DAD-A342-5E4F365AFB1B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2EF8ECF-C1DC-0B0A-055B-C87BEC929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C936F5A-8DCC-07F5-3D2F-DC33EC19E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067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F70EAB-0073-9E8B-BE91-801A797D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BF4C5E9-53F7-1F9C-35CB-6A681B3AC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BE773C8-EEAF-A712-67AF-7BA9B7537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23C6F01-41E2-AD18-6A2E-B7CB5BC4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E0D9D-586A-46B3-AFAD-70AB7FB4C1A6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EFFE504-B765-2DBA-B8B0-50ECC604E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0576BA5-61FF-DB1A-9116-C324F346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743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3CD779-D094-3434-030A-B449A56E4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5FF4C2E-4859-68AF-4791-C37526DC2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6765BB0-042F-0D53-8280-6D922742D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3DCB-E51C-49A6-8A5A-75CF205F73D8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D6CC290-A9B3-CD57-CA40-B26061CC1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6D5C4C-FDC9-3BE1-8794-35A74329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022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60532AC-8FFF-A0BF-C6B3-713E5EFA8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BAA4BAB-F7F5-4D50-0200-8112F1B4D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5691AAE-D6C5-326B-CFDB-4AA46A8FF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E13-3E2A-43D4-B966-31C230547D88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663A63D-E925-B8DC-578C-7C11D6D98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B0F38F-2559-069D-04C7-55E0F7F6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1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11116"/>
            <a:ext cx="12192000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8"/>
            <a:ext cx="1051560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223963"/>
            <a:ext cx="10515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38C8754-41C4-4392-8978-F2E25356DAFA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</a:defRPr>
      </a:lvl9pPr>
    </p:titleStyle>
    <p:bodyStyle>
      <a:lvl1pPr marL="171450" indent="-171450" algn="l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956EC-2F45-4D4C-AB27-A46D5CF68FA9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6B14-326D-4E41-8FC5-373F2C5E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5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A6D7769-D740-2AB5-5841-BB990D7D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09D8BDD-F533-B4CA-0CFD-9F69614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3D4743-35C6-66B3-7F5F-08237C225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C82A8-EBB5-42DC-92FB-C41D42CDDD84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1116FFE-E5E9-043C-9937-8CB531B76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3704353-B990-7D77-212C-19C70D937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0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hyperlink" Target="http://www.mpsedc.mp.gov.in/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900" y="885507"/>
            <a:ext cx="9144000" cy="790893"/>
          </a:xfrm>
        </p:spPr>
        <p:txBody>
          <a:bodyPr>
            <a:normAutofit/>
          </a:bodyPr>
          <a:lstStyle/>
          <a:p>
            <a:r>
              <a:rPr lang="en-US" sz="4400" b="1" dirty="0" err="1">
                <a:solidFill>
                  <a:schemeClr val="tx1"/>
                </a:solidFill>
              </a:rPr>
              <a:t>CMMi</a:t>
            </a:r>
            <a:r>
              <a:rPr lang="en-US" sz="4400" b="1" dirty="0">
                <a:solidFill>
                  <a:schemeClr val="tx1"/>
                </a:solidFill>
              </a:rPr>
              <a:t> ML 5 Presentation</a:t>
            </a:r>
            <a:endParaRPr lang="en-US" sz="9600" b="1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19400" y="1822850"/>
            <a:ext cx="6096000" cy="182357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en-US" sz="1400" b="1" dirty="0">
                <a:latin typeface="Aptos"/>
                <a:ea typeface="Aptos"/>
                <a:cs typeface="Mangal" panose="02040503050203030202" pitchFamily="18" charset="0"/>
              </a:rPr>
              <a:t>JAL REKHA – Madhya Pradesh </a:t>
            </a:r>
            <a:r>
              <a:rPr lang="en-US" sz="1400" b="1" dirty="0" err="1">
                <a:latin typeface="Aptos"/>
                <a:ea typeface="Aptos"/>
                <a:cs typeface="Mangal" panose="02040503050203030202" pitchFamily="18" charset="0"/>
              </a:rPr>
              <a:t>Jal</a:t>
            </a:r>
            <a:r>
              <a:rPr lang="en-US" sz="1400" b="1" dirty="0">
                <a:latin typeface="Aptos"/>
                <a:ea typeface="Aptos"/>
                <a:cs typeface="Mangal" panose="02040503050203030202" pitchFamily="18" charset="0"/>
              </a:rPr>
              <a:t> </a:t>
            </a:r>
            <a:r>
              <a:rPr lang="en-US" sz="1400" b="1" dirty="0" smtClean="0">
                <a:latin typeface="Aptos"/>
                <a:ea typeface="Aptos"/>
                <a:cs typeface="Mangal" panose="02040503050203030202" pitchFamily="18" charset="0"/>
              </a:rPr>
              <a:t>Nigam</a:t>
            </a:r>
            <a:endParaRPr lang="en-US" sz="1400" dirty="0" smtClean="0">
              <a:latin typeface="Aptos"/>
              <a:ea typeface="Aptos"/>
              <a:cs typeface="Mangal" panose="02040503050203030202" pitchFamily="18" charset="0"/>
            </a:endParaRP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en-US" sz="1400" b="1" dirty="0" smtClean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Mangal" panose="02040503050203030202" pitchFamily="18" charset="0"/>
              </a:rPr>
              <a:t>Client</a:t>
            </a: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en-US" sz="1400" dirty="0" smtClean="0">
                <a:latin typeface="Aptos"/>
                <a:ea typeface="Aptos"/>
                <a:cs typeface="Mangal" panose="02040503050203030202" pitchFamily="18" charset="0"/>
              </a:rPr>
              <a:t>Madhya </a:t>
            </a:r>
            <a:r>
              <a:rPr lang="en-US" sz="1400" dirty="0">
                <a:latin typeface="Aptos"/>
                <a:ea typeface="Aptos"/>
                <a:cs typeface="Mangal" panose="02040503050203030202" pitchFamily="18" charset="0"/>
              </a:rPr>
              <a:t>Pradesh </a:t>
            </a:r>
            <a:r>
              <a:rPr lang="en-US" sz="1400" dirty="0" err="1">
                <a:latin typeface="Aptos"/>
                <a:ea typeface="Aptos"/>
                <a:cs typeface="Mangal" panose="02040503050203030202" pitchFamily="18" charset="0"/>
              </a:rPr>
              <a:t>Jal</a:t>
            </a:r>
            <a:r>
              <a:rPr lang="en-US" sz="1400" dirty="0">
                <a:latin typeface="Aptos"/>
                <a:ea typeface="Aptos"/>
                <a:cs typeface="Mangal" panose="02040503050203030202" pitchFamily="18" charset="0"/>
              </a:rPr>
              <a:t> Nigam </a:t>
            </a:r>
            <a:r>
              <a:rPr lang="en-US" sz="1400" dirty="0" err="1">
                <a:latin typeface="Aptos"/>
                <a:ea typeface="Aptos"/>
                <a:cs typeface="Mangal" panose="02040503050203030202" pitchFamily="18" charset="0"/>
              </a:rPr>
              <a:t>Maryadit</a:t>
            </a:r>
            <a:r>
              <a:rPr lang="en-US" sz="1400" dirty="0">
                <a:latin typeface="Aptos"/>
                <a:ea typeface="Aptos"/>
                <a:cs typeface="Mangal" panose="02040503050203030202" pitchFamily="18" charset="0"/>
              </a:rPr>
              <a:t> (MPJNM)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en-US" sz="1400" b="1" dirty="0" smtClean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Mangal" panose="02040503050203030202" pitchFamily="18" charset="0"/>
              </a:rPr>
              <a:t> Implementing </a:t>
            </a:r>
            <a:r>
              <a:rPr lang="en-US" sz="1400" b="1" dirty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Mangal" panose="02040503050203030202" pitchFamily="18" charset="0"/>
              </a:rPr>
              <a:t>/ Technical Agency</a:t>
            </a:r>
          </a:p>
          <a:p>
            <a:r>
              <a:rPr lang="en-US" sz="1400" dirty="0" smtClean="0">
                <a:latin typeface="Aptos"/>
                <a:ea typeface="Aptos"/>
                <a:cs typeface="Mangal" panose="02040503050203030202" pitchFamily="18" charset="0"/>
              </a:rPr>
              <a:t>	          	[</a:t>
            </a:r>
            <a:r>
              <a:rPr lang="en-US" sz="1400" dirty="0">
                <a:latin typeface="Aptos"/>
                <a:ea typeface="Aptos"/>
                <a:cs typeface="Mangal" panose="02040503050203030202" pitchFamily="18" charset="0"/>
              </a:rPr>
              <a:t>MPSEDC / System Integrator]</a:t>
            </a:r>
            <a:endParaRPr lang="en-US" sz="1400" dirty="0"/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3"/>
            <a:ext cx="11582400" cy="861695"/>
          </a:xfrm>
          <a:prstGeom prst="rect">
            <a:avLst/>
          </a:prstGeom>
          <a:noFill/>
        </p:spPr>
      </p:pic>
      <p:pic>
        <p:nvPicPr>
          <p:cNvPr id="11" name="Picture 10" descr="MPSeDC – WordCamp Bhopal 202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052377"/>
            <a:ext cx="1524000" cy="89850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3009900" y="5051890"/>
            <a:ext cx="6096000" cy="10761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M.P. STATE ELECTRONICS DEVELOPMENT CORPORATION LTD.</a:t>
            </a:r>
            <a:endParaRPr lang="en-US" sz="1400" dirty="0">
              <a:latin typeface="Aptos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400" dirty="0">
                <a:solidFill>
                  <a:srgbClr val="333333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State IT Centre, 47-A, </a:t>
            </a:r>
            <a:r>
              <a:rPr lang="en-US" sz="1400" dirty="0" err="1">
                <a:solidFill>
                  <a:srgbClr val="333333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Arera</a:t>
            </a:r>
            <a:r>
              <a:rPr lang="en-US" sz="1400" dirty="0">
                <a:solidFill>
                  <a:srgbClr val="333333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Hills, Bhopal-462011 (M.P.)</a:t>
            </a:r>
            <a:endParaRPr lang="en-US" sz="1400" dirty="0">
              <a:latin typeface="Aptos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lang="en-US" sz="1400" u="sng" dirty="0">
                <a:solidFill>
                  <a:srgbClr val="467886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  <a:hlinkClick r:id="rId5"/>
              </a:rPr>
              <a:t>www.mpsedc.mp.gov.in</a:t>
            </a:r>
            <a:endParaRPr lang="en-US" sz="1400" dirty="0">
              <a:effectLst/>
              <a:latin typeface="Aptos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Cycle 1 (Productivity)</a:t>
            </a:r>
            <a:endParaRPr lang="en-US" sz="88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75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9144000" cy="5334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 (Body)"/>
              </a:rPr>
              <a:t>Y Factors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94426"/>
            <a:ext cx="10287000" cy="2590800"/>
          </a:xfrm>
        </p:spPr>
        <p:txBody>
          <a:bodyPr>
            <a:noAutofit/>
          </a:bodyPr>
          <a:lstStyle/>
          <a:p>
            <a:r>
              <a:rPr lang="en-US" sz="1100" dirty="0" smtClean="0"/>
              <a:t>Productivity – </a:t>
            </a:r>
            <a:br>
              <a:rPr lang="en-US" sz="1100" dirty="0" smtClean="0"/>
            </a:br>
            <a:r>
              <a:rPr lang="en-US" sz="1100" b="1" dirty="0" smtClean="0"/>
              <a:t>Productivity</a:t>
            </a:r>
            <a:r>
              <a:rPr lang="en-US" sz="1100" dirty="0" smtClean="0"/>
              <a:t> represents the </a:t>
            </a:r>
            <a:r>
              <a:rPr lang="en-US" sz="1100" b="1" dirty="0" smtClean="0"/>
              <a:t>output delivered per unit of effort</a:t>
            </a:r>
            <a:r>
              <a:rPr lang="en-US" sz="1100" dirty="0" smtClean="0"/>
              <a:t> during Cycle-1 of the </a:t>
            </a:r>
            <a:r>
              <a:rPr lang="en-US" sz="1100" dirty="0" err="1" smtClean="0"/>
              <a:t>Jal</a:t>
            </a:r>
            <a:r>
              <a:rPr lang="en-US" sz="1100" dirty="0" smtClean="0"/>
              <a:t> </a:t>
            </a:r>
            <a:r>
              <a:rPr lang="en-US" sz="1100" dirty="0" err="1" smtClean="0"/>
              <a:t>Rekha</a:t>
            </a:r>
            <a:r>
              <a:rPr lang="en-US" sz="1100" dirty="0" smtClean="0"/>
              <a:t> project.</a:t>
            </a:r>
          </a:p>
          <a:p>
            <a:r>
              <a:rPr lang="en-US" sz="1100" dirty="0" smtClean="0"/>
              <a:t>In Cycle-1, productivity is measured as:</a:t>
            </a:r>
            <a:br>
              <a:rPr lang="en-US" sz="1100" dirty="0" smtClean="0"/>
            </a:br>
            <a:r>
              <a:rPr lang="en-US" sz="1100" b="1" dirty="0" smtClean="0"/>
              <a:t>Functional Points (FP) delivered per man-hour</a:t>
            </a:r>
            <a:endParaRPr lang="en-US" sz="1100" dirty="0" smtClean="0"/>
          </a:p>
          <a:p>
            <a:r>
              <a:rPr lang="en-US" sz="1100" dirty="0" smtClean="0"/>
              <a:t>It reflects how efficiently the team converted </a:t>
            </a:r>
            <a:r>
              <a:rPr lang="en-US" sz="1100" b="1" dirty="0" smtClean="0"/>
              <a:t>requirements, GIS data, mobile workflows, and approvals</a:t>
            </a:r>
            <a:r>
              <a:rPr lang="en-US" sz="1100" dirty="0" smtClean="0"/>
              <a:t> into working features.</a:t>
            </a:r>
          </a:p>
          <a:p>
            <a:r>
              <a:rPr lang="en-US" sz="1100" dirty="0" smtClean="0"/>
              <a:t>Cycle-1 productivity was </a:t>
            </a:r>
            <a:r>
              <a:rPr lang="en-US" sz="1100" b="1" dirty="0" smtClean="0"/>
              <a:t>moderate</a:t>
            </a:r>
            <a:r>
              <a:rPr lang="en-US" sz="1100" dirty="0" smtClean="0"/>
              <a:t> because:</a:t>
            </a:r>
          </a:p>
          <a:p>
            <a:pPr lvl="1"/>
            <a:r>
              <a:rPr lang="en-US" sz="1100" dirty="0" smtClean="0"/>
              <a:t>Core GIS architecture and base modules were being established</a:t>
            </a:r>
          </a:p>
          <a:p>
            <a:pPr lvl="1"/>
            <a:r>
              <a:rPr lang="en-US" sz="1100" dirty="0" smtClean="0"/>
              <a:t>Mobile and web platforms were developed in parallel</a:t>
            </a:r>
          </a:p>
          <a:p>
            <a:pPr lvl="1"/>
            <a:r>
              <a:rPr lang="en-US" sz="1100" dirty="0" smtClean="0"/>
              <a:t>Multiple field validations, GPS checks, and offline sync mechanisms were introduced for the first time</a:t>
            </a:r>
          </a:p>
          <a:p>
            <a:r>
              <a:rPr lang="en-US" sz="1100" dirty="0" smtClean="0"/>
              <a:t>📌 </a:t>
            </a:r>
            <a:r>
              <a:rPr lang="en-US" sz="1100" b="1" dirty="0" smtClean="0"/>
              <a:t>Interpretation</a:t>
            </a: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dirty="0" smtClean="0"/>
              <a:t>Cycle-1 focused on </a:t>
            </a:r>
            <a:r>
              <a:rPr lang="en-US" sz="1100" b="1" dirty="0" smtClean="0"/>
              <a:t>foundation building</a:t>
            </a:r>
            <a:r>
              <a:rPr lang="en-US" sz="1100" dirty="0" smtClean="0"/>
              <a:t>, so productivity stabilized toward the end of the cycle rather than peaking early.</a:t>
            </a:r>
          </a:p>
          <a:p>
            <a:endParaRPr lang="en-US" sz="11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62000" y="3385226"/>
            <a:ext cx="10134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 (Body)"/>
                <a:ea typeface="+mj-ea"/>
                <a:cs typeface="+mj-cs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5pPr>
            <a:lvl6pPr marL="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6pPr>
            <a:lvl7pPr marL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7pPr>
            <a:lvl8pPr marL="10287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8pPr>
            <a:lvl9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9pPr>
          </a:lstStyle>
          <a:p>
            <a:r>
              <a:rPr lang="en-US" dirty="0"/>
              <a:t>X factors (write the x Factors below from your projects)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0" y="3874852"/>
            <a:ext cx="11125200" cy="2983148"/>
          </a:xfrm>
          <a:prstGeom prst="rect">
            <a:avLst/>
          </a:prstGeom>
        </p:spPr>
        <p:txBody>
          <a:bodyPr vert="horz">
            <a:normAutofit fontScale="32500" lnSpcReduction="20000"/>
          </a:bodyPr>
          <a:lstStyle/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IN" sz="2500" dirty="0"/>
              <a:t>Code </a:t>
            </a:r>
            <a:r>
              <a:rPr lang="en-IN" sz="2500" dirty="0" smtClean="0"/>
              <a:t>Rate</a:t>
            </a:r>
          </a:p>
          <a:p>
            <a:r>
              <a:rPr lang="en-US" sz="2500" b="1" dirty="0"/>
              <a:t>Code Rate</a:t>
            </a:r>
            <a:r>
              <a:rPr lang="en-US" sz="2500" dirty="0"/>
              <a:t> represents the </a:t>
            </a:r>
            <a:r>
              <a:rPr lang="en-US" sz="2500" b="1" dirty="0"/>
              <a:t>speed of development</a:t>
            </a:r>
            <a:r>
              <a:rPr lang="en-US" sz="2500" dirty="0"/>
              <a:t>, i.e., how much functional code was produced over time.</a:t>
            </a:r>
          </a:p>
          <a:p>
            <a:r>
              <a:rPr lang="en-US" sz="2500" dirty="0"/>
              <a:t>In Cycle-1:</a:t>
            </a:r>
          </a:p>
          <a:p>
            <a:r>
              <a:rPr lang="en-US" sz="2500" dirty="0"/>
              <a:t>Code rate was </a:t>
            </a:r>
            <a:r>
              <a:rPr lang="en-US" sz="2500" b="1" dirty="0"/>
              <a:t>initially lower</a:t>
            </a:r>
            <a:r>
              <a:rPr lang="en-US" sz="2500" dirty="0"/>
              <a:t> due to:</a:t>
            </a:r>
          </a:p>
          <a:p>
            <a:pPr lvl="1"/>
            <a:r>
              <a:rPr lang="en-US" sz="2500" dirty="0"/>
              <a:t>Requirement clarifications</a:t>
            </a:r>
          </a:p>
          <a:p>
            <a:pPr lvl="1"/>
            <a:r>
              <a:rPr lang="en-US" sz="2500" dirty="0"/>
              <a:t>GIS data modeling and schema finalization</a:t>
            </a:r>
          </a:p>
          <a:p>
            <a:pPr lvl="1"/>
            <a:r>
              <a:rPr lang="en-US" sz="2500" dirty="0"/>
              <a:t>Integration of mobile, web, and GIS components</a:t>
            </a:r>
          </a:p>
          <a:p>
            <a:r>
              <a:rPr lang="en-US" sz="2500" dirty="0"/>
              <a:t>Gradually improved as:</a:t>
            </a:r>
          </a:p>
          <a:p>
            <a:pPr lvl="1"/>
            <a:r>
              <a:rPr lang="en-US" sz="2500" dirty="0"/>
              <a:t>Reusable components were introduced</a:t>
            </a:r>
          </a:p>
          <a:p>
            <a:pPr lvl="1"/>
            <a:r>
              <a:rPr lang="en-US" sz="2500" dirty="0"/>
              <a:t>Master data and common services stabilized</a:t>
            </a:r>
          </a:p>
          <a:p>
            <a:pPr lvl="1"/>
            <a:r>
              <a:rPr lang="en-US" sz="2500" dirty="0"/>
              <a:t>Development standards and coding practices matured</a:t>
            </a:r>
          </a:p>
          <a:p>
            <a:r>
              <a:rPr lang="en-US" sz="2500" dirty="0"/>
              <a:t>📌 </a:t>
            </a:r>
            <a:r>
              <a:rPr lang="en-US" sz="2500" b="1" dirty="0"/>
              <a:t>Impact on Productivity</a:t>
            </a:r>
            <a:r>
              <a:rPr lang="en-US" sz="2500" dirty="0"/>
              <a:t/>
            </a:r>
            <a:br>
              <a:rPr lang="en-US" sz="2500" dirty="0"/>
            </a:br>
            <a:r>
              <a:rPr lang="en-US" sz="2500" dirty="0"/>
              <a:t>A lower initial code rate directly reduced early productivity, but it ensured </a:t>
            </a:r>
            <a:r>
              <a:rPr lang="en-US" sz="2500" b="1" dirty="0"/>
              <a:t>better long-term stability</a:t>
            </a:r>
            <a:r>
              <a:rPr lang="en-US" sz="2500" dirty="0"/>
              <a:t> for subsequent cycles.</a:t>
            </a:r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endParaRPr lang="en-US" sz="1600" dirty="0"/>
          </a:p>
          <a:p>
            <a:r>
              <a:rPr lang="en-IN" sz="2800" dirty="0"/>
              <a:t>Testing </a:t>
            </a:r>
            <a:r>
              <a:rPr lang="en-IN" sz="2800" dirty="0" smtClean="0"/>
              <a:t>Rate</a:t>
            </a:r>
            <a:br>
              <a:rPr lang="en-IN" sz="2800" dirty="0" smtClean="0"/>
            </a:br>
            <a:r>
              <a:rPr lang="en-US" sz="2800" b="1" dirty="0"/>
              <a:t>Testing Rate</a:t>
            </a:r>
            <a:r>
              <a:rPr lang="en-US" sz="2800" dirty="0"/>
              <a:t> represents the </a:t>
            </a:r>
            <a:r>
              <a:rPr lang="en-US" sz="2800" b="1" dirty="0"/>
              <a:t>speed and effectiveness of verification and validation</a:t>
            </a:r>
            <a:r>
              <a:rPr lang="en-US" sz="2800" dirty="0"/>
              <a:t> activities.</a:t>
            </a:r>
          </a:p>
          <a:p>
            <a:r>
              <a:rPr lang="en-US" sz="2800" dirty="0"/>
              <a:t>In Cycle-1:</a:t>
            </a:r>
          </a:p>
          <a:p>
            <a:r>
              <a:rPr lang="en-US" sz="2800" dirty="0"/>
              <a:t>Testing effort was </a:t>
            </a:r>
            <a:r>
              <a:rPr lang="en-US" sz="2800" b="1" dirty="0"/>
              <a:t>high</a:t>
            </a:r>
            <a:r>
              <a:rPr lang="en-US" sz="2800" dirty="0"/>
              <a:t> due to:</a:t>
            </a:r>
          </a:p>
          <a:p>
            <a:pPr lvl="1"/>
            <a:r>
              <a:rPr lang="en-US" sz="2800" dirty="0"/>
              <a:t>GIS accuracy validation</a:t>
            </a:r>
          </a:p>
          <a:p>
            <a:pPr lvl="1"/>
            <a:r>
              <a:rPr lang="en-US" sz="2800" dirty="0"/>
              <a:t>GPS and geo-tagging verification</a:t>
            </a:r>
          </a:p>
          <a:p>
            <a:pPr lvl="1"/>
            <a:r>
              <a:rPr lang="en-US" sz="2800" dirty="0"/>
              <a:t>Offline/online sync testing for mobile</a:t>
            </a:r>
          </a:p>
          <a:p>
            <a:pPr lvl="1"/>
            <a:r>
              <a:rPr lang="en-US" sz="2800" dirty="0"/>
              <a:t>UAT change requests and regression cycles</a:t>
            </a:r>
          </a:p>
          <a:p>
            <a:r>
              <a:rPr lang="en-US" sz="2800" dirty="0"/>
              <a:t>Testing rate appeared slower because:</a:t>
            </a:r>
          </a:p>
          <a:p>
            <a:pPr lvl="1"/>
            <a:r>
              <a:rPr lang="en-US" sz="2800" dirty="0"/>
              <a:t>Multiple field scenarios had to be validated</a:t>
            </a:r>
          </a:p>
          <a:p>
            <a:pPr lvl="1"/>
            <a:r>
              <a:rPr lang="en-US" sz="2800" dirty="0"/>
              <a:t>Real-world network and device constraints were involved</a:t>
            </a:r>
          </a:p>
          <a:p>
            <a:r>
              <a:rPr lang="en-US" sz="2800" dirty="0"/>
              <a:t>📌 </a:t>
            </a:r>
            <a:r>
              <a:rPr lang="en-US" sz="2800" b="1" dirty="0"/>
              <a:t>Impact on Productivity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Although testing slowed delivery speed, it </a:t>
            </a:r>
            <a:r>
              <a:rPr lang="en-US" sz="2800" b="1" dirty="0"/>
              <a:t>improved data quality, reliability, and acceptance</a:t>
            </a:r>
            <a:r>
              <a:rPr lang="en-US" sz="2800" dirty="0"/>
              <a:t>, reducing rework in later cycles.</a:t>
            </a:r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1"/>
            <a:ext cx="11049000" cy="790799"/>
          </a:xfrm>
        </p:spPr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F0AAB77-E2AE-9B2F-1357-78F797CDC5F9}"/>
              </a:ext>
            </a:extLst>
          </p:cNvPr>
          <p:cNvSpPr txBox="1"/>
          <p:nvPr/>
        </p:nvSpPr>
        <p:spPr>
          <a:xfrm>
            <a:off x="654113" y="1262500"/>
            <a:ext cx="11048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Cycle-1 productivity was driven by foundational development, where controlled code rate and intensive testing ensured a stable, scalable </a:t>
            </a:r>
            <a:r>
              <a:rPr lang="en-US" sz="1400" dirty="0" err="1"/>
              <a:t>Jal</a:t>
            </a:r>
            <a:r>
              <a:rPr lang="en-US" sz="1400" dirty="0"/>
              <a:t> </a:t>
            </a:r>
            <a:r>
              <a:rPr lang="en-US" sz="1400" dirty="0" err="1"/>
              <a:t>Rekha</a:t>
            </a:r>
            <a:r>
              <a:rPr lang="en-US" sz="1400" dirty="0"/>
              <a:t> platform for future </a:t>
            </a:r>
            <a:r>
              <a:rPr lang="en-US" sz="1400" dirty="0" smtClean="0"/>
              <a:t>cycles.</a:t>
            </a:r>
            <a:endParaRPr lang="en-IN" sz="2400" dirty="0">
              <a:latin typeface="Aptos Display" panose="020B00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38400" y="152401"/>
            <a:ext cx="8458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Cycle-1 Productivity Summary (Jan–Jun 2025)</a:t>
            </a:r>
          </a:p>
          <a:p>
            <a:r>
              <a:rPr lang="en-US" b="1" dirty="0"/>
              <a:t>Data Source</a:t>
            </a:r>
          </a:p>
          <a:p>
            <a:r>
              <a:rPr lang="en-US" dirty="0" err="1"/>
              <a:t>Jal</a:t>
            </a:r>
            <a:r>
              <a:rPr lang="en-US" dirty="0"/>
              <a:t> </a:t>
            </a:r>
            <a:r>
              <a:rPr lang="en-US" dirty="0" err="1"/>
              <a:t>Rekha</a:t>
            </a:r>
            <a:r>
              <a:rPr lang="en-US" dirty="0"/>
              <a:t> – Cycle-1 Data Collection Sheet (Jan to Jun)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080727"/>
              </p:ext>
            </p:extLst>
          </p:nvPr>
        </p:nvGraphicFramePr>
        <p:xfrm>
          <a:off x="685800" y="2413293"/>
          <a:ext cx="5562600" cy="12192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781300"/>
                <a:gridCol w="27813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u="sng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u="sng" dirty="0"/>
                        <a:t>Value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Total </a:t>
                      </a:r>
                      <a:r>
                        <a:rPr lang="en-US" sz="1400" dirty="0" smtClean="0"/>
                        <a:t>Size </a:t>
                      </a:r>
                      <a:r>
                        <a:rPr lang="en-US" sz="1400" dirty="0"/>
                        <a:t>Delivered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384 </a:t>
                      </a:r>
                      <a:r>
                        <a:rPr lang="en-US" sz="1400" dirty="0" smtClean="0"/>
                        <a:t>size</a:t>
                      </a:r>
                      <a:endParaRPr 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Total Effort Consumed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3,113 Man-Hours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Overall Productivity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0.12 </a:t>
                      </a:r>
                      <a:r>
                        <a:rPr lang="en-US" sz="1400" dirty="0" err="1" smtClean="0"/>
                        <a:t>sp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/ </a:t>
                      </a:r>
                      <a:r>
                        <a:rPr lang="en-US" sz="1400" dirty="0" smtClean="0"/>
                        <a:t>Hour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54113" y="1945274"/>
            <a:ext cx="2851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Overall Productivity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683049"/>
            <a:ext cx="77724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Cycle-1 Key Productivity Drivers</a:t>
            </a:r>
          </a:p>
          <a:p>
            <a:r>
              <a:rPr lang="en-US" sz="1400" b="1" dirty="0"/>
              <a:t>Positive Contributors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Parallel Web &amp; Mobile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Early rollout of GIS asset mapping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Reusable master data and common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Standardized survey &amp; inspection formats</a:t>
            </a:r>
          </a:p>
          <a:p>
            <a:r>
              <a:rPr lang="en-US" sz="1400" b="1" dirty="0"/>
              <a:t>Productivity Constraints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High dependency on field data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Multiple UAT change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GIS performance tuning iterations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Offline sync and GPS validation handling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169581"/>
            <a:ext cx="80982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Please Central Repository link for (Data Collection, Action Plan): &lt;&lt;link&gt;&gt;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627677"/>
              </p:ext>
            </p:extLst>
          </p:nvPr>
        </p:nvGraphicFramePr>
        <p:xfrm>
          <a:off x="7772400" y="1952906"/>
          <a:ext cx="2388235" cy="4351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5300"/>
                <a:gridCol w="812750"/>
                <a:gridCol w="600185"/>
              </a:tblGrid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Code_Rate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Test_Rate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0.563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0.528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0.750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0.700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0.542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1.042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1.000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0.882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1.000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1.000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0.815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0.639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1.500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0.733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0.316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0.857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0.286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2.000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0.385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0.625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1.154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0.853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0.700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  <a:tr h="181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0.196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0.545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549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473075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Chart – Productivity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E66CF62-C84B-4BE8-926B-7A9A77061220}"/>
              </a:ext>
            </a:extLst>
          </p:cNvPr>
          <p:cNvSpPr txBox="1"/>
          <p:nvPr/>
        </p:nvSpPr>
        <p:spPr>
          <a:xfrm>
            <a:off x="609600" y="862519"/>
            <a:ext cx="1112519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 </a:t>
            </a:r>
            <a:r>
              <a:rPr lang="en-US" sz="1000" b="1" dirty="0"/>
              <a:t>Cycle 1 of the </a:t>
            </a:r>
            <a:r>
              <a:rPr lang="en-US" sz="1000" b="1" dirty="0" err="1"/>
              <a:t>Jal</a:t>
            </a:r>
            <a:r>
              <a:rPr lang="en-US" sz="1000" b="1" dirty="0"/>
              <a:t> </a:t>
            </a:r>
            <a:r>
              <a:rPr lang="en-US" sz="1000" b="1" dirty="0" err="1"/>
              <a:t>Rekha</a:t>
            </a:r>
            <a:r>
              <a:rPr lang="en-US" sz="1000" b="1" dirty="0"/>
              <a:t> project</a:t>
            </a:r>
            <a:r>
              <a:rPr lang="en-US" sz="1000" dirty="0"/>
              <a:t>, </a:t>
            </a:r>
            <a:r>
              <a:rPr lang="en-US" sz="1000" b="1" dirty="0"/>
              <a:t>Productivity (Y-Factor)</a:t>
            </a:r>
            <a:r>
              <a:rPr lang="en-US" sz="1000" dirty="0"/>
              <a:t> represents the </a:t>
            </a:r>
            <a:r>
              <a:rPr lang="en-US" sz="1000" b="1" dirty="0"/>
              <a:t>rate at which usable, verified functionality was delivered per unit effort</a:t>
            </a:r>
            <a:r>
              <a:rPr lang="en-US" sz="1000" dirty="0"/>
              <a:t> based on actual execution data captured in the </a:t>
            </a:r>
            <a:r>
              <a:rPr lang="en-US" sz="1000" b="1" dirty="0"/>
              <a:t>Cycle-1 Data Collection Sheet (Jan–Jun)</a:t>
            </a:r>
            <a:r>
              <a:rPr lang="en-US" sz="1000" dirty="0"/>
              <a:t>.</a:t>
            </a:r>
          </a:p>
          <a:p>
            <a:r>
              <a:rPr lang="en-US" sz="1000" dirty="0"/>
              <a:t>Productivity is derived using:</a:t>
            </a:r>
          </a:p>
          <a:p>
            <a:r>
              <a:rPr lang="en-US" sz="1000" b="1" dirty="0"/>
              <a:t>Actual effort consumed (man-hours)</a:t>
            </a:r>
            <a:endParaRPr lang="en-US" sz="1000" dirty="0"/>
          </a:p>
          <a:p>
            <a:r>
              <a:rPr lang="en-US" sz="1000" b="1" dirty="0"/>
              <a:t>Completed and accepted work items</a:t>
            </a:r>
            <a:endParaRPr lang="en-US" sz="1000" dirty="0"/>
          </a:p>
          <a:p>
            <a:r>
              <a:rPr lang="en-US" sz="1000" b="1" dirty="0"/>
              <a:t>Stable functional delivery (GIS, mobile, web features)</a:t>
            </a:r>
            <a:endParaRPr lang="en-US" sz="1000" dirty="0"/>
          </a:p>
          <a:p>
            <a:r>
              <a:rPr lang="en-US" sz="1000" dirty="0"/>
              <a:t>This Y-factor is used as a </a:t>
            </a:r>
            <a:r>
              <a:rPr lang="en-US" sz="1000" b="1" dirty="0"/>
              <a:t>key output metric</a:t>
            </a:r>
            <a:r>
              <a:rPr lang="en-US" sz="1000" dirty="0"/>
              <a:t> to evaluate:</a:t>
            </a:r>
          </a:p>
          <a:p>
            <a:r>
              <a:rPr lang="en-US" sz="1000" dirty="0"/>
              <a:t>Delivery efficiency</a:t>
            </a:r>
          </a:p>
          <a:p>
            <a:r>
              <a:rPr lang="en-US" sz="1000" dirty="0"/>
              <a:t>Process stability</a:t>
            </a:r>
          </a:p>
          <a:p>
            <a:r>
              <a:rPr lang="en-US" sz="1000" dirty="0"/>
              <a:t>Capability maturity of the project team</a:t>
            </a:r>
            <a:br>
              <a:rPr lang="en-US" sz="1000" dirty="0"/>
            </a:b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Productivity values were calculated using </a:t>
            </a:r>
            <a:r>
              <a:rPr lang="en-US" sz="1000" b="1" dirty="0"/>
              <a:t>real project execution data</a:t>
            </a:r>
            <a:r>
              <a:rPr lang="en-US" sz="1000" dirty="0"/>
              <a:t>, including:</a:t>
            </a:r>
          </a:p>
          <a:p>
            <a:r>
              <a:rPr lang="en-US" sz="1000" dirty="0"/>
              <a:t>Number of completed features/modules</a:t>
            </a:r>
          </a:p>
          <a:p>
            <a:r>
              <a:rPr lang="en-US" sz="1000" dirty="0"/>
              <a:t>Effort recorded in timesheets</a:t>
            </a:r>
          </a:p>
          <a:p>
            <a:r>
              <a:rPr lang="en-US" sz="1000" dirty="0"/>
              <a:t>Accepted deliverables post-review</a:t>
            </a:r>
          </a:p>
          <a:p>
            <a:r>
              <a:rPr lang="en-US" sz="1000" dirty="0"/>
              <a:t>Exclusion of rework and rejected items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b="1" dirty="0"/>
              <a:t>Interpretation of the Cycle-1 Productivity Control Chart</a:t>
            </a:r>
          </a:p>
          <a:p>
            <a:r>
              <a:rPr lang="en-US" sz="1000" dirty="0"/>
              <a:t>The </a:t>
            </a:r>
            <a:r>
              <a:rPr lang="en-US" sz="1000" b="1" dirty="0"/>
              <a:t>I-MR (Individuals–Moving Range) control chart</a:t>
            </a:r>
            <a:r>
              <a:rPr lang="en-US" sz="1000" dirty="0"/>
              <a:t> for Cycle-1 productivity shows:</a:t>
            </a:r>
          </a:p>
          <a:p>
            <a:r>
              <a:rPr lang="en-US" sz="1000" b="1" dirty="0"/>
              <a:t>a) Individual (I) Chart – Productivity Stability</a:t>
            </a:r>
          </a:p>
          <a:p>
            <a:r>
              <a:rPr lang="en-US" sz="1000" dirty="0"/>
              <a:t>Most productivity observations lie </a:t>
            </a:r>
            <a:r>
              <a:rPr lang="en-US" sz="1000" b="1" dirty="0"/>
              <a:t>within control limits</a:t>
            </a:r>
            <a:endParaRPr lang="en-US" sz="1000" dirty="0"/>
          </a:p>
          <a:p>
            <a:r>
              <a:rPr lang="en-US" sz="1000" dirty="0"/>
              <a:t>Mean productivity remained </a:t>
            </a:r>
            <a:r>
              <a:rPr lang="en-US" sz="1000" b="1" dirty="0"/>
              <a:t>consistent across the cycle</a:t>
            </a:r>
            <a:endParaRPr lang="en-US" sz="1000" dirty="0"/>
          </a:p>
          <a:p>
            <a:r>
              <a:rPr lang="en-US" sz="1000" dirty="0"/>
              <a:t>No prolonged downward trends observed</a:t>
            </a:r>
          </a:p>
          <a:p>
            <a:r>
              <a:rPr lang="en-US" sz="1000" dirty="0"/>
              <a:t>A few natural spikes correspond to:</a:t>
            </a:r>
          </a:p>
          <a:p>
            <a:pPr lvl="1"/>
            <a:r>
              <a:rPr lang="en-US" sz="1000" dirty="0"/>
              <a:t>Bulk feature completion</a:t>
            </a:r>
          </a:p>
          <a:p>
            <a:pPr lvl="1"/>
            <a:r>
              <a:rPr lang="en-US" sz="1000" dirty="0"/>
              <a:t>Stabilization after learning curve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Inference</a:t>
            </a:r>
            <a:r>
              <a:rPr lang="en-US" sz="1000" dirty="0"/>
              <a:t>:</a:t>
            </a:r>
            <a:br>
              <a:rPr lang="en-US" sz="1000" dirty="0"/>
            </a:br>
            <a:r>
              <a:rPr lang="en-US" sz="1000" dirty="0"/>
              <a:t>The development process was </a:t>
            </a:r>
            <a:r>
              <a:rPr lang="en-US" sz="1000" b="1" dirty="0"/>
              <a:t>statistically stable</a:t>
            </a:r>
            <a:r>
              <a:rPr lang="en-US" sz="1000" dirty="0"/>
              <a:t> during Cycle-1.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b="1" dirty="0"/>
              <a:t>b) Moving Range (MR) Chart – Variability Control</a:t>
            </a:r>
          </a:p>
          <a:p>
            <a:r>
              <a:rPr lang="en-US" sz="1000" dirty="0"/>
              <a:t>Short-term variation between consecutive productivity values was </a:t>
            </a:r>
            <a:r>
              <a:rPr lang="en-US" sz="1000" b="1" dirty="0"/>
              <a:t>low</a:t>
            </a:r>
            <a:endParaRPr lang="en-US" sz="1000" dirty="0"/>
          </a:p>
          <a:p>
            <a:r>
              <a:rPr lang="en-US" sz="1000" dirty="0"/>
              <a:t>Isolated spikes indicate:</a:t>
            </a:r>
          </a:p>
          <a:p>
            <a:pPr lvl="1"/>
            <a:r>
              <a:rPr lang="en-US" sz="1000" dirty="0"/>
              <a:t>Initial ramp-up phase</a:t>
            </a:r>
          </a:p>
          <a:p>
            <a:pPr lvl="1"/>
            <a:r>
              <a:rPr lang="en-US" sz="1000" dirty="0"/>
              <a:t>Learning curve in GIS and mobile modules</a:t>
            </a:r>
          </a:p>
          <a:p>
            <a:r>
              <a:rPr lang="en-US" sz="1000" dirty="0"/>
              <a:t>No continuous abnormal variation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Inference</a:t>
            </a:r>
            <a:r>
              <a:rPr lang="en-US" sz="1000" dirty="0"/>
              <a:t>:</a:t>
            </a:r>
            <a:br>
              <a:rPr lang="en-US" sz="1000" dirty="0"/>
            </a:br>
            <a:r>
              <a:rPr lang="en-US" sz="1000" dirty="0"/>
              <a:t>Process variability was </a:t>
            </a:r>
            <a:r>
              <a:rPr lang="en-US" sz="1000" b="1" dirty="0"/>
              <a:t>controlled and acceptable</a:t>
            </a:r>
            <a:r>
              <a:rPr lang="en-US" sz="1000" dirty="0"/>
              <a:t>, indicating a predictable delivery system.</a:t>
            </a:r>
          </a:p>
          <a:p>
            <a:endParaRPr lang="en-US" sz="1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553" y="1905000"/>
            <a:ext cx="5905975" cy="39352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7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"/>
            <a:ext cx="9277350" cy="685799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Chart – Code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8B645F5-817C-5B4A-0488-ABEBD178E133}"/>
              </a:ext>
            </a:extLst>
          </p:cNvPr>
          <p:cNvSpPr txBox="1"/>
          <p:nvPr/>
        </p:nvSpPr>
        <p:spPr>
          <a:xfrm>
            <a:off x="609600" y="685800"/>
            <a:ext cx="11125199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 </a:t>
            </a:r>
            <a:r>
              <a:rPr lang="en-US" sz="1000" b="1" dirty="0"/>
              <a:t>Cycle-1 of the </a:t>
            </a:r>
            <a:r>
              <a:rPr lang="en-US" sz="1000" b="1" dirty="0" err="1"/>
              <a:t>Jal</a:t>
            </a:r>
            <a:r>
              <a:rPr lang="en-US" sz="1000" b="1" dirty="0"/>
              <a:t> </a:t>
            </a:r>
            <a:r>
              <a:rPr lang="en-US" sz="1000" b="1" dirty="0" err="1"/>
              <a:t>Rekha</a:t>
            </a:r>
            <a:r>
              <a:rPr lang="en-US" sz="1000" b="1" dirty="0"/>
              <a:t> project</a:t>
            </a:r>
            <a:r>
              <a:rPr lang="en-US" sz="1000" dirty="0"/>
              <a:t>, </a:t>
            </a:r>
            <a:r>
              <a:rPr lang="en-US" sz="1000" b="1" dirty="0"/>
              <a:t>Code Rate</a:t>
            </a:r>
            <a:r>
              <a:rPr lang="en-US" sz="1000" dirty="0"/>
              <a:t> represents the </a:t>
            </a:r>
            <a:r>
              <a:rPr lang="en-US" sz="1000" b="1" dirty="0"/>
              <a:t>speed and consistency of coding activity</a:t>
            </a:r>
            <a:r>
              <a:rPr lang="en-US" sz="1000" dirty="0"/>
              <a:t> measured against actual effort and completed development work.</a:t>
            </a:r>
          </a:p>
          <a:p>
            <a:r>
              <a:rPr lang="en-US" sz="1000" dirty="0"/>
              <a:t>Code Rate reflects:</a:t>
            </a:r>
          </a:p>
          <a:p>
            <a:r>
              <a:rPr lang="en-US" sz="1000" dirty="0"/>
              <a:t>Volume of code developed per unit effort</a:t>
            </a:r>
          </a:p>
          <a:p>
            <a:r>
              <a:rPr lang="en-US" sz="1000" dirty="0"/>
              <a:t>Pace of feature implementation</a:t>
            </a:r>
          </a:p>
          <a:p>
            <a:r>
              <a:rPr lang="en-US" sz="1000" dirty="0"/>
              <a:t>Stability of development output over time</a:t>
            </a:r>
          </a:p>
          <a:p>
            <a:r>
              <a:rPr lang="en-US" sz="1000" dirty="0"/>
              <a:t>This X-factor directly influences the </a:t>
            </a:r>
            <a:r>
              <a:rPr lang="en-US" sz="1000" b="1" dirty="0"/>
              <a:t>Y-factor (Productivity)</a:t>
            </a:r>
            <a:r>
              <a:rPr lang="en-US" sz="1000" dirty="0"/>
              <a:t> and is critical for understanding </a:t>
            </a:r>
            <a:r>
              <a:rPr lang="en-US" sz="1000" b="1" dirty="0"/>
              <a:t>development efficiency</a:t>
            </a:r>
            <a:r>
              <a:rPr lang="en-US" sz="1000" dirty="0"/>
              <a:t>.</a:t>
            </a:r>
            <a:br>
              <a:rPr lang="en-US" sz="1000" dirty="0"/>
            </a:b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Code Rate values were derived from </a:t>
            </a:r>
            <a:r>
              <a:rPr lang="en-US" sz="1000" b="1" dirty="0"/>
              <a:t>actual project execution data</a:t>
            </a:r>
            <a:r>
              <a:rPr lang="en-US" sz="1000" dirty="0"/>
              <a:t> recorded in the </a:t>
            </a:r>
            <a:r>
              <a:rPr lang="en-US" sz="1000" b="1" dirty="0"/>
              <a:t>Cycle-1 Data Collection Sheet (Jan–Jun)</a:t>
            </a:r>
            <a:r>
              <a:rPr lang="en-US" sz="1000" dirty="0"/>
              <a:t>, including:</a:t>
            </a:r>
          </a:p>
          <a:p>
            <a:r>
              <a:rPr lang="en-US" sz="1000" dirty="0"/>
              <a:t>Logged development hours</a:t>
            </a:r>
          </a:p>
          <a:p>
            <a:r>
              <a:rPr lang="en-US" sz="1000" dirty="0"/>
              <a:t>Completed modules/features</a:t>
            </a:r>
          </a:p>
          <a:p>
            <a:r>
              <a:rPr lang="en-US" sz="1000" dirty="0"/>
              <a:t>Accepted commits after review</a:t>
            </a:r>
          </a:p>
          <a:p>
            <a:r>
              <a:rPr lang="en-US" sz="1000" dirty="0"/>
              <a:t>Exclusion of rework and rejected code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b="1" dirty="0"/>
              <a:t>Interpretation of the Code Rate Control Chart (Cycle-1)</a:t>
            </a:r>
          </a:p>
          <a:p>
            <a:r>
              <a:rPr lang="en-US" sz="1000" dirty="0"/>
              <a:t>The </a:t>
            </a:r>
            <a:r>
              <a:rPr lang="en-US" sz="1000" b="1" dirty="0"/>
              <a:t>I-MR control chart for Code Rate</a:t>
            </a:r>
            <a:r>
              <a:rPr lang="en-US" sz="1000" dirty="0"/>
              <a:t> indicates the following:</a:t>
            </a:r>
          </a:p>
          <a:p>
            <a:endParaRPr lang="en-US" sz="1000" dirty="0" smtClean="0"/>
          </a:p>
          <a:p>
            <a:r>
              <a:rPr lang="en-US" sz="1000" b="1" dirty="0"/>
              <a:t>a) Individual (I) Chart – Code Rate Trend</a:t>
            </a:r>
          </a:p>
          <a:p>
            <a:r>
              <a:rPr lang="en-US" sz="1000" dirty="0"/>
              <a:t>Majority of observations fall </a:t>
            </a:r>
            <a:r>
              <a:rPr lang="en-US" sz="1000" b="1" dirty="0"/>
              <a:t>within upper and lower control limits</a:t>
            </a:r>
            <a:endParaRPr lang="en-US" sz="1000" dirty="0"/>
          </a:p>
          <a:p>
            <a:r>
              <a:rPr lang="en-US" sz="1000" dirty="0"/>
              <a:t>Mean Code Rate remains </a:t>
            </a:r>
            <a:r>
              <a:rPr lang="en-US" sz="1000" b="1" dirty="0"/>
              <a:t>largely stable</a:t>
            </a:r>
            <a:endParaRPr lang="en-US" sz="1000" dirty="0"/>
          </a:p>
          <a:p>
            <a:r>
              <a:rPr lang="en-US" sz="1000" dirty="0"/>
              <a:t>A few </a:t>
            </a:r>
            <a:r>
              <a:rPr lang="en-US" sz="1000" b="1" dirty="0"/>
              <a:t>high peaks</a:t>
            </a:r>
            <a:r>
              <a:rPr lang="en-US" sz="1000" dirty="0"/>
              <a:t> represent:</a:t>
            </a:r>
          </a:p>
          <a:p>
            <a:pPr lvl="1"/>
            <a:r>
              <a:rPr lang="en-US" sz="1000" dirty="0"/>
              <a:t>Bulk feature development</a:t>
            </a:r>
          </a:p>
          <a:p>
            <a:pPr lvl="1"/>
            <a:r>
              <a:rPr lang="en-US" sz="1000" dirty="0"/>
              <a:t>Parallel completion of multiple modules</a:t>
            </a:r>
          </a:p>
          <a:p>
            <a:r>
              <a:rPr lang="en-US" sz="1000" dirty="0"/>
              <a:t>Temporary </a:t>
            </a:r>
            <a:r>
              <a:rPr lang="en-US" sz="1000" b="1" dirty="0"/>
              <a:t>drops</a:t>
            </a:r>
            <a:r>
              <a:rPr lang="en-US" sz="1000" dirty="0"/>
              <a:t> indicate:</a:t>
            </a:r>
          </a:p>
          <a:p>
            <a:pPr lvl="1"/>
            <a:r>
              <a:rPr lang="en-US" sz="1000" dirty="0"/>
              <a:t>Design clarifications</a:t>
            </a:r>
          </a:p>
          <a:p>
            <a:pPr lvl="1"/>
            <a:r>
              <a:rPr lang="en-US" sz="1000" dirty="0"/>
              <a:t>Requirement refinements</a:t>
            </a:r>
          </a:p>
          <a:p>
            <a:pPr lvl="1"/>
            <a:r>
              <a:rPr lang="en-US" sz="1000" dirty="0"/>
              <a:t>Increased review and testing effort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Inference</a:t>
            </a:r>
            <a:r>
              <a:rPr lang="en-US" sz="1000" dirty="0"/>
              <a:t>:</a:t>
            </a:r>
            <a:br>
              <a:rPr lang="en-US" sz="1000" dirty="0"/>
            </a:br>
            <a:r>
              <a:rPr lang="en-US" sz="1000" dirty="0"/>
              <a:t>The coding process was </a:t>
            </a:r>
            <a:r>
              <a:rPr lang="en-US" sz="1000" b="1" dirty="0"/>
              <a:t>under statistical control</a:t>
            </a:r>
            <a:r>
              <a:rPr lang="en-US" sz="1000" dirty="0"/>
              <a:t>, with natural variation expected in a first delivery cycle.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b="1" dirty="0"/>
              <a:t>b) Moving Range (MR) Chart – Code Rate Variability</a:t>
            </a:r>
          </a:p>
          <a:p>
            <a:r>
              <a:rPr lang="en-US" sz="1000" dirty="0"/>
              <a:t>Short-term variation is generally </a:t>
            </a:r>
            <a:r>
              <a:rPr lang="en-US" sz="1000" b="1" dirty="0"/>
              <a:t>low to moderate</a:t>
            </a:r>
            <a:endParaRPr lang="en-US" sz="1000" dirty="0"/>
          </a:p>
          <a:p>
            <a:r>
              <a:rPr lang="en-US" sz="1000" dirty="0"/>
              <a:t>Isolated spikes correspond to:</a:t>
            </a:r>
          </a:p>
          <a:p>
            <a:pPr lvl="1"/>
            <a:r>
              <a:rPr lang="en-US" sz="1000" dirty="0"/>
              <a:t>Sudden increase in coding throughput</a:t>
            </a:r>
          </a:p>
          <a:p>
            <a:pPr lvl="1"/>
            <a:r>
              <a:rPr lang="en-US" sz="1000" dirty="0"/>
              <a:t>Transition from setup to steady development</a:t>
            </a:r>
          </a:p>
          <a:p>
            <a:r>
              <a:rPr lang="en-US" sz="1000" dirty="0"/>
              <a:t>No continuous abnormal fluctuations detected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Inference</a:t>
            </a:r>
            <a:r>
              <a:rPr lang="en-US" sz="1000" dirty="0"/>
              <a:t>:</a:t>
            </a:r>
            <a:br>
              <a:rPr lang="en-US" sz="1000" dirty="0"/>
            </a:br>
            <a:r>
              <a:rPr lang="en-US" sz="1000" dirty="0"/>
              <a:t>Code delivery pace was </a:t>
            </a:r>
            <a:r>
              <a:rPr lang="en-US" sz="1000" b="1" dirty="0"/>
              <a:t>predictable and manageable</a:t>
            </a:r>
            <a:r>
              <a:rPr lang="en-US" sz="1000" dirty="0"/>
              <a:t>, without unstable swings</a:t>
            </a:r>
            <a:r>
              <a:rPr lang="en-US" sz="1000" dirty="0" smtClean="0"/>
              <a:t>.</a:t>
            </a:r>
            <a:br>
              <a:rPr lang="en-US" sz="1000" dirty="0" smtClean="0"/>
            </a:br>
            <a:endParaRPr lang="en-US" sz="1000" dirty="0" smtClean="0"/>
          </a:p>
          <a:p>
            <a:r>
              <a:rPr lang="en-US" sz="1000" b="1" dirty="0"/>
              <a:t>Relationship Between Code Rate (X) and Productivity (Y)</a:t>
            </a:r>
          </a:p>
          <a:p>
            <a:r>
              <a:rPr lang="en-US" sz="1000" dirty="0"/>
              <a:t>Stable code rate → </a:t>
            </a:r>
            <a:r>
              <a:rPr lang="en-US" sz="1000" b="1" dirty="0"/>
              <a:t>stable productivity</a:t>
            </a:r>
            <a:endParaRPr lang="en-US" sz="1000" dirty="0"/>
          </a:p>
          <a:p>
            <a:r>
              <a:rPr lang="en-US" sz="1000" dirty="0"/>
              <a:t>Short-term spikes in code rate → productivity improvement after validation</a:t>
            </a:r>
          </a:p>
          <a:p>
            <a:r>
              <a:rPr lang="en-US" sz="1000" dirty="0"/>
              <a:t>Controlled reduction in code rate → lower rework and higher acceptance</a:t>
            </a:r>
          </a:p>
          <a:p>
            <a:r>
              <a:rPr lang="en-US" sz="1000" dirty="0"/>
              <a:t>✔ Code Rate acted as a </a:t>
            </a:r>
            <a:r>
              <a:rPr lang="en-US" sz="1000" b="1" dirty="0"/>
              <a:t>supporting X-factor</a:t>
            </a:r>
            <a:r>
              <a:rPr lang="en-US" sz="1000" dirty="0"/>
              <a:t>, positively influencing Cycle-1 productivity.</a:t>
            </a:r>
          </a:p>
          <a:p>
            <a:endParaRPr lang="en-US" sz="1000" dirty="0"/>
          </a:p>
          <a:p>
            <a:endParaRPr lang="en-US" sz="1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81200"/>
            <a:ext cx="5936838" cy="38743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79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87087"/>
            <a:ext cx="11353800" cy="751114"/>
          </a:xfrm>
        </p:spPr>
        <p:txBody>
          <a:bodyPr>
            <a:normAutofit/>
          </a:bodyPr>
          <a:lstStyle/>
          <a:p>
            <a:r>
              <a:rPr lang="en-US" dirty="0"/>
              <a:t>Control Chart – </a:t>
            </a:r>
            <a:r>
              <a:rPr lang="en-IN" dirty="0"/>
              <a:t>Testing Rate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78439AA-051A-EF9F-2292-7F8D32BE96D7}"/>
              </a:ext>
            </a:extLst>
          </p:cNvPr>
          <p:cNvSpPr txBox="1"/>
          <p:nvPr/>
        </p:nvSpPr>
        <p:spPr>
          <a:xfrm>
            <a:off x="533400" y="990601"/>
            <a:ext cx="113537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 </a:t>
            </a:r>
            <a:r>
              <a:rPr lang="en-US" sz="1000" b="1" dirty="0"/>
              <a:t>Cycle-1 of the </a:t>
            </a:r>
            <a:r>
              <a:rPr lang="en-US" sz="1000" b="1" dirty="0" err="1"/>
              <a:t>Jal</a:t>
            </a:r>
            <a:r>
              <a:rPr lang="en-US" sz="1000" b="1" dirty="0"/>
              <a:t> </a:t>
            </a:r>
            <a:r>
              <a:rPr lang="en-US" sz="1000" b="1" dirty="0" err="1"/>
              <a:t>Rekha</a:t>
            </a:r>
            <a:r>
              <a:rPr lang="en-US" sz="1000" b="1" dirty="0"/>
              <a:t> project</a:t>
            </a:r>
            <a:r>
              <a:rPr lang="en-US" sz="1000" dirty="0"/>
              <a:t>, </a:t>
            </a:r>
            <a:r>
              <a:rPr lang="en-US" sz="1000" b="1" dirty="0"/>
              <a:t>Testing Rate</a:t>
            </a:r>
            <a:r>
              <a:rPr lang="en-US" sz="1000" dirty="0"/>
              <a:t> represents the </a:t>
            </a:r>
            <a:r>
              <a:rPr lang="en-US" sz="1000" b="1" dirty="0"/>
              <a:t>rate at which developed functionalities are validated through testing activities</a:t>
            </a:r>
            <a:r>
              <a:rPr lang="en-US" sz="1000" dirty="0"/>
              <a:t> within a given time period.</a:t>
            </a:r>
          </a:p>
          <a:p>
            <a:r>
              <a:rPr lang="en-US" sz="1000" dirty="0"/>
              <a:t>It reflects:</a:t>
            </a:r>
          </a:p>
          <a:p>
            <a:r>
              <a:rPr lang="en-US" sz="1000" dirty="0"/>
              <a:t>Speed of test case execution</a:t>
            </a:r>
          </a:p>
          <a:p>
            <a:r>
              <a:rPr lang="en-US" sz="1000" dirty="0"/>
              <a:t>Timely validation of completed development</a:t>
            </a:r>
          </a:p>
          <a:p>
            <a:r>
              <a:rPr lang="en-US" sz="1000" dirty="0"/>
              <a:t>Readiness of features for acceptance and deployment</a:t>
            </a:r>
          </a:p>
          <a:p>
            <a:r>
              <a:rPr lang="en-US" sz="1000" dirty="0"/>
              <a:t>Testing Rate is a </a:t>
            </a:r>
            <a:r>
              <a:rPr lang="en-US" sz="1000" b="1" dirty="0"/>
              <a:t>critical X-factor</a:t>
            </a:r>
            <a:r>
              <a:rPr lang="en-US" sz="1000" dirty="0"/>
              <a:t> because it directly impacts </a:t>
            </a:r>
            <a:r>
              <a:rPr lang="en-US" sz="1000" b="1" dirty="0"/>
              <a:t>quality, rework reduction, and final productivity (Y-factor</a:t>
            </a:r>
            <a:r>
              <a:rPr lang="en-US" sz="1000" b="1" dirty="0" smtClean="0"/>
              <a:t>).</a:t>
            </a:r>
            <a:br>
              <a:rPr lang="en-US" sz="1000" b="1" dirty="0" smtClean="0"/>
            </a:br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b="1" dirty="0"/>
              <a:t>Interpretation of the Testing Rate Control Chart</a:t>
            </a:r>
          </a:p>
          <a:p>
            <a:r>
              <a:rPr lang="en-US" sz="1000" b="1" dirty="0"/>
              <a:t>a) Individual (I) Chart – Testing Rate Trend</a:t>
            </a:r>
          </a:p>
          <a:p>
            <a:r>
              <a:rPr lang="en-US" sz="1000" dirty="0"/>
              <a:t>Most data points lie </a:t>
            </a:r>
            <a:r>
              <a:rPr lang="en-US" sz="1000" b="1" dirty="0"/>
              <a:t>well within the control limits</a:t>
            </a:r>
            <a:endParaRPr lang="en-US" sz="1000" dirty="0"/>
          </a:p>
          <a:p>
            <a:r>
              <a:rPr lang="en-US" sz="1000" dirty="0"/>
              <a:t>The mean value of </a:t>
            </a:r>
            <a:r>
              <a:rPr lang="en-US" sz="1000" b="1" dirty="0"/>
              <a:t>0.858</a:t>
            </a:r>
            <a:r>
              <a:rPr lang="en-US" sz="1000" dirty="0"/>
              <a:t> indicates a </a:t>
            </a:r>
            <a:r>
              <a:rPr lang="en-US" sz="1000" b="1" dirty="0"/>
              <a:t>healthy and consistent testing throughput</a:t>
            </a:r>
            <a:endParaRPr lang="en-US" sz="1000" dirty="0"/>
          </a:p>
          <a:p>
            <a:r>
              <a:rPr lang="en-US" sz="1000" dirty="0"/>
              <a:t>No persistent trends or cyclic patterns are observed</a:t>
            </a:r>
          </a:p>
          <a:p>
            <a:r>
              <a:rPr lang="en-US" sz="1000" dirty="0"/>
              <a:t>Occasional higher values represent:</a:t>
            </a:r>
          </a:p>
          <a:p>
            <a:pPr lvl="1"/>
            <a:r>
              <a:rPr lang="en-US" sz="1000" dirty="0"/>
              <a:t>Bulk testing during integration phases</a:t>
            </a:r>
          </a:p>
          <a:p>
            <a:pPr lvl="1"/>
            <a:r>
              <a:rPr lang="en-US" sz="1000" dirty="0"/>
              <a:t>Completion of multiple modules in parallel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Inference: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The testing process during Cycle-1 was </a:t>
            </a:r>
            <a:r>
              <a:rPr lang="en-US" sz="1000" b="1" dirty="0"/>
              <a:t>statistically stable and predictable</a:t>
            </a:r>
            <a:r>
              <a:rPr lang="en-US" sz="1000" dirty="0" smtClean="0"/>
              <a:t>.</a:t>
            </a:r>
          </a:p>
          <a:p>
            <a:endParaRPr lang="en-US" sz="1000" dirty="0"/>
          </a:p>
          <a:p>
            <a:r>
              <a:rPr lang="en-US" sz="1000" b="1" dirty="0"/>
              <a:t>b) Moving Range (MR) Chart – Testing Variability</a:t>
            </a:r>
          </a:p>
          <a:p>
            <a:r>
              <a:rPr lang="en-US" sz="1000" dirty="0"/>
              <a:t>Average moving range of </a:t>
            </a:r>
            <a:r>
              <a:rPr lang="en-US" sz="1000" b="1" dirty="0"/>
              <a:t>0.332</a:t>
            </a:r>
            <a:r>
              <a:rPr lang="en-US" sz="1000" dirty="0"/>
              <a:t> indicates </a:t>
            </a:r>
            <a:r>
              <a:rPr lang="en-US" sz="1000" b="1" dirty="0"/>
              <a:t>moderate short-term variation</a:t>
            </a:r>
            <a:endParaRPr lang="en-US" sz="1000" dirty="0"/>
          </a:p>
          <a:p>
            <a:r>
              <a:rPr lang="en-US" sz="1000" dirty="0"/>
              <a:t>Variations correspond to:</a:t>
            </a:r>
          </a:p>
          <a:p>
            <a:pPr lvl="1"/>
            <a:r>
              <a:rPr lang="en-US" sz="1000" dirty="0"/>
              <a:t>Test environment setup activities</a:t>
            </a:r>
          </a:p>
          <a:p>
            <a:pPr lvl="1"/>
            <a:r>
              <a:rPr lang="en-US" sz="1000" dirty="0"/>
              <a:t>Availability of development hand-offs</a:t>
            </a:r>
          </a:p>
          <a:p>
            <a:pPr lvl="1"/>
            <a:r>
              <a:rPr lang="en-US" sz="1000" dirty="0"/>
              <a:t>Regression testing cycles</a:t>
            </a:r>
          </a:p>
          <a:p>
            <a:r>
              <a:rPr lang="en-US" sz="1000" dirty="0"/>
              <a:t>No continuous abnormal spikes detected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Inference: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Short-term fluctuations are </a:t>
            </a:r>
            <a:r>
              <a:rPr lang="en-US" sz="1000" b="1" dirty="0"/>
              <a:t>expected and acceptable</a:t>
            </a:r>
            <a:r>
              <a:rPr lang="en-US" sz="1000" dirty="0"/>
              <a:t> for a first execution cycle</a:t>
            </a:r>
            <a:r>
              <a:rPr lang="en-US" sz="1000" dirty="0" smtClean="0"/>
              <a:t>.</a:t>
            </a:r>
          </a:p>
          <a:p>
            <a:endParaRPr lang="en-US" sz="1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latin typeface="Arial" panose="020B0604020202020204" pitchFamily="34" charset="0"/>
              </a:rPr>
              <a:t>Conclusion – Cycle-1 Testing Rate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latin typeface="Arial" panose="020B0604020202020204" pitchFamily="34" charset="0"/>
              </a:rPr>
              <a:t>The Testing Rate for Cycle-1 remained under statistical control, demonstrating a </a:t>
            </a:r>
            <a:endParaRPr lang="en-US" sz="1000" b="1" dirty="0" smtClean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latin typeface="Arial" panose="020B0604020202020204" pitchFamily="34" charset="0"/>
              </a:rPr>
              <a:t>mature </a:t>
            </a:r>
            <a:r>
              <a:rPr lang="en-US" sz="1000" b="1" dirty="0">
                <a:latin typeface="Arial" panose="020B0604020202020204" pitchFamily="34" charset="0"/>
              </a:rPr>
              <a:t>and disciplined quality assurance process.</a:t>
            </a:r>
            <a:endParaRPr lang="en-US" sz="1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latin typeface="Arial" panose="020B0604020202020204" pitchFamily="34" charset="0"/>
              </a:rPr>
              <a:t>The control chart confirms: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000" dirty="0">
                <a:latin typeface="Arial" panose="020B0604020202020204" pitchFamily="34" charset="0"/>
              </a:rPr>
              <a:t>Predictable testing throughput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000" dirty="0">
                <a:latin typeface="Arial" panose="020B0604020202020204" pitchFamily="34" charset="0"/>
              </a:rPr>
              <a:t>Effective synchronization between development and testing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000" dirty="0">
                <a:latin typeface="Arial" panose="020B0604020202020204" pitchFamily="34" charset="0"/>
              </a:rPr>
              <a:t>Strong foundation for higher automation and faster cycles in future </a:t>
            </a:r>
            <a:r>
              <a:rPr lang="en-US" sz="1000" dirty="0" smtClean="0">
                <a:latin typeface="Arial" panose="020B0604020202020204" pitchFamily="34" charset="0"/>
              </a:rPr>
              <a:t>phases</a:t>
            </a:r>
            <a:r>
              <a:rPr lang="en-US" sz="1000" dirty="0"/>
              <a:t>.</a:t>
            </a:r>
            <a:endParaRPr lang="en-US" sz="1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057400"/>
            <a:ext cx="5912984" cy="3938588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85800" y="5912794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56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10490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Regression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11201400" cy="5486400"/>
          </a:xfrm>
        </p:spPr>
        <p:txBody>
          <a:bodyPr>
            <a:noAutofit/>
          </a:bodyPr>
          <a:lstStyle/>
          <a:p>
            <a:pPr fontAlgn="b"/>
            <a:r>
              <a:rPr lang="en-US" sz="1100" dirty="0"/>
              <a:t>Regression Analysis:  The derived </a:t>
            </a:r>
            <a:r>
              <a:rPr lang="en-US" sz="1100" b="1" dirty="0"/>
              <a:t>multiple linear regression equation</a:t>
            </a:r>
            <a:r>
              <a:rPr lang="en-US" sz="1100" dirty="0"/>
              <a:t> for Cycle-1 is:</a:t>
            </a:r>
            <a:endParaRPr lang="en-IN" sz="11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fontAlgn="b">
              <a:buNone/>
            </a:pPr>
            <a:r>
              <a:rPr lang="en-US" sz="1100" dirty="0" smtClean="0">
                <a:solidFill>
                  <a:schemeClr val="accent5">
                    <a:lumMod val="75000"/>
                  </a:schemeClr>
                </a:solidFill>
              </a:rPr>
              <a:t>Productivity = 0.0821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</a:rPr>
              <a:t>+ 0.1296 </a:t>
            </a:r>
            <a:r>
              <a:rPr lang="en-US" sz="1100" dirty="0" err="1">
                <a:solidFill>
                  <a:schemeClr val="accent5">
                    <a:lumMod val="75000"/>
                  </a:schemeClr>
                </a:solidFill>
              </a:rPr>
              <a:t>Code_Rate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</a:rPr>
              <a:t> + 0.01913 </a:t>
            </a:r>
            <a:r>
              <a:rPr lang="en-US" sz="1100" dirty="0" err="1" smtClean="0">
                <a:solidFill>
                  <a:schemeClr val="accent5">
                    <a:lumMod val="75000"/>
                  </a:schemeClr>
                </a:solidFill>
              </a:rPr>
              <a:t>Test_Rate</a:t>
            </a:r>
            <a:endParaRPr lang="en-US" sz="11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fontAlgn="b">
              <a:buNone/>
            </a:pPr>
            <a:r>
              <a:rPr lang="en-US" sz="1100" dirty="0"/>
              <a:t>This equation quantifies the </a:t>
            </a:r>
            <a:r>
              <a:rPr lang="en-US" sz="1100" b="1" dirty="0"/>
              <a:t>relationship between Productivity (Y-Factor)</a:t>
            </a:r>
            <a:r>
              <a:rPr lang="en-US" sz="1100" dirty="0"/>
              <a:t> and the selected </a:t>
            </a:r>
            <a:endParaRPr lang="en-US" sz="1100" dirty="0" smtClean="0"/>
          </a:p>
          <a:p>
            <a:pPr marL="0" indent="0" fontAlgn="b">
              <a:buNone/>
            </a:pPr>
            <a:r>
              <a:rPr lang="en-US" sz="1100" b="1" dirty="0" smtClean="0"/>
              <a:t>X-Factors </a:t>
            </a:r>
            <a:r>
              <a:rPr lang="en-US" sz="1100" b="1" dirty="0"/>
              <a:t>(Code Rate and Testing Rate)</a:t>
            </a:r>
            <a:r>
              <a:rPr lang="en-US" sz="1100" dirty="0"/>
              <a:t> using actual project data from the </a:t>
            </a:r>
            <a:r>
              <a:rPr lang="en-US" sz="1100" dirty="0" err="1"/>
              <a:t>Jal</a:t>
            </a:r>
            <a:r>
              <a:rPr lang="en-US" sz="1100" dirty="0"/>
              <a:t> </a:t>
            </a:r>
            <a:r>
              <a:rPr lang="en-US" sz="1100" dirty="0" err="1"/>
              <a:t>Rekha</a:t>
            </a:r>
            <a:r>
              <a:rPr lang="en-US" sz="1100" dirty="0"/>
              <a:t> </a:t>
            </a:r>
            <a:r>
              <a:rPr lang="en-US" sz="1100" dirty="0" smtClean="0"/>
              <a:t>Cycle-1</a:t>
            </a:r>
          </a:p>
          <a:p>
            <a:pPr marL="0" indent="0" fontAlgn="b">
              <a:buNone/>
            </a:pPr>
            <a:r>
              <a:rPr lang="en-US" sz="1100" dirty="0" smtClean="0"/>
              <a:t>data </a:t>
            </a:r>
            <a:r>
              <a:rPr lang="en-US" sz="1100" dirty="0"/>
              <a:t>collection sheet</a:t>
            </a:r>
            <a:r>
              <a:rPr lang="en-US" sz="1100" dirty="0" smtClean="0"/>
              <a:t>.</a:t>
            </a:r>
            <a:endParaRPr lang="en-US" sz="1100" dirty="0">
              <a:solidFill>
                <a:schemeClr val="accent5">
                  <a:lumMod val="75000"/>
                </a:schemeClr>
              </a:solidFill>
            </a:endParaRPr>
          </a:p>
          <a:p>
            <a:pPr fontAlgn="b"/>
            <a:r>
              <a:rPr lang="en-US" sz="1100" b="1" dirty="0"/>
              <a:t>Interpretation of Regression </a:t>
            </a:r>
            <a:r>
              <a:rPr lang="en-US" sz="1100" b="1" dirty="0" smtClean="0"/>
              <a:t>Coefficients</a:t>
            </a: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dirty="0" smtClean="0"/>
              <a:t/>
            </a:r>
            <a:br>
              <a:rPr lang="en-US" sz="1100" dirty="0" smtClean="0"/>
            </a:br>
            <a:endParaRPr lang="en-US" sz="11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fontAlgn="b">
              <a:buNone/>
            </a:pPr>
            <a:r>
              <a:rPr lang="en-US" sz="1100" dirty="0" smtClean="0">
                <a:solidFill>
                  <a:schemeClr val="accent5">
                    <a:lumMod val="75000"/>
                  </a:schemeClr>
                </a:solidFill>
              </a:rPr>
              <a:t/>
            </a:r>
            <a:br>
              <a:rPr lang="en-US" sz="1100" dirty="0" smtClean="0">
                <a:solidFill>
                  <a:schemeClr val="accent5">
                    <a:lumMod val="75000"/>
                  </a:schemeClr>
                </a:solidFill>
              </a:rPr>
            </a:br>
            <a:endParaRPr lang="en-US" sz="1100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100" dirty="0"/>
          </a:p>
          <a:p>
            <a:endParaRPr lang="en-US" sz="1100" dirty="0"/>
          </a:p>
          <a:p>
            <a:pPr>
              <a:buNone/>
            </a:pPr>
            <a:endParaRPr lang="en-US" sz="1100" dirty="0" smtClean="0"/>
          </a:p>
          <a:p>
            <a:pPr>
              <a:buNone/>
            </a:pPr>
            <a:endParaRPr lang="en-US" sz="1100" dirty="0"/>
          </a:p>
          <a:p>
            <a:pPr>
              <a:buNone/>
            </a:pPr>
            <a:endParaRPr lang="en-US" sz="1100" dirty="0" smtClean="0"/>
          </a:p>
          <a:p>
            <a:r>
              <a:rPr lang="en-US" sz="1100" b="1" dirty="0" smtClean="0"/>
              <a:t>Key Insight:</a:t>
            </a: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dirty="0" smtClean="0"/>
              <a:t>Code Rate </a:t>
            </a:r>
            <a:r>
              <a:rPr lang="en-US" sz="1100" dirty="0"/>
              <a:t>has a </a:t>
            </a:r>
            <a:r>
              <a:rPr lang="en-US" sz="1100" b="1" dirty="0"/>
              <a:t>stronger impact on productivity</a:t>
            </a:r>
            <a:r>
              <a:rPr lang="en-US" sz="1100" dirty="0"/>
              <a:t> compared to Testing Rate in </a:t>
            </a:r>
            <a:r>
              <a:rPr lang="en-US" sz="1100" dirty="0" smtClean="0"/>
              <a:t>Cycle-1.</a:t>
            </a:r>
          </a:p>
          <a:p>
            <a:r>
              <a:rPr lang="en-US" sz="1100" b="1" dirty="0" smtClean="0"/>
              <a:t>Statistical Significance of Factors</a:t>
            </a:r>
          </a:p>
          <a:p>
            <a:pPr>
              <a:buNone/>
            </a:pPr>
            <a:endParaRPr lang="en-US" sz="1100" dirty="0"/>
          </a:p>
        </p:txBody>
      </p:sp>
      <p:sp>
        <p:nvSpPr>
          <p:cNvPr id="5" name="Rectangle 4"/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796276"/>
            <a:ext cx="6492240" cy="6061724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617259"/>
              </p:ext>
            </p:extLst>
          </p:nvPr>
        </p:nvGraphicFramePr>
        <p:xfrm>
          <a:off x="457197" y="2694978"/>
          <a:ext cx="5029202" cy="187905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514601"/>
                <a:gridCol w="2514601"/>
              </a:tblGrid>
              <a:tr h="239559">
                <a:tc>
                  <a:txBody>
                    <a:bodyPr/>
                    <a:lstStyle/>
                    <a:p>
                      <a:r>
                        <a:rPr lang="en-US" sz="1100" b="1" u="sng" dirty="0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u="sng" dirty="0"/>
                        <a:t>Coefficient Interpretation</a:t>
                      </a:r>
                    </a:p>
                  </a:txBody>
                  <a:tcPr anchor="ctr"/>
                </a:tc>
              </a:tr>
              <a:tr h="419227">
                <a:tc>
                  <a:txBody>
                    <a:bodyPr/>
                    <a:lstStyle/>
                    <a:p>
                      <a:r>
                        <a:rPr lang="en-US" sz="1100" dirty="0"/>
                        <a:t>Constant (0.0821)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Baseline productivity when Code Rate and Test Rate are zero</a:t>
                      </a:r>
                    </a:p>
                  </a:txBody>
                  <a:tcPr anchor="ctr"/>
                </a:tc>
              </a:tr>
              <a:tr h="543142">
                <a:tc>
                  <a:txBody>
                    <a:bodyPr/>
                    <a:lstStyle/>
                    <a:p>
                      <a:r>
                        <a:rPr lang="en-US" sz="1100"/>
                        <a:t>Code_Rate (0.1296)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For every 1-unit increase in Code Rate, Productivity increases by 0.1296 units, keeping Test Rate constant</a:t>
                      </a:r>
                    </a:p>
                  </a:txBody>
                  <a:tcPr anchor="ctr"/>
                </a:tc>
              </a:tr>
              <a:tr h="598895">
                <a:tc>
                  <a:txBody>
                    <a:bodyPr/>
                    <a:lstStyle/>
                    <a:p>
                      <a:r>
                        <a:rPr lang="en-US" sz="1100" dirty="0" err="1"/>
                        <a:t>Test_Rate</a:t>
                      </a:r>
                      <a:r>
                        <a:rPr lang="en-US" sz="1100" dirty="0"/>
                        <a:t> (0.01913)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For every 1-unit increase in Test Rate, Productivity increases by 0.01913 units, keeping Code Rate constant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376921"/>
              </p:ext>
            </p:extLst>
          </p:nvPr>
        </p:nvGraphicFramePr>
        <p:xfrm>
          <a:off x="609600" y="5505671"/>
          <a:ext cx="5334000" cy="15392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333500"/>
                <a:gridCol w="1333500"/>
                <a:gridCol w="1333500"/>
                <a:gridCol w="1333500"/>
              </a:tblGrid>
              <a:tr h="214794">
                <a:tc>
                  <a:txBody>
                    <a:bodyPr/>
                    <a:lstStyle/>
                    <a:p>
                      <a:r>
                        <a:rPr lang="en-US" sz="1100" b="1" u="sng" dirty="0"/>
                        <a:t>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u="sng"/>
                        <a:t>T-Value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u="sng" dirty="0"/>
                        <a:t>P-Value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u="sng" dirty="0"/>
                        <a:t>Interpretation</a:t>
                      </a:r>
                    </a:p>
                  </a:txBody>
                  <a:tcPr anchor="ctr"/>
                </a:tc>
              </a:tr>
              <a:tr h="353778">
                <a:tc>
                  <a:txBody>
                    <a:bodyPr/>
                    <a:lstStyle/>
                    <a:p>
                      <a:r>
                        <a:rPr lang="en-US" sz="1100"/>
                        <a:t>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Statistically significant</a:t>
                      </a:r>
                    </a:p>
                  </a:txBody>
                  <a:tcPr anchor="ctr"/>
                </a:tc>
              </a:tr>
              <a:tr h="353778">
                <a:tc>
                  <a:txBody>
                    <a:bodyPr/>
                    <a:lstStyle/>
                    <a:p>
                      <a:r>
                        <a:rPr lang="en-US" sz="1100"/>
                        <a:t>Code_Rate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Statistically significant</a:t>
                      </a:r>
                    </a:p>
                  </a:txBody>
                  <a:tcPr anchor="ctr"/>
                </a:tc>
              </a:tr>
              <a:tr h="353778">
                <a:tc>
                  <a:txBody>
                    <a:bodyPr/>
                    <a:lstStyle/>
                    <a:p>
                      <a:r>
                        <a:rPr lang="en-US" sz="1100"/>
                        <a:t>Test_Rate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Statistically significant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930275"/>
          </a:xfrm>
        </p:spPr>
        <p:txBody>
          <a:bodyPr>
            <a:normAutofit/>
          </a:bodyPr>
          <a:lstStyle/>
          <a:p>
            <a:r>
              <a:rPr lang="en-US" dirty="0"/>
              <a:t>Performance and Targets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1D7E71D-DBBD-AE4C-924F-0256CED7F855}"/>
              </a:ext>
            </a:extLst>
          </p:cNvPr>
          <p:cNvSpPr txBox="1"/>
          <p:nvPr/>
        </p:nvSpPr>
        <p:spPr>
          <a:xfrm>
            <a:off x="609600" y="1371600"/>
            <a:ext cx="1097279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/>
              <a:t>✅ </a:t>
            </a:r>
            <a:r>
              <a:rPr lang="en-US" sz="1300" b="1" dirty="0" smtClean="0"/>
              <a:t>All predictors have P-values &lt; 0.05</a:t>
            </a:r>
            <a:r>
              <a:rPr lang="en-US" sz="1300" dirty="0" smtClean="0"/>
              <a:t>, confirming that:</a:t>
            </a:r>
          </a:p>
          <a:p>
            <a:r>
              <a:rPr lang="en-US" sz="1300" dirty="0" smtClean="0"/>
              <a:t>Both Code Rate and Test Rate significantly influence Productivity</a:t>
            </a:r>
          </a:p>
          <a:p>
            <a:r>
              <a:rPr lang="en-US" sz="1300" dirty="0" smtClean="0"/>
              <a:t>The regression model is statistically valid</a:t>
            </a:r>
            <a:br>
              <a:rPr lang="en-US" sz="1300" dirty="0" smtClean="0"/>
            </a:br>
            <a:r>
              <a:rPr lang="en-US" sz="1300" dirty="0" smtClean="0"/>
              <a:t/>
            </a:r>
            <a:br>
              <a:rPr lang="en-US" sz="1300" dirty="0" smtClean="0"/>
            </a:br>
            <a:r>
              <a:rPr lang="en-US" sz="1400" dirty="0"/>
              <a:t>Conclusion – Regression Analysis (Cycle-1</a:t>
            </a:r>
            <a:r>
              <a:rPr lang="en-US" sz="1400" dirty="0" smtClean="0"/>
              <a:t>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The regression analysis confirms that Productivity in Cycle-1 is significantly driven by Code Rate and Test Rate, with Code Rate being the dominant contributor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dirty="0"/>
              <a:t>This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Establishes a </a:t>
            </a:r>
            <a:r>
              <a:rPr lang="en-US" sz="1400" b="1" dirty="0"/>
              <a:t>cause-and-effect relationship</a:t>
            </a:r>
            <a:r>
              <a:rPr lang="en-US" sz="1400" dirty="0"/>
              <a:t> between X and Y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Supports </a:t>
            </a:r>
            <a:r>
              <a:rPr lang="en-US" sz="1400" b="1" dirty="0"/>
              <a:t>CMMI ML5 quantitative management practices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Provides a baseline equation for comparison in subsequent cycles</a:t>
            </a:r>
          </a:p>
          <a:p>
            <a:endParaRPr lang="en-IN" sz="2400" b="1" dirty="0"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F1F32452-C465-5406-B3B6-FD468384CB10}"/>
              </a:ext>
            </a:extLst>
          </p:cNvPr>
          <p:cNvSpPr/>
          <p:nvPr/>
        </p:nvSpPr>
        <p:spPr>
          <a:xfrm>
            <a:off x="609600" y="4197816"/>
            <a:ext cx="4191001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all Y and X Factors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C1EBA0A2-7203-571F-D0E5-A32C4224583D}"/>
              </a:ext>
            </a:extLst>
          </p:cNvPr>
          <p:cNvSpPr/>
          <p:nvPr/>
        </p:nvSpPr>
        <p:spPr>
          <a:xfrm>
            <a:off x="6434847" y="4166533"/>
            <a:ext cx="4266347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Setting Table and What if Table 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438106"/>
              </p:ext>
            </p:extLst>
          </p:nvPr>
        </p:nvGraphicFramePr>
        <p:xfrm>
          <a:off x="642026" y="5029200"/>
          <a:ext cx="34036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  <a:gridCol w="901700"/>
                <a:gridCol w="10160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Coding Rate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Testing Rate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0.12843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0.2308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0.858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0.040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0.15491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0.3504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1.739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0.10195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0.1113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-0.024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882385"/>
              </p:ext>
            </p:extLst>
          </p:nvPr>
        </p:nvGraphicFramePr>
        <p:xfrm>
          <a:off x="5105400" y="5236041"/>
          <a:ext cx="14859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0.141273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39452"/>
              </p:ext>
            </p:extLst>
          </p:nvPr>
        </p:nvGraphicFramePr>
        <p:xfrm>
          <a:off x="7263547" y="5051891"/>
          <a:ext cx="34036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  <a:gridCol w="901700"/>
                <a:gridCol w="10160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What if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Coding Rate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Testing Rate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0.1411716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USL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0.2911716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LSL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-0.0088284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0.77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1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10287000" cy="838200"/>
          </a:xfrm>
        </p:spPr>
        <p:txBody>
          <a:bodyPr>
            <a:normAutofit/>
          </a:bodyPr>
          <a:lstStyle/>
          <a:p>
            <a:r>
              <a:rPr lang="en-US" sz="4000" b="1" dirty="0"/>
              <a:t>Action Plan to achieve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7643"/>
            <a:ext cx="11049000" cy="5091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Please Central Repository link for (Data Collection, Action Plan): &lt;&lt;link&gt;&gt; </a:t>
            </a: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096036"/>
              </p:ext>
            </p:extLst>
          </p:nvPr>
        </p:nvGraphicFramePr>
        <p:xfrm>
          <a:off x="685800" y="1752600"/>
          <a:ext cx="10911191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0225"/>
                <a:gridCol w="428266"/>
                <a:gridCol w="600850"/>
                <a:gridCol w="869316"/>
                <a:gridCol w="1834512"/>
                <a:gridCol w="1080253"/>
                <a:gridCol w="1227270"/>
                <a:gridCol w="735083"/>
                <a:gridCol w="728692"/>
                <a:gridCol w="645594"/>
                <a:gridCol w="735083"/>
                <a:gridCol w="1566047"/>
              </a:tblGrid>
              <a:tr h="1651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 dirty="0">
                          <a:effectLst/>
                        </a:rPr>
                        <a:t>Sr. No.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Metric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Phase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Action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Description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Improvements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Expected Outcome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Implementation Date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Responsibility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Status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Remarks / Notes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Process, Procedure, Implementation Plan 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</a:tr>
              <a:tr h="2174377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Productivity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All Phase ( SDLC)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Improve Review Effeciency  - Requirement Review ,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Design Review 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Code Review 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Test Cases Review and this will increase productivity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1. Requirement Review : 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     1.1. Analyze the Current Process. 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    1.2 Prepare the SOP - Current Process &amp;  Revised Process ( Define Checklist , Review </a:t>
                      </a:r>
                      <a:r>
                        <a:rPr lang="en-US" sz="500" u="none" strike="noStrike" dirty="0" err="1">
                          <a:effectLst/>
                        </a:rPr>
                        <a:t>cooments</a:t>
                      </a:r>
                      <a:r>
                        <a:rPr lang="en-US" sz="500" u="none" strike="noStrike" dirty="0">
                          <a:effectLst/>
                        </a:rPr>
                        <a:t> captured </a:t>
                      </a:r>
                      <a:r>
                        <a:rPr lang="en-US" sz="500" u="none" strike="noStrike" dirty="0" err="1">
                          <a:effectLst/>
                        </a:rPr>
                        <a:t>ie</a:t>
                      </a:r>
                      <a:r>
                        <a:rPr lang="en-US" sz="500" u="none" strike="noStrike" dirty="0">
                          <a:effectLst/>
                        </a:rPr>
                        <a:t>., defect tracking sheet , </a:t>
                      </a:r>
                      <a:r>
                        <a:rPr lang="en-US" sz="500" u="none" strike="noStrike" dirty="0" err="1">
                          <a:effectLst/>
                        </a:rPr>
                        <a:t>Promot</a:t>
                      </a:r>
                      <a:r>
                        <a:rPr lang="en-US" sz="500" u="none" strike="noStrike" dirty="0">
                          <a:effectLst/>
                        </a:rPr>
                        <a:t> - option ) 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   1.3  Implementation Plan.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2. Design Review 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 2.1 Wireframe Review Process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2.2 Database  Review Process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3. Code Review - Implement Code Review Checklist 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4. Unit Test Cases Review - Peer Review  unit test cases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5. Test Cases Review - 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This will increases the productivity by 10%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To Increase / Improve the productivity rate for coding and testing.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7-Aug-25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BA,QA,TL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 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Test Plan &amp; Test Case Review Checklist- JAL REKHA                                                                        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 2. Jal Rekha Code Review Checklist                      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 Jal Rekha-DesignReview _ Defects 1.0               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4. Jal Rekha_FRS_REVIEW Ver 1.0                        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5. Mobile Code Review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</a:tr>
              <a:tr h="797310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Improve the overall DRE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Align the Customer UAT Team on the Scope of Testing . ( Test Cases / Test Scenarios )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2.Analyze the Type of defects raised And accordingly decision.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This will improve the overall DRE by 5%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To decrease / reduce  total review defects and total internal testing defect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3rd Week Aug'25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QA, TL, PM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1) UAT Scope of defects added and analyze at both client and at development team level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2) PROD Scope of defects added and analyze at both client and at development team level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</a:tr>
              <a:tr h="1435156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Productivity/Cycle time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Coding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Re-estimate the scope changes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Estimate the Scope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 Coding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 Addl. Changes that are requested by Customer/Client.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    3.1 Update the Scope document with that changes.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   3.2 Re-estimate the Size of the Changes.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   3.3 Coding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   3.4 Prepare Test Cases and Execution.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4. Sum the Size of the requirements against the total  Actuial efforts to Calc Productivity.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This will Improve the Productivity and Cycle time by 5-10%.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To Increase / Improve the productivity rate for coding.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4th Week Aug'25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Developer, TL, PM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1. Test Plan &amp; Test Case Review Checklist- JAL REKHA                                                                         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 2. </a:t>
                      </a:r>
                      <a:r>
                        <a:rPr lang="en-US" sz="500" u="none" strike="noStrike" dirty="0" err="1">
                          <a:effectLst/>
                        </a:rPr>
                        <a:t>Jal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Rekha</a:t>
                      </a:r>
                      <a:r>
                        <a:rPr lang="en-US" sz="500" u="none" strike="noStrike" dirty="0">
                          <a:effectLst/>
                        </a:rPr>
                        <a:t> Code Review Checklist                       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3. </a:t>
                      </a:r>
                      <a:r>
                        <a:rPr lang="en-US" sz="500" u="none" strike="noStrike" dirty="0" err="1">
                          <a:effectLst/>
                        </a:rPr>
                        <a:t>Jal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Rekha-DesignReview</a:t>
                      </a:r>
                      <a:r>
                        <a:rPr lang="en-US" sz="500" u="none" strike="noStrike" dirty="0">
                          <a:effectLst/>
                        </a:rPr>
                        <a:t> _ Defects 1.0                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4. </a:t>
                      </a:r>
                      <a:r>
                        <a:rPr lang="en-US" sz="500" u="none" strike="noStrike" dirty="0" err="1">
                          <a:effectLst/>
                        </a:rPr>
                        <a:t>Jal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Rekha_FRS_REVIEW</a:t>
                      </a:r>
                      <a:r>
                        <a:rPr lang="en-US" sz="500" u="none" strike="noStrike" dirty="0">
                          <a:effectLst/>
                        </a:rPr>
                        <a:t> </a:t>
                      </a:r>
                      <a:r>
                        <a:rPr lang="en-US" sz="500" u="none" strike="noStrike" dirty="0" err="1">
                          <a:effectLst/>
                        </a:rPr>
                        <a:t>Ver</a:t>
                      </a:r>
                      <a:r>
                        <a:rPr lang="en-US" sz="500" u="none" strike="noStrike" dirty="0">
                          <a:effectLst/>
                        </a:rPr>
                        <a:t> 1.0                         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5. Mobile Code Review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Cycle 2 – (Productivity)</a:t>
            </a:r>
            <a:endParaRPr lang="en-US" sz="138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01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B65596F-EF9F-8149-6679-1C47F8099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8B9C61-D444-9259-6350-C3F849DF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7620000" cy="762000"/>
          </a:xfrm>
        </p:spPr>
        <p:txBody>
          <a:bodyPr/>
          <a:lstStyle/>
          <a:p>
            <a:r>
              <a:rPr lang="en-US" dirty="0">
                <a:latin typeface="Calibri (Body)"/>
              </a:rPr>
              <a:t>Y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D9EE7B-1506-E423-0468-205F3A46A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936" y="762000"/>
            <a:ext cx="5567464" cy="4953000"/>
          </a:xfrm>
        </p:spPr>
        <p:txBody>
          <a:bodyPr>
            <a:normAutofit fontScale="40000" lnSpcReduction="20000"/>
          </a:bodyPr>
          <a:lstStyle/>
          <a:p>
            <a:r>
              <a:rPr lang="en-US" sz="3400" dirty="0" smtClean="0"/>
              <a:t>Productivity -  </a:t>
            </a:r>
            <a:r>
              <a:rPr lang="en-US" sz="3400" dirty="0"/>
              <a:t>Productivity represents the </a:t>
            </a:r>
            <a:r>
              <a:rPr lang="en-US" sz="3400" b="1" dirty="0"/>
              <a:t>output delivered per unit of effort</a:t>
            </a:r>
            <a:r>
              <a:rPr lang="en-US" sz="3400" dirty="0"/>
              <a:t> and is the </a:t>
            </a:r>
            <a:r>
              <a:rPr lang="en-US" sz="3400" b="1" dirty="0"/>
              <a:t>key performance outcome (Y)</a:t>
            </a:r>
            <a:r>
              <a:rPr lang="en-US" sz="3400" dirty="0"/>
              <a:t> for the </a:t>
            </a:r>
            <a:r>
              <a:rPr lang="en-US" sz="3400" dirty="0" err="1"/>
              <a:t>Jal</a:t>
            </a:r>
            <a:r>
              <a:rPr lang="en-US" sz="3400" dirty="0"/>
              <a:t> </a:t>
            </a:r>
            <a:r>
              <a:rPr lang="en-US" sz="3400" dirty="0" err="1"/>
              <a:t>Rekha</a:t>
            </a:r>
            <a:r>
              <a:rPr lang="en-US" sz="3400" dirty="0"/>
              <a:t> project.</a:t>
            </a:r>
          </a:p>
          <a:p>
            <a:r>
              <a:rPr lang="en-US" sz="3400" dirty="0"/>
              <a:t>In this project, </a:t>
            </a:r>
            <a:r>
              <a:rPr lang="en-US" sz="3400" b="1" dirty="0"/>
              <a:t>Productivity is measured as</a:t>
            </a:r>
            <a:r>
              <a:rPr lang="en-US" sz="3400" dirty="0"/>
              <a:t>:</a:t>
            </a:r>
          </a:p>
          <a:p>
            <a:r>
              <a:rPr lang="en-US" sz="3400" dirty="0"/>
              <a:t>Functional Size (USP / FP) delivered ÷ Actual Effort (Person Hours</a:t>
            </a:r>
            <a:r>
              <a:rPr lang="en-US" sz="3400" dirty="0" smtClean="0"/>
              <a:t>)</a:t>
            </a: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b="1" dirty="0"/>
              <a:t>Productivity is Reflected in </a:t>
            </a:r>
            <a:r>
              <a:rPr lang="en-US" b="1" dirty="0" err="1"/>
              <a:t>Jal</a:t>
            </a:r>
            <a:r>
              <a:rPr lang="en-US" b="1" dirty="0"/>
              <a:t> </a:t>
            </a:r>
            <a:r>
              <a:rPr lang="en-US" b="1" dirty="0" err="1"/>
              <a:t>Rekha</a:t>
            </a:r>
            <a:r>
              <a:rPr lang="en-US" b="1" dirty="0"/>
              <a:t> Data</a:t>
            </a:r>
          </a:p>
          <a:p>
            <a:r>
              <a:rPr lang="en-US" dirty="0"/>
              <a:t>From your data sheet:</a:t>
            </a:r>
          </a:p>
          <a:p>
            <a:r>
              <a:rPr lang="en-US" dirty="0"/>
              <a:t>Each module (FHTC, O&amp;M Billing, </a:t>
            </a:r>
            <a:r>
              <a:rPr lang="en-US" dirty="0" err="1"/>
              <a:t>Bharosa</a:t>
            </a:r>
            <a:r>
              <a:rPr lang="en-US" dirty="0"/>
              <a:t>, </a:t>
            </a:r>
            <a:r>
              <a:rPr lang="en-US" dirty="0" err="1"/>
              <a:t>Dhara</a:t>
            </a:r>
            <a:r>
              <a:rPr lang="en-US" dirty="0"/>
              <a:t>, </a:t>
            </a:r>
            <a:r>
              <a:rPr lang="en-US" dirty="0" err="1"/>
              <a:t>Sopan</a:t>
            </a:r>
            <a:r>
              <a:rPr lang="en-US" dirty="0"/>
              <a:t>, etc.) captures:</a:t>
            </a:r>
          </a:p>
          <a:p>
            <a:pPr lvl="1"/>
            <a:r>
              <a:rPr lang="en-US" b="1" dirty="0"/>
              <a:t>USP / FP size</a:t>
            </a:r>
            <a:endParaRPr lang="en-US" dirty="0"/>
          </a:p>
          <a:p>
            <a:pPr lvl="1"/>
            <a:r>
              <a:rPr lang="en-US" b="1" dirty="0"/>
              <a:t>Actual Effort (Requirement + Design + Coding + Testing + Reviews)</a:t>
            </a:r>
            <a:endParaRPr lang="en-US" dirty="0"/>
          </a:p>
          <a:p>
            <a:r>
              <a:rPr lang="en-US" dirty="0"/>
              <a:t>Productivity improves when:</a:t>
            </a:r>
          </a:p>
          <a:p>
            <a:pPr lvl="1"/>
            <a:r>
              <a:rPr lang="en-US" dirty="0"/>
              <a:t>More functional size is delivered</a:t>
            </a:r>
          </a:p>
          <a:p>
            <a:pPr lvl="1"/>
            <a:r>
              <a:rPr lang="en-US" dirty="0"/>
              <a:t>With </a:t>
            </a:r>
            <a:r>
              <a:rPr lang="en-US" b="1" dirty="0"/>
              <a:t>controlled or reduced effort</a:t>
            </a:r>
            <a:endParaRPr lang="en-US" dirty="0"/>
          </a:p>
          <a:p>
            <a:pPr lvl="1"/>
            <a:r>
              <a:rPr lang="en-US" dirty="0"/>
              <a:t>And </a:t>
            </a:r>
            <a:r>
              <a:rPr lang="en-US" b="1" dirty="0"/>
              <a:t>lower rework due to </a:t>
            </a:r>
            <a:r>
              <a:rPr lang="en-US" b="1" dirty="0" smtClean="0"/>
              <a:t>defects</a:t>
            </a:r>
          </a:p>
          <a:p>
            <a:pPr lvl="1"/>
            <a:endParaRPr lang="en-US" b="1" dirty="0"/>
          </a:p>
          <a:p>
            <a:r>
              <a:rPr lang="en-US" b="1" dirty="0"/>
              <a:t>Key Observations – Cycle 1 Productivity</a:t>
            </a:r>
          </a:p>
          <a:p>
            <a:r>
              <a:rPr lang="en-US" dirty="0"/>
              <a:t>Modules with </a:t>
            </a:r>
            <a:r>
              <a:rPr lang="en-US" b="1" dirty="0"/>
              <a:t>strong reviews and stable requirements</a:t>
            </a:r>
            <a:r>
              <a:rPr lang="en-US" dirty="0"/>
              <a:t> (e.g., </a:t>
            </a:r>
            <a:r>
              <a:rPr lang="en-US" dirty="0" err="1"/>
              <a:t>Bharosa</a:t>
            </a:r>
            <a:r>
              <a:rPr lang="en-US" dirty="0"/>
              <a:t>, </a:t>
            </a:r>
            <a:r>
              <a:rPr lang="en-US" dirty="0" err="1"/>
              <a:t>Nirmal</a:t>
            </a:r>
            <a:r>
              <a:rPr lang="en-US" dirty="0"/>
              <a:t>, </a:t>
            </a:r>
            <a:r>
              <a:rPr lang="en-US" dirty="0" err="1"/>
              <a:t>Sahbhagita</a:t>
            </a:r>
            <a:r>
              <a:rPr lang="en-US" dirty="0"/>
              <a:t>) show </a:t>
            </a:r>
            <a:r>
              <a:rPr lang="en-US" b="1" dirty="0"/>
              <a:t>better productivity</a:t>
            </a:r>
            <a:endParaRPr lang="en-US" dirty="0"/>
          </a:p>
          <a:p>
            <a:r>
              <a:rPr lang="en-US" dirty="0"/>
              <a:t>Modules with </a:t>
            </a:r>
            <a:r>
              <a:rPr lang="en-US" b="1" dirty="0"/>
              <a:t>frequent change requests</a:t>
            </a:r>
            <a:r>
              <a:rPr lang="en-US" dirty="0"/>
              <a:t> (</a:t>
            </a:r>
            <a:r>
              <a:rPr lang="en-US" dirty="0" err="1"/>
              <a:t>Dhara</a:t>
            </a:r>
            <a:r>
              <a:rPr lang="en-US" dirty="0"/>
              <a:t> Rework, O&amp;M Billing CRs) show:</a:t>
            </a:r>
          </a:p>
          <a:p>
            <a:pPr lvl="1"/>
            <a:r>
              <a:rPr lang="en-US" dirty="0"/>
              <a:t>Increased effort</a:t>
            </a:r>
          </a:p>
          <a:p>
            <a:pPr lvl="1"/>
            <a:r>
              <a:rPr lang="en-US" dirty="0"/>
              <a:t>Lower productivity due to rework</a:t>
            </a:r>
          </a:p>
          <a:p>
            <a:r>
              <a:rPr lang="en-US" dirty="0"/>
              <a:t>Review efforts (Requirement, Design, Code, Test Review) helped:</a:t>
            </a:r>
          </a:p>
          <a:p>
            <a:pPr lvl="1"/>
            <a:r>
              <a:rPr lang="en-US" dirty="0"/>
              <a:t>Reduce internal and UAT defects</a:t>
            </a:r>
          </a:p>
          <a:p>
            <a:pPr lvl="1"/>
            <a:r>
              <a:rPr lang="en-US" dirty="0"/>
              <a:t>Protect productivity in later phases</a:t>
            </a:r>
          </a:p>
          <a:p>
            <a:endParaRPr lang="en-US" b="1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23992983-46E2-F07A-141C-C4296D52F165}"/>
              </a:ext>
            </a:extLst>
          </p:cNvPr>
          <p:cNvSpPr txBox="1">
            <a:spLocks/>
          </p:cNvSpPr>
          <p:nvPr/>
        </p:nvSpPr>
        <p:spPr>
          <a:xfrm>
            <a:off x="5903068" y="76200"/>
            <a:ext cx="6400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 (Body)"/>
                <a:ea typeface="+mj-ea"/>
                <a:cs typeface="+mj-cs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5pPr>
            <a:lvl6pPr marL="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6pPr>
            <a:lvl7pPr marL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7pPr>
            <a:lvl8pPr marL="10287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8pPr>
            <a:lvl9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9pPr>
          </a:lstStyle>
          <a:p>
            <a:r>
              <a:rPr lang="en-US" dirty="0"/>
              <a:t>X factors (write the x Factors below from your projects)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8C3F6158-DA8B-3674-C245-49A823FE25DA}"/>
              </a:ext>
            </a:extLst>
          </p:cNvPr>
          <p:cNvSpPr txBox="1">
            <a:spLocks/>
          </p:cNvSpPr>
          <p:nvPr/>
        </p:nvSpPr>
        <p:spPr>
          <a:xfrm>
            <a:off x="6019800" y="1043940"/>
            <a:ext cx="4953000" cy="528066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/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IN" sz="1600" dirty="0"/>
              <a:t>Code </a:t>
            </a:r>
            <a:r>
              <a:rPr lang="en-IN" sz="1600" dirty="0" smtClean="0"/>
              <a:t>Rate -  </a:t>
            </a:r>
            <a:r>
              <a:rPr lang="en-US" sz="1600" dirty="0"/>
              <a:t>Coding output achieved per unit coding </a:t>
            </a:r>
            <a:r>
              <a:rPr lang="en-US" sz="1600" dirty="0" smtClean="0"/>
              <a:t>effort</a:t>
            </a:r>
          </a:p>
          <a:p>
            <a:r>
              <a:rPr lang="en-US" sz="1100" dirty="0"/>
              <a:t>It reflects:</a:t>
            </a:r>
          </a:p>
          <a:p>
            <a:r>
              <a:rPr lang="en-US" sz="1100" dirty="0"/>
              <a:t>Developer efficiency</a:t>
            </a:r>
          </a:p>
          <a:p>
            <a:r>
              <a:rPr lang="en-US" sz="1100" dirty="0"/>
              <a:t>Code quality</a:t>
            </a:r>
          </a:p>
          <a:p>
            <a:r>
              <a:rPr lang="en-US" sz="1100" dirty="0"/>
              <a:t>Impact of code reviews and rework</a:t>
            </a:r>
          </a:p>
          <a:p>
            <a:r>
              <a:rPr lang="en-US" sz="1100" b="1" dirty="0"/>
              <a:t>Code Rate is an X Factor</a:t>
            </a:r>
          </a:p>
          <a:p>
            <a:r>
              <a:rPr lang="en-US" sz="1100" dirty="0"/>
              <a:t>Directly controllable through:</a:t>
            </a:r>
          </a:p>
          <a:p>
            <a:pPr lvl="1"/>
            <a:r>
              <a:rPr lang="en-US" sz="1100" dirty="0"/>
              <a:t>Coding standards</a:t>
            </a:r>
          </a:p>
          <a:p>
            <a:pPr lvl="1"/>
            <a:r>
              <a:rPr lang="en-US" sz="1100" dirty="0"/>
              <a:t>Code reviews</a:t>
            </a:r>
          </a:p>
          <a:p>
            <a:pPr lvl="1"/>
            <a:r>
              <a:rPr lang="en-US" sz="1100" dirty="0"/>
              <a:t>Re-estimation after CRs</a:t>
            </a:r>
          </a:p>
          <a:p>
            <a:r>
              <a:rPr lang="en-US" sz="1100" dirty="0"/>
              <a:t>Strongly influences productivity</a:t>
            </a:r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100" dirty="0"/>
              <a:t>Improved Code Rate ⇒ Higher </a:t>
            </a:r>
            <a:r>
              <a:rPr lang="en-US" sz="1100" dirty="0" smtClean="0"/>
              <a:t>Productivity</a:t>
            </a:r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endParaRPr lang="en-US" sz="1100" dirty="0"/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IN" sz="1600" dirty="0"/>
              <a:t>Testing </a:t>
            </a:r>
            <a:r>
              <a:rPr lang="en-IN" sz="1600" dirty="0" smtClean="0"/>
              <a:t>Rate</a:t>
            </a:r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600" dirty="0"/>
              <a:t>Testing coverage and completion per unit testing </a:t>
            </a:r>
            <a:r>
              <a:rPr lang="en-US" sz="1600" dirty="0" smtClean="0"/>
              <a:t>effort</a:t>
            </a:r>
          </a:p>
          <a:p>
            <a:r>
              <a:rPr lang="en-US" sz="1600" dirty="0"/>
              <a:t>It reflects:</a:t>
            </a:r>
          </a:p>
          <a:p>
            <a:r>
              <a:rPr lang="en-US" sz="1600" dirty="0"/>
              <a:t>Test case quality</a:t>
            </a:r>
          </a:p>
          <a:p>
            <a:r>
              <a:rPr lang="en-US" sz="1600" dirty="0"/>
              <a:t>Defect detection effectiveness</a:t>
            </a:r>
          </a:p>
          <a:p>
            <a:r>
              <a:rPr lang="en-US" sz="1600" dirty="0"/>
              <a:t>Stability of requirements and code</a:t>
            </a:r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endParaRPr lang="en-US" sz="1600" dirty="0" smtClean="0"/>
          </a:p>
          <a:p>
            <a:r>
              <a:rPr lang="en-US" b="1" dirty="0"/>
              <a:t>Testing Rate is an X Factor</a:t>
            </a:r>
          </a:p>
          <a:p>
            <a:r>
              <a:rPr lang="en-US" dirty="0"/>
              <a:t>Can be controlled via:</a:t>
            </a:r>
          </a:p>
          <a:p>
            <a:pPr lvl="1"/>
            <a:r>
              <a:rPr lang="en-US" dirty="0"/>
              <a:t>Early test design</a:t>
            </a:r>
          </a:p>
          <a:p>
            <a:pPr lvl="1"/>
            <a:r>
              <a:rPr lang="en-US" dirty="0"/>
              <a:t>Test case reviews</a:t>
            </a:r>
          </a:p>
          <a:p>
            <a:pPr lvl="1"/>
            <a:r>
              <a:rPr lang="en-US" dirty="0"/>
              <a:t>Better requirement clarity</a:t>
            </a:r>
          </a:p>
          <a:p>
            <a:r>
              <a:rPr lang="en-US" dirty="0"/>
              <a:t>Directly impacts:</a:t>
            </a:r>
          </a:p>
          <a:p>
            <a:pPr lvl="1"/>
            <a:r>
              <a:rPr lang="en-US" dirty="0"/>
              <a:t>Rework</a:t>
            </a:r>
          </a:p>
          <a:p>
            <a:pPr lvl="1"/>
            <a:r>
              <a:rPr lang="en-US" dirty="0"/>
              <a:t>Cycle time</a:t>
            </a:r>
          </a:p>
          <a:p>
            <a:pPr lvl="1"/>
            <a:r>
              <a:rPr lang="en-US" dirty="0" smtClean="0"/>
              <a:t>Productivity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Improved </a:t>
            </a:r>
            <a:r>
              <a:rPr lang="en-US" dirty="0"/>
              <a:t>Testing Rate ⇒ Reduced defects ⇒ Improved </a:t>
            </a:r>
            <a:r>
              <a:rPr lang="en-US" dirty="0" smtClean="0"/>
              <a:t>Productivity.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51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505FFB26-94E9-0482-62A5-CBD80A90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DC2BBA-F733-14C3-610D-0AEF2F66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1"/>
            <a:ext cx="11049000" cy="790799"/>
          </a:xfrm>
        </p:spPr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068065D-0989-BB13-8E88-495F2E76A3C8}"/>
              </a:ext>
            </a:extLst>
          </p:cNvPr>
          <p:cNvSpPr txBox="1"/>
          <p:nvPr/>
        </p:nvSpPr>
        <p:spPr>
          <a:xfrm>
            <a:off x="659860" y="773439"/>
            <a:ext cx="11048999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Productivity analysis for </a:t>
            </a:r>
            <a:r>
              <a:rPr lang="en-US" sz="1100" b="1" dirty="0"/>
              <a:t>Cycle-2</a:t>
            </a:r>
            <a:r>
              <a:rPr lang="en-US" sz="1100" dirty="0"/>
              <a:t> has been derived from the </a:t>
            </a:r>
            <a:r>
              <a:rPr lang="en-US" sz="1100" b="1" dirty="0" err="1"/>
              <a:t>Jal</a:t>
            </a:r>
            <a:r>
              <a:rPr lang="en-US" sz="1100" b="1" dirty="0"/>
              <a:t> </a:t>
            </a:r>
            <a:r>
              <a:rPr lang="en-US" sz="1100" b="1" dirty="0" err="1"/>
              <a:t>Rekha</a:t>
            </a:r>
            <a:r>
              <a:rPr lang="en-US" sz="1100" b="1" dirty="0"/>
              <a:t> Data Collection Sheet (Cycle-2)</a:t>
            </a:r>
            <a:r>
              <a:rPr lang="en-US" sz="1100" dirty="0"/>
              <a:t>, which captures: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Module-wise functional size (USP / FP)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Phase-wise actual effort (Requirement, Design, Coding, Testing, Reviews)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Defects and rework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Code rate and testing rate metrics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This data provides a </a:t>
            </a:r>
            <a:r>
              <a:rPr lang="en-US" sz="1100" b="1" dirty="0"/>
              <a:t>quantitative and traceable basis</a:t>
            </a:r>
            <a:r>
              <a:rPr lang="en-US" sz="1100" dirty="0"/>
              <a:t> for productivity measurement.</a:t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b="1" dirty="0"/>
              <a:t>Productivity = Functional Size Delivered (USP / FP) ÷ Actual Effort (Person </a:t>
            </a:r>
            <a:r>
              <a:rPr lang="en-US" sz="1100" b="1" dirty="0" smtClean="0"/>
              <a:t>Hours)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</a:rPr>
              <a:t>Each </a:t>
            </a:r>
            <a:r>
              <a:rPr lang="en-US" sz="1100" dirty="0" err="1">
                <a:latin typeface="Arial" panose="020B0604020202020204" pitchFamily="34" charset="0"/>
              </a:rPr>
              <a:t>Jal</a:t>
            </a:r>
            <a:r>
              <a:rPr lang="en-US" sz="1100" dirty="0">
                <a:latin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</a:rPr>
              <a:t>Rekha</a:t>
            </a:r>
            <a:r>
              <a:rPr lang="en-US" sz="1100" dirty="0">
                <a:latin typeface="Arial" panose="020B0604020202020204" pitchFamily="34" charset="0"/>
              </a:rPr>
              <a:t> module (FHTC, O&amp;M Billing, </a:t>
            </a:r>
            <a:r>
              <a:rPr lang="en-US" sz="1100" dirty="0" err="1">
                <a:latin typeface="Arial" panose="020B0604020202020204" pitchFamily="34" charset="0"/>
              </a:rPr>
              <a:t>Bharosa</a:t>
            </a:r>
            <a:r>
              <a:rPr lang="en-US" sz="1100" dirty="0">
                <a:latin typeface="Arial" panose="020B0604020202020204" pitchFamily="34" charset="0"/>
              </a:rPr>
              <a:t>, </a:t>
            </a:r>
            <a:r>
              <a:rPr lang="en-US" sz="1100" dirty="0" err="1">
                <a:latin typeface="Arial" panose="020B0604020202020204" pitchFamily="34" charset="0"/>
              </a:rPr>
              <a:t>Dhara</a:t>
            </a:r>
            <a:r>
              <a:rPr lang="en-US" sz="1100" dirty="0">
                <a:latin typeface="Arial" panose="020B0604020202020204" pitchFamily="34" charset="0"/>
              </a:rPr>
              <a:t>, Master, </a:t>
            </a:r>
            <a:r>
              <a:rPr lang="en-US" sz="1100" dirty="0" err="1">
                <a:latin typeface="Arial" panose="020B0604020202020204" pitchFamily="34" charset="0"/>
              </a:rPr>
              <a:t>Nirmal</a:t>
            </a:r>
            <a:r>
              <a:rPr lang="en-US" sz="1100" dirty="0">
                <a:latin typeface="Arial" panose="020B0604020202020204" pitchFamily="34" charset="0"/>
              </a:rPr>
              <a:t>, </a:t>
            </a:r>
            <a:r>
              <a:rPr lang="en-US" sz="1100" dirty="0" err="1">
                <a:latin typeface="Arial" panose="020B0604020202020204" pitchFamily="34" charset="0"/>
              </a:rPr>
              <a:t>Sahbhagita</a:t>
            </a:r>
            <a:r>
              <a:rPr lang="en-US" sz="1100" dirty="0">
                <a:latin typeface="Arial" panose="020B0604020202020204" pitchFamily="34" charset="0"/>
              </a:rPr>
              <a:t>, </a:t>
            </a:r>
            <a:r>
              <a:rPr lang="en-US" sz="1100" dirty="0" err="1">
                <a:latin typeface="Arial" panose="020B0604020202020204" pitchFamily="34" charset="0"/>
              </a:rPr>
              <a:t>Sopan</a:t>
            </a:r>
            <a:r>
              <a:rPr lang="en-US" sz="1100" dirty="0">
                <a:latin typeface="Arial" panose="020B0604020202020204" pitchFamily="34" charset="0"/>
              </a:rPr>
              <a:t>) contains: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100" dirty="0">
                <a:latin typeface="Arial" panose="020B0604020202020204" pitchFamily="34" charset="0"/>
              </a:rPr>
              <a:t>Planned </a:t>
            </a:r>
            <a:r>
              <a:rPr lang="en-US" sz="1100" dirty="0" err="1">
                <a:latin typeface="Arial" panose="020B0604020202020204" pitchFamily="34" charset="0"/>
              </a:rPr>
              <a:t>vs</a:t>
            </a:r>
            <a:r>
              <a:rPr lang="en-US" sz="1100" dirty="0">
                <a:latin typeface="Arial" panose="020B0604020202020204" pitchFamily="34" charset="0"/>
              </a:rPr>
              <a:t> actual effort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100" dirty="0">
                <a:latin typeface="Arial" panose="020B0604020202020204" pitchFamily="34" charset="0"/>
              </a:rPr>
              <a:t>Phase-wise effort breakup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100" dirty="0">
                <a:latin typeface="Arial" panose="020B0604020202020204" pitchFamily="34" charset="0"/>
              </a:rPr>
              <a:t>Defect counts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100" dirty="0">
                <a:latin typeface="Arial" panose="020B0604020202020204" pitchFamily="34" charset="0"/>
              </a:rPr>
              <a:t>Code rate and testing rate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100" dirty="0">
                <a:latin typeface="Arial" panose="020B0604020202020204" pitchFamily="34" charset="0"/>
              </a:rPr>
              <a:t>Productivity is computed </a:t>
            </a:r>
            <a:r>
              <a:rPr lang="en-US" sz="1100" b="1" dirty="0">
                <a:latin typeface="Arial" panose="020B0604020202020204" pitchFamily="34" charset="0"/>
              </a:rPr>
              <a:t>module-wise</a:t>
            </a:r>
            <a:r>
              <a:rPr lang="en-US" sz="1100" dirty="0">
                <a:latin typeface="Arial" panose="020B0604020202020204" pitchFamily="34" charset="0"/>
              </a:rPr>
              <a:t> and </a:t>
            </a:r>
            <a:r>
              <a:rPr lang="en-US" sz="1100" b="1" dirty="0">
                <a:latin typeface="Arial" panose="020B0604020202020204" pitchFamily="34" charset="0"/>
              </a:rPr>
              <a:t>aggregated at cycle </a:t>
            </a:r>
            <a:r>
              <a:rPr lang="en-US" sz="1100" b="1" dirty="0" smtClean="0">
                <a:latin typeface="Arial" panose="020B0604020202020204" pitchFamily="34" charset="0"/>
              </a:rPr>
              <a:t>level</a:t>
            </a:r>
            <a:endParaRPr lang="en-US" sz="1100" dirty="0"/>
          </a:p>
          <a:p>
            <a:endParaRPr lang="en-US" sz="1100" dirty="0" smtClean="0"/>
          </a:p>
          <a:p>
            <a:r>
              <a:rPr lang="en-US" sz="1100" b="1" dirty="0"/>
              <a:t>Relationship with X Factors (Cycle-2)</a:t>
            </a:r>
          </a:p>
          <a:p>
            <a:r>
              <a:rPr lang="en-US" sz="1100" dirty="0"/>
              <a:t>Cycle-2 productivity is strongly influenced by the following </a:t>
            </a:r>
            <a:r>
              <a:rPr lang="en-US" sz="1100" b="1" dirty="0"/>
              <a:t>X Factors</a:t>
            </a:r>
            <a:r>
              <a:rPr lang="en-US" sz="1100" dirty="0"/>
              <a:t> captured in the same data sheet:</a:t>
            </a:r>
          </a:p>
          <a:p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dirty="0" smtClean="0"/>
              <a:t/>
            </a:r>
            <a:br>
              <a:rPr lang="en-US" sz="1100" dirty="0" smtClean="0"/>
            </a:br>
            <a:endParaRPr lang="en-US" sz="1100" dirty="0" smtClean="0"/>
          </a:p>
          <a:p>
            <a:endParaRPr lang="en-US" sz="1100" dirty="0"/>
          </a:p>
          <a:p>
            <a:endParaRPr lang="en-US" sz="1100" dirty="0" smtClean="0"/>
          </a:p>
          <a:p>
            <a:r>
              <a:rPr lang="en-US" sz="1100" dirty="0" smtClean="0"/>
              <a:t/>
            </a:r>
            <a:br>
              <a:rPr lang="en-US" sz="1100" dirty="0" smtClean="0"/>
            </a:br>
            <a:endParaRPr lang="en-US" sz="1100" dirty="0"/>
          </a:p>
          <a:p>
            <a:r>
              <a:rPr lang="en-US" sz="1100" b="1" dirty="0"/>
              <a:t>Conclusion – Cycle-2 Productivity</a:t>
            </a:r>
          </a:p>
          <a:p>
            <a:r>
              <a:rPr lang="en-US" sz="1100" dirty="0"/>
              <a:t>Cycle-2 productivity is </a:t>
            </a:r>
            <a:r>
              <a:rPr lang="en-US" sz="1100" b="1" dirty="0"/>
              <a:t>data-driven and measurable</a:t>
            </a:r>
            <a:endParaRPr lang="en-US" sz="1100" dirty="0"/>
          </a:p>
          <a:p>
            <a:r>
              <a:rPr lang="en-US" sz="1100" dirty="0"/>
              <a:t>Improvements are a result of:</a:t>
            </a:r>
          </a:p>
          <a:p>
            <a:pPr lvl="1"/>
            <a:r>
              <a:rPr lang="en-US" sz="1100" dirty="0"/>
              <a:t>Strong review processes</a:t>
            </a:r>
          </a:p>
          <a:p>
            <a:pPr lvl="1"/>
            <a:r>
              <a:rPr lang="en-US" sz="1100" dirty="0"/>
              <a:t>Better estimation and scope control</a:t>
            </a:r>
          </a:p>
          <a:p>
            <a:pPr lvl="1"/>
            <a:r>
              <a:rPr lang="en-US" sz="1100" dirty="0"/>
              <a:t>Improved code and testing rates</a:t>
            </a:r>
          </a:p>
          <a:p>
            <a:r>
              <a:rPr lang="en-US" sz="1100" dirty="0"/>
              <a:t>The Cycle-2 data collection sheet provides </a:t>
            </a:r>
            <a:r>
              <a:rPr lang="en-US" sz="1100" b="1" dirty="0"/>
              <a:t>objective evidence</a:t>
            </a:r>
            <a:r>
              <a:rPr lang="en-US" sz="1100" dirty="0"/>
              <a:t> of productivity improvement</a:t>
            </a:r>
          </a:p>
          <a:p>
            <a:endParaRPr lang="en-US" sz="1100" dirty="0" smtClean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4" name="Rectangle 3"/>
          <p:cNvSpPr/>
          <p:nvPr/>
        </p:nvSpPr>
        <p:spPr>
          <a:xfrm>
            <a:off x="1066800" y="6365068"/>
            <a:ext cx="937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Please Central Repository link for (Data Collection, Action Plan): &lt;&lt;link&gt;&gt;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42569"/>
              </p:ext>
            </p:extLst>
          </p:nvPr>
        </p:nvGraphicFramePr>
        <p:xfrm>
          <a:off x="2209800" y="4114800"/>
          <a:ext cx="4876800" cy="8229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143000"/>
                <a:gridCol w="37338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X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Influence on Productivity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Code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Higher coding efficiency reduced rework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Testing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Better test coverage reduced defect leakage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19288"/>
              </p:ext>
            </p:extLst>
          </p:nvPr>
        </p:nvGraphicFramePr>
        <p:xfrm>
          <a:off x="8534400" y="1752600"/>
          <a:ext cx="2603500" cy="368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9800"/>
                <a:gridCol w="825500"/>
                <a:gridCol w="838200"/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0.641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851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2AA9C47-8B83-3B25-657A-5F5CA5E2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6FFC0FDA-9B4B-CACF-DAE2-B7909E7FB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396875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Chart – Productivity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2E9110D-1451-528E-69C5-49F51CC562D2}"/>
              </a:ext>
            </a:extLst>
          </p:cNvPr>
          <p:cNvSpPr txBox="1"/>
          <p:nvPr/>
        </p:nvSpPr>
        <p:spPr>
          <a:xfrm>
            <a:off x="685800" y="990600"/>
            <a:ext cx="11185209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The </a:t>
            </a:r>
            <a:r>
              <a:rPr lang="en-US" sz="1100" b="1" dirty="0"/>
              <a:t>Productivity Control Chart</a:t>
            </a:r>
            <a:r>
              <a:rPr lang="en-US" sz="1100" dirty="0"/>
              <a:t> for Cycle-2 has been generated using actual productivity values recorded across modules </a:t>
            </a:r>
            <a:endParaRPr lang="en-US" sz="1100" dirty="0" smtClean="0"/>
          </a:p>
          <a:p>
            <a:r>
              <a:rPr lang="en-US" sz="1100" dirty="0" smtClean="0"/>
              <a:t>and </a:t>
            </a:r>
            <a:r>
              <a:rPr lang="en-US" sz="1100" dirty="0"/>
              <a:t>time periods from the </a:t>
            </a:r>
            <a:r>
              <a:rPr lang="en-US" sz="1100" b="1" dirty="0"/>
              <a:t>Cycle-2 data collection sheet</a:t>
            </a:r>
            <a:r>
              <a:rPr lang="en-US" sz="1100" dirty="0" smtClean="0"/>
              <a:t>.</a:t>
            </a:r>
            <a:br>
              <a:rPr lang="en-US" sz="1100" dirty="0" smtClean="0"/>
            </a:br>
            <a:endParaRPr lang="en-US" sz="1100" dirty="0" smtClean="0"/>
          </a:p>
          <a:p>
            <a:endParaRPr lang="en-US" sz="1100" dirty="0" smtClean="0"/>
          </a:p>
          <a:p>
            <a:r>
              <a:rPr lang="en-US" sz="1100" b="1" dirty="0" smtClean="0"/>
              <a:t>Interpretation </a:t>
            </a:r>
            <a:r>
              <a:rPr lang="en-US" sz="1100" b="1" dirty="0"/>
              <a:t>of Cycle-2 Productivity Control Chart</a:t>
            </a:r>
          </a:p>
          <a:p>
            <a:r>
              <a:rPr lang="en-US" sz="1100" b="1" dirty="0"/>
              <a:t>Stable Process Behavior</a:t>
            </a:r>
            <a:endParaRPr lang="en-US" sz="1100" dirty="0"/>
          </a:p>
          <a:p>
            <a:pPr lvl="1"/>
            <a:r>
              <a:rPr lang="en-US" sz="1100" dirty="0"/>
              <a:t>Majority of productivity data points lie </a:t>
            </a:r>
            <a:r>
              <a:rPr lang="en-US" sz="1100" b="1" dirty="0"/>
              <a:t>within UCL and LCL</a:t>
            </a:r>
            <a:endParaRPr lang="en-US" sz="1100" dirty="0"/>
          </a:p>
          <a:p>
            <a:pPr lvl="1"/>
            <a:r>
              <a:rPr lang="en-US" sz="1100" dirty="0"/>
              <a:t>No abnormal spikes or dips observed</a:t>
            </a:r>
          </a:p>
          <a:p>
            <a:pPr lvl="1"/>
            <a:r>
              <a:rPr lang="en-US" sz="1100" dirty="0"/>
              <a:t>Indicates a </a:t>
            </a:r>
            <a:r>
              <a:rPr lang="en-US" sz="1100" b="1" dirty="0"/>
              <a:t>controlled and stable productivity process</a:t>
            </a:r>
            <a:endParaRPr lang="en-US" sz="1100" dirty="0"/>
          </a:p>
          <a:p>
            <a:r>
              <a:rPr lang="en-US" sz="1100" b="1" dirty="0"/>
              <a:t>Improved Mean Productivity</a:t>
            </a:r>
            <a:endParaRPr lang="en-US" sz="1100" dirty="0"/>
          </a:p>
          <a:p>
            <a:pPr lvl="1"/>
            <a:r>
              <a:rPr lang="en-US" sz="1100" dirty="0"/>
              <a:t>The </a:t>
            </a:r>
            <a:r>
              <a:rPr lang="en-US" sz="1100" b="1" dirty="0"/>
              <a:t>average productivity in Cycle-2 is higher</a:t>
            </a:r>
            <a:r>
              <a:rPr lang="en-US" sz="1100" dirty="0"/>
              <a:t> compared to Cycle-1</a:t>
            </a:r>
          </a:p>
          <a:p>
            <a:pPr lvl="1"/>
            <a:r>
              <a:rPr lang="en-US" sz="1100" dirty="0"/>
              <a:t>Improvement is attributed to:</a:t>
            </a:r>
          </a:p>
          <a:p>
            <a:pPr lvl="2"/>
            <a:r>
              <a:rPr lang="en-US" sz="1100" dirty="0"/>
              <a:t>Stronger requirement and design reviews</a:t>
            </a:r>
          </a:p>
          <a:p>
            <a:pPr lvl="2"/>
            <a:r>
              <a:rPr lang="en-US" sz="1100" dirty="0"/>
              <a:t>Mandatory code and test case reviews</a:t>
            </a:r>
          </a:p>
          <a:p>
            <a:pPr lvl="2"/>
            <a:r>
              <a:rPr lang="en-US" sz="1100" dirty="0"/>
              <a:t>Better scope re-estimation for change requests</a:t>
            </a:r>
          </a:p>
          <a:p>
            <a:r>
              <a:rPr lang="en-US" sz="1100" b="1" dirty="0"/>
              <a:t>Reduced Variability</a:t>
            </a:r>
            <a:endParaRPr lang="en-US" sz="1100" dirty="0"/>
          </a:p>
          <a:p>
            <a:pPr lvl="1"/>
            <a:r>
              <a:rPr lang="en-US" sz="1100" dirty="0"/>
              <a:t>Productivity variation is narrower than Cycle-1</a:t>
            </a:r>
          </a:p>
          <a:p>
            <a:pPr lvl="1"/>
            <a:r>
              <a:rPr lang="en-US" sz="1100" dirty="0"/>
              <a:t>Demonstrates:</a:t>
            </a:r>
          </a:p>
          <a:p>
            <a:pPr lvl="2"/>
            <a:r>
              <a:rPr lang="en-US" sz="1100" dirty="0"/>
              <a:t>Better estimation accuracy</a:t>
            </a:r>
          </a:p>
          <a:p>
            <a:pPr lvl="2"/>
            <a:r>
              <a:rPr lang="en-US" sz="1100" dirty="0"/>
              <a:t>Reduced rework and defect leakage</a:t>
            </a:r>
          </a:p>
          <a:p>
            <a:pPr lvl="2"/>
            <a:r>
              <a:rPr lang="en-US" sz="1100" dirty="0"/>
              <a:t>More predictable delivery performance</a:t>
            </a:r>
          </a:p>
          <a:p>
            <a:endParaRPr lang="en-US" sz="1100" b="1" dirty="0" smtClean="0"/>
          </a:p>
          <a:p>
            <a:endParaRPr lang="en-US" sz="1100" b="1" dirty="0" smtClean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b="1" dirty="0" smtClean="0"/>
              <a:t>Conclusion </a:t>
            </a:r>
            <a:r>
              <a:rPr lang="en-US" sz="1100" b="1" dirty="0"/>
              <a:t>– Cycle-2 Y Factor (Productivity)</a:t>
            </a:r>
          </a:p>
          <a:p>
            <a:r>
              <a:rPr lang="en-US" sz="1100" dirty="0"/>
              <a:t>The Cycle-2 Productivity control chart demonstrates that:</a:t>
            </a:r>
          </a:p>
          <a:p>
            <a:r>
              <a:rPr lang="en-US" sz="1100" dirty="0"/>
              <a:t>Productivity is </a:t>
            </a:r>
            <a:r>
              <a:rPr lang="en-US" sz="1100" b="1" dirty="0"/>
              <a:t>measured, monitored, and controlled statistically</a:t>
            </a:r>
            <a:endParaRPr lang="en-US" sz="1100" dirty="0"/>
          </a:p>
          <a:p>
            <a:r>
              <a:rPr lang="en-US" sz="1100" dirty="0"/>
              <a:t>Improvements are </a:t>
            </a:r>
            <a:r>
              <a:rPr lang="en-US" sz="1100" b="1" dirty="0"/>
              <a:t>systematic and repeatable</a:t>
            </a:r>
            <a:endParaRPr lang="en-US" sz="1100" dirty="0"/>
          </a:p>
          <a:p>
            <a:r>
              <a:rPr lang="en-US" sz="1100" dirty="0"/>
              <a:t>The </a:t>
            </a:r>
            <a:r>
              <a:rPr lang="en-US" sz="1100" dirty="0" err="1"/>
              <a:t>Jal</a:t>
            </a:r>
            <a:r>
              <a:rPr lang="en-US" sz="1100" dirty="0"/>
              <a:t> </a:t>
            </a:r>
            <a:r>
              <a:rPr lang="en-US" sz="1100" dirty="0" err="1"/>
              <a:t>Rekha</a:t>
            </a:r>
            <a:r>
              <a:rPr lang="en-US" sz="1100" dirty="0"/>
              <a:t> project has moved from reactive correction to </a:t>
            </a:r>
            <a:r>
              <a:rPr lang="en-US" sz="1100" b="1" dirty="0"/>
              <a:t>proactive performance </a:t>
            </a:r>
            <a:r>
              <a:rPr lang="en-US" sz="1100" b="1" dirty="0" smtClean="0"/>
              <a:t>management</a:t>
            </a:r>
          </a:p>
          <a:p>
            <a:endParaRPr lang="en-US" sz="1100" b="1" dirty="0"/>
          </a:p>
          <a:p>
            <a:r>
              <a:rPr lang="en-US" sz="1100" dirty="0"/>
              <a:t>Cycle-2 Productivity (Y Factor) shows a stable and improved trend, validated through control charts derived from the data collection sheet, indicating a statistically controlled and predictable delivery process.</a:t>
            </a:r>
          </a:p>
          <a:p>
            <a:endParaRPr lang="en-IN" sz="1100" b="1" dirty="0">
              <a:latin typeface="Aptos Display" panose="020B00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384609" cy="45155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00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E4CB4B1-4914-2D17-27FE-C080C9338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B0791600-B463-B1AC-07E0-65C0872B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0857"/>
            <a:ext cx="9277350" cy="733544"/>
          </a:xfrm>
        </p:spPr>
        <p:txBody>
          <a:bodyPr>
            <a:normAutofit/>
          </a:bodyPr>
          <a:lstStyle/>
          <a:p>
            <a:r>
              <a:rPr lang="en-US" dirty="0"/>
              <a:t>Control Chart – Code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7035A78-0309-DA6D-3256-C3FE834E2A47}"/>
              </a:ext>
            </a:extLst>
          </p:cNvPr>
          <p:cNvSpPr txBox="1"/>
          <p:nvPr/>
        </p:nvSpPr>
        <p:spPr>
          <a:xfrm>
            <a:off x="685800" y="1133356"/>
            <a:ext cx="11125199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 </a:t>
            </a:r>
            <a:r>
              <a:rPr lang="en-US" sz="1100" b="1" dirty="0"/>
              <a:t>Cycle-2</a:t>
            </a:r>
            <a:r>
              <a:rPr lang="en-US" sz="1100" dirty="0"/>
              <a:t>, </a:t>
            </a:r>
            <a:r>
              <a:rPr lang="en-US" sz="1100" b="1" dirty="0"/>
              <a:t>Code Rate (X Factor)</a:t>
            </a:r>
            <a:r>
              <a:rPr lang="en-US" sz="1100" dirty="0"/>
              <a:t> measures the efficiency and consistency of the coding activity and is calculated as:</a:t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Code Rate = Functional Size Implemented (USP / FP) ÷ Actual Coding Effort (Person-Hours</a:t>
            </a:r>
            <a:r>
              <a:rPr lang="en-US" sz="1100" dirty="0" smtClean="0"/>
              <a:t>)</a:t>
            </a:r>
            <a:br>
              <a:rPr lang="en-US" sz="1100" dirty="0" smtClean="0"/>
            </a:b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b="1" dirty="0"/>
              <a:t>Interpretation of Code Rate Control Chart (Cycle-2)</a:t>
            </a:r>
          </a:p>
          <a:p>
            <a:r>
              <a:rPr lang="en-US" sz="1100" b="1" dirty="0"/>
              <a:t>Process Stability</a:t>
            </a:r>
            <a:endParaRPr lang="en-US" sz="1100" dirty="0"/>
          </a:p>
          <a:p>
            <a:pPr lvl="1"/>
            <a:r>
              <a:rPr lang="en-US" sz="1100" dirty="0"/>
              <a:t>All Code Rate data points fall </a:t>
            </a:r>
            <a:r>
              <a:rPr lang="en-US" sz="1100" b="1" dirty="0"/>
              <a:t>within the UCL and LCL</a:t>
            </a:r>
            <a:endParaRPr lang="en-US" sz="1100" dirty="0"/>
          </a:p>
          <a:p>
            <a:pPr lvl="1"/>
            <a:r>
              <a:rPr lang="en-US" sz="1100" dirty="0"/>
              <a:t>No special cause variation observed</a:t>
            </a:r>
          </a:p>
          <a:p>
            <a:pPr lvl="1"/>
            <a:r>
              <a:rPr lang="en-US" sz="1100" dirty="0"/>
              <a:t>Confirms that the coding process is </a:t>
            </a:r>
            <a:r>
              <a:rPr lang="en-US" sz="1100" b="1" dirty="0"/>
              <a:t>under statistical control</a:t>
            </a:r>
            <a:endParaRPr lang="en-US" sz="1100" dirty="0"/>
          </a:p>
          <a:p>
            <a:r>
              <a:rPr lang="en-US" sz="1100" b="1" dirty="0"/>
              <a:t>Improved Average Code Rate</a:t>
            </a:r>
            <a:endParaRPr lang="en-US" sz="1100" dirty="0"/>
          </a:p>
          <a:p>
            <a:pPr lvl="1"/>
            <a:r>
              <a:rPr lang="en-US" sz="1100" dirty="0"/>
              <a:t>The </a:t>
            </a:r>
            <a:r>
              <a:rPr lang="en-US" sz="1100" b="1" dirty="0"/>
              <a:t>mean Code Rate in Cycle-2 is higher than Cycle-1</a:t>
            </a:r>
            <a:endParaRPr lang="en-US" sz="1100" dirty="0"/>
          </a:p>
          <a:p>
            <a:pPr lvl="1"/>
            <a:r>
              <a:rPr lang="en-US" sz="1100" dirty="0"/>
              <a:t>Indicates improved coding efficiency across </a:t>
            </a:r>
            <a:r>
              <a:rPr lang="en-US" sz="1100" dirty="0" err="1"/>
              <a:t>Jal</a:t>
            </a:r>
            <a:r>
              <a:rPr lang="en-US" sz="1100" dirty="0"/>
              <a:t> </a:t>
            </a:r>
            <a:r>
              <a:rPr lang="en-US" sz="1100" dirty="0" err="1"/>
              <a:t>Rekha</a:t>
            </a:r>
            <a:r>
              <a:rPr lang="en-US" sz="1100" dirty="0"/>
              <a:t> modules</a:t>
            </a:r>
          </a:p>
          <a:p>
            <a:r>
              <a:rPr lang="en-US" sz="1100" b="1" dirty="0"/>
              <a:t>Reduced Variability</a:t>
            </a:r>
            <a:endParaRPr lang="en-US" sz="1100" dirty="0"/>
          </a:p>
          <a:p>
            <a:pPr lvl="1"/>
            <a:r>
              <a:rPr lang="en-US" sz="1100" dirty="0"/>
              <a:t>Narrower spread between UCL and LCL</a:t>
            </a:r>
          </a:p>
          <a:p>
            <a:pPr lvl="1"/>
            <a:r>
              <a:rPr lang="en-US" sz="1100" dirty="0"/>
              <a:t>Shows consistency in coding productivity despite:</a:t>
            </a:r>
          </a:p>
          <a:p>
            <a:pPr lvl="2"/>
            <a:r>
              <a:rPr lang="en-US" sz="1100" dirty="0"/>
              <a:t>Multiple modules</a:t>
            </a:r>
          </a:p>
          <a:p>
            <a:pPr lvl="2"/>
            <a:r>
              <a:rPr lang="en-US" sz="1100" dirty="0"/>
              <a:t>Change requests</a:t>
            </a:r>
          </a:p>
          <a:p>
            <a:pPr lvl="2"/>
            <a:r>
              <a:rPr lang="en-US" sz="1100" dirty="0"/>
              <a:t>Web and Mobile development</a:t>
            </a:r>
          </a:p>
          <a:p>
            <a:endParaRPr lang="en-IN" sz="1100" b="1" dirty="0" smtClean="0">
              <a:latin typeface="Aptos Display" panose="020B0004020202020204" pitchFamily="34" charset="0"/>
            </a:endParaRPr>
          </a:p>
          <a:p>
            <a:r>
              <a:rPr lang="en-US" sz="1100" b="1" dirty="0"/>
              <a:t>Relationship with Y Factor (Productivity)</a:t>
            </a:r>
          </a:p>
          <a:p>
            <a:r>
              <a:rPr lang="en-US" sz="1100" b="1" dirty="0"/>
              <a:t>Code Rate (X Factor)</a:t>
            </a:r>
            <a:r>
              <a:rPr lang="en-US" sz="1100" dirty="0"/>
              <a:t> is a strong predictor of </a:t>
            </a:r>
            <a:r>
              <a:rPr lang="en-US" sz="1100" b="1" dirty="0"/>
              <a:t>Productivity (Y Factor)</a:t>
            </a:r>
            <a:endParaRPr lang="en-US" sz="1100" dirty="0"/>
          </a:p>
          <a:p>
            <a:r>
              <a:rPr lang="en-US" sz="1100" dirty="0"/>
              <a:t>Improved Code Rate led to:</a:t>
            </a:r>
          </a:p>
          <a:p>
            <a:pPr lvl="1"/>
            <a:r>
              <a:rPr lang="en-US" sz="1100" dirty="0"/>
              <a:t>Faster coding completion</a:t>
            </a:r>
          </a:p>
          <a:p>
            <a:pPr lvl="1"/>
            <a:r>
              <a:rPr lang="en-US" sz="1100" dirty="0"/>
              <a:t>Reduced defect injection</a:t>
            </a:r>
          </a:p>
          <a:p>
            <a:pPr lvl="1"/>
            <a:r>
              <a:rPr lang="en-US" sz="1100" dirty="0"/>
              <a:t>Lower internal testing defects</a:t>
            </a:r>
          </a:p>
          <a:p>
            <a:pPr lvl="1"/>
            <a:r>
              <a:rPr lang="en-US" sz="1100" dirty="0"/>
              <a:t>Higher overall productivity in Cycle-2</a:t>
            </a:r>
          </a:p>
          <a:p>
            <a:endParaRPr lang="en-US" sz="1100" b="1" dirty="0" smtClean="0"/>
          </a:p>
          <a:p>
            <a:r>
              <a:rPr lang="en-US" sz="1100" b="1" dirty="0" smtClean="0"/>
              <a:t>Conclusion </a:t>
            </a:r>
            <a:r>
              <a:rPr lang="en-US" sz="1100" b="1" dirty="0"/>
              <a:t>– Cycle-2 Code Rate (X Factor)</a:t>
            </a:r>
          </a:p>
          <a:p>
            <a:r>
              <a:rPr lang="en-US" sz="1100" dirty="0"/>
              <a:t>The Cycle-2 Code Rate control chart demonstrates that:</a:t>
            </a:r>
          </a:p>
          <a:p>
            <a:r>
              <a:rPr lang="en-US" sz="1100" dirty="0"/>
              <a:t>Coding performance is </a:t>
            </a:r>
            <a:r>
              <a:rPr lang="en-US" sz="1100" b="1" dirty="0"/>
              <a:t>measured, analyzed, and controlled statistically</a:t>
            </a:r>
            <a:endParaRPr lang="en-US" sz="1100" dirty="0"/>
          </a:p>
          <a:p>
            <a:r>
              <a:rPr lang="en-US" sz="1100" dirty="0"/>
              <a:t>Improvements are </a:t>
            </a:r>
            <a:r>
              <a:rPr lang="en-US" sz="1100" b="1" dirty="0"/>
              <a:t>data-driven and repeatable</a:t>
            </a:r>
            <a:endParaRPr lang="en-US" sz="1100" dirty="0"/>
          </a:p>
          <a:p>
            <a:r>
              <a:rPr lang="en-US" sz="1100" dirty="0"/>
              <a:t>The </a:t>
            </a:r>
            <a:r>
              <a:rPr lang="en-US" sz="1100" dirty="0" err="1"/>
              <a:t>Jal</a:t>
            </a:r>
            <a:r>
              <a:rPr lang="en-US" sz="1100" dirty="0"/>
              <a:t> </a:t>
            </a:r>
            <a:r>
              <a:rPr lang="en-US" sz="1100" dirty="0" err="1"/>
              <a:t>Rekha</a:t>
            </a:r>
            <a:r>
              <a:rPr lang="en-US" sz="1100" dirty="0"/>
              <a:t> project coding process is </a:t>
            </a:r>
            <a:r>
              <a:rPr lang="en-US" sz="1100" b="1" dirty="0"/>
              <a:t>stable, efficient, and predictable</a:t>
            </a:r>
            <a:endParaRPr lang="en-US" sz="1100" dirty="0"/>
          </a:p>
          <a:p>
            <a:endParaRPr lang="en-IN" sz="1100" b="1" dirty="0">
              <a:latin typeface="Aptos Display" panose="020B00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81200"/>
            <a:ext cx="5775008" cy="4343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56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87B7AF0-5A6F-C0CF-19F6-8B06976B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60AC83AC-9CC0-D04B-0238-281EDC4F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087"/>
            <a:ext cx="11353800" cy="751114"/>
          </a:xfrm>
        </p:spPr>
        <p:txBody>
          <a:bodyPr>
            <a:normAutofit/>
          </a:bodyPr>
          <a:lstStyle/>
          <a:p>
            <a:r>
              <a:rPr lang="en-US" dirty="0"/>
              <a:t>Control Chart – </a:t>
            </a:r>
            <a:r>
              <a:rPr lang="en-IN" dirty="0"/>
              <a:t>Testing Rate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47A9711-FFF5-7AAF-3AAA-8A613D959BD2}"/>
              </a:ext>
            </a:extLst>
          </p:cNvPr>
          <p:cNvSpPr txBox="1"/>
          <p:nvPr/>
        </p:nvSpPr>
        <p:spPr>
          <a:xfrm>
            <a:off x="533400" y="990601"/>
            <a:ext cx="11353799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 </a:t>
            </a:r>
            <a:r>
              <a:rPr lang="en-US" sz="1100" b="1" dirty="0"/>
              <a:t>Cycle-2</a:t>
            </a:r>
            <a:r>
              <a:rPr lang="en-US" sz="1100" dirty="0"/>
              <a:t>, </a:t>
            </a:r>
            <a:r>
              <a:rPr lang="en-US" sz="1100" b="1" dirty="0"/>
              <a:t>Test Rate (X Factor)</a:t>
            </a:r>
            <a:r>
              <a:rPr lang="en-US" sz="1100" dirty="0"/>
              <a:t> measures the efficiency of the testing phase and is defined as:</a:t>
            </a:r>
            <a:br>
              <a:rPr lang="en-US" sz="1100" dirty="0"/>
            </a:br>
            <a:endParaRPr lang="en-US" sz="1100" dirty="0" smtClean="0"/>
          </a:p>
          <a:p>
            <a:r>
              <a:rPr lang="en-US" sz="1100" dirty="0" smtClean="0"/>
              <a:t>Test </a:t>
            </a:r>
            <a:r>
              <a:rPr lang="en-US" sz="1100" dirty="0"/>
              <a:t>Rate = Functional Size Tested (USP / FP) ÷ Actual Testing Effort (Person-Hours</a:t>
            </a:r>
            <a:r>
              <a:rPr lang="en-US" sz="1100" dirty="0" smtClean="0"/>
              <a:t>)</a:t>
            </a:r>
          </a:p>
          <a:p>
            <a:endParaRPr lang="en-US" sz="1100" b="1" dirty="0">
              <a:latin typeface="Aptos Display" panose="020B0004020202020204" pitchFamily="34" charset="0"/>
            </a:endParaRPr>
          </a:p>
          <a:p>
            <a:r>
              <a:rPr lang="en-US" sz="1100" b="1" dirty="0"/>
              <a:t>Interpretation of Test Rate Control Chart (Cycle-2)</a:t>
            </a:r>
          </a:p>
          <a:p>
            <a:r>
              <a:rPr lang="en-US" sz="1100" b="1" dirty="0"/>
              <a:t>Statistical Process Control</a:t>
            </a:r>
            <a:endParaRPr lang="en-US" sz="1100" dirty="0"/>
          </a:p>
          <a:p>
            <a:pPr lvl="1"/>
            <a:r>
              <a:rPr lang="en-US" sz="1100" dirty="0"/>
              <a:t>All Test Rate data points lie </a:t>
            </a:r>
            <a:r>
              <a:rPr lang="en-US" sz="1100" b="1" dirty="0"/>
              <a:t>within the UCL and LCL</a:t>
            </a:r>
            <a:endParaRPr lang="en-US" sz="1100" dirty="0"/>
          </a:p>
          <a:p>
            <a:pPr lvl="1"/>
            <a:r>
              <a:rPr lang="en-US" sz="1100" dirty="0"/>
              <a:t>No out-of-control points or abnormal trends</a:t>
            </a:r>
          </a:p>
          <a:p>
            <a:pPr lvl="1"/>
            <a:r>
              <a:rPr lang="en-US" sz="1100" dirty="0"/>
              <a:t>Confirms the testing process is </a:t>
            </a:r>
            <a:r>
              <a:rPr lang="en-US" sz="1100" b="1" dirty="0"/>
              <a:t>statistically stable</a:t>
            </a:r>
            <a:endParaRPr lang="en-US" sz="1100" dirty="0"/>
          </a:p>
          <a:p>
            <a:r>
              <a:rPr lang="en-US" sz="1100" b="1" dirty="0"/>
              <a:t>Improved Testing Consistency</a:t>
            </a:r>
            <a:endParaRPr lang="en-US" sz="1100" dirty="0"/>
          </a:p>
          <a:p>
            <a:pPr lvl="1"/>
            <a:r>
              <a:rPr lang="en-US" sz="1100" dirty="0"/>
              <a:t>The mean Test Rate (</a:t>
            </a:r>
            <a:r>
              <a:rPr lang="en-US" sz="1100" b="1" dirty="0"/>
              <a:t>0.5581</a:t>
            </a:r>
            <a:r>
              <a:rPr lang="en-US" sz="1100" dirty="0"/>
              <a:t>) shows </a:t>
            </a:r>
            <a:r>
              <a:rPr lang="en-US" sz="1100" b="1" dirty="0"/>
              <a:t>better efficiency compared to Cycle-1</a:t>
            </a:r>
            <a:endParaRPr lang="en-US" sz="1100" dirty="0"/>
          </a:p>
          <a:p>
            <a:pPr lvl="1"/>
            <a:r>
              <a:rPr lang="en-US" sz="1100" dirty="0"/>
              <a:t>Indicates optimal utilization of testing effort</a:t>
            </a:r>
          </a:p>
          <a:p>
            <a:r>
              <a:rPr lang="en-US" sz="1100" b="1" dirty="0"/>
              <a:t>Controlled Variability</a:t>
            </a:r>
            <a:endParaRPr lang="en-US" sz="1100" dirty="0"/>
          </a:p>
          <a:p>
            <a:pPr lvl="1"/>
            <a:r>
              <a:rPr lang="en-US" sz="1100" dirty="0"/>
              <a:t>Acceptable spread between UCL and LCL</a:t>
            </a:r>
          </a:p>
          <a:p>
            <a:pPr lvl="1"/>
            <a:r>
              <a:rPr lang="en-US" sz="1100" dirty="0"/>
              <a:t>Variations are due to </a:t>
            </a:r>
            <a:r>
              <a:rPr lang="en-US" sz="1100" b="1" dirty="0"/>
              <a:t>normal causes</a:t>
            </a:r>
            <a:r>
              <a:rPr lang="en-US" sz="1100" dirty="0"/>
              <a:t> such as:</a:t>
            </a:r>
          </a:p>
          <a:p>
            <a:pPr lvl="2"/>
            <a:r>
              <a:rPr lang="en-US" sz="1100" dirty="0"/>
              <a:t>Module complexity</a:t>
            </a:r>
          </a:p>
          <a:p>
            <a:pPr lvl="2"/>
            <a:r>
              <a:rPr lang="en-US" sz="1100" dirty="0"/>
              <a:t>Change request size</a:t>
            </a:r>
          </a:p>
          <a:p>
            <a:pPr lvl="2"/>
            <a:r>
              <a:rPr lang="en-US" sz="1100" dirty="0"/>
              <a:t>Web </a:t>
            </a:r>
            <a:r>
              <a:rPr lang="en-US" sz="1100" dirty="0" err="1"/>
              <a:t>vs</a:t>
            </a:r>
            <a:r>
              <a:rPr lang="en-US" sz="1100" dirty="0"/>
              <a:t> Mobile testing</a:t>
            </a:r>
          </a:p>
          <a:p>
            <a:endParaRPr lang="en-IN" sz="2000" b="1" dirty="0" smtClean="0">
              <a:latin typeface="Aptos Display" panose="020B0004020202020204" pitchFamily="34" charset="0"/>
            </a:endParaRPr>
          </a:p>
          <a:p>
            <a:r>
              <a:rPr lang="en-US" sz="1100" b="1" dirty="0"/>
              <a:t>Relationship with Y Factor (Productivity)</a:t>
            </a:r>
          </a:p>
          <a:p>
            <a:r>
              <a:rPr lang="en-US" sz="1100" b="1" dirty="0"/>
              <a:t>Test Rate (X Factor)</a:t>
            </a:r>
            <a:r>
              <a:rPr lang="en-US" sz="1100" dirty="0"/>
              <a:t> positively impacts </a:t>
            </a:r>
            <a:r>
              <a:rPr lang="en-US" sz="1100" b="1" dirty="0"/>
              <a:t>Productivity (Y Factor)</a:t>
            </a:r>
            <a:endParaRPr lang="en-US" sz="1100" dirty="0"/>
          </a:p>
          <a:p>
            <a:r>
              <a:rPr lang="en-US" sz="1100" dirty="0"/>
              <a:t>Improved Test Rate resulted in:</a:t>
            </a:r>
          </a:p>
          <a:p>
            <a:pPr lvl="1"/>
            <a:r>
              <a:rPr lang="en-US" sz="1100" dirty="0"/>
              <a:t>Faster test execution</a:t>
            </a:r>
          </a:p>
          <a:p>
            <a:pPr lvl="1"/>
            <a:r>
              <a:rPr lang="en-US" sz="1100" dirty="0"/>
              <a:t>Reduced re-work cycles</a:t>
            </a:r>
          </a:p>
          <a:p>
            <a:pPr lvl="1"/>
            <a:r>
              <a:rPr lang="en-US" sz="1100" dirty="0"/>
              <a:t>Lower internal and UAT defect counts</a:t>
            </a:r>
          </a:p>
          <a:p>
            <a:pPr lvl="1"/>
            <a:r>
              <a:rPr lang="en-US" sz="1100" dirty="0"/>
              <a:t>Improved overall delivery timelines</a:t>
            </a:r>
          </a:p>
          <a:p>
            <a:endParaRPr lang="en-US" sz="1100" b="1" dirty="0" smtClean="0"/>
          </a:p>
          <a:p>
            <a:r>
              <a:rPr lang="en-US" sz="1100" b="1" dirty="0" smtClean="0"/>
              <a:t>Conclusion </a:t>
            </a:r>
            <a:r>
              <a:rPr lang="en-US" sz="1100" b="1" dirty="0"/>
              <a:t>– Cycle-2 Test Rate (X Factor)</a:t>
            </a:r>
          </a:p>
          <a:p>
            <a:r>
              <a:rPr lang="en-US" sz="1100" dirty="0"/>
              <a:t>The Cycle-2 Test Rate control chart confirms that:</a:t>
            </a:r>
          </a:p>
          <a:p>
            <a:r>
              <a:rPr lang="en-US" sz="1100" dirty="0"/>
              <a:t>Testing performance is </a:t>
            </a:r>
            <a:r>
              <a:rPr lang="en-US" sz="1100" b="1" dirty="0"/>
              <a:t>measured, monitored, and statistically controlled</a:t>
            </a:r>
            <a:endParaRPr lang="en-US" sz="1100" dirty="0"/>
          </a:p>
          <a:p>
            <a:r>
              <a:rPr lang="en-US" sz="1100" dirty="0"/>
              <a:t>Process improvements are </a:t>
            </a:r>
            <a:r>
              <a:rPr lang="en-US" sz="1100" b="1" dirty="0"/>
              <a:t>data-driven</a:t>
            </a:r>
            <a:endParaRPr lang="en-US" sz="1100" dirty="0"/>
          </a:p>
          <a:p>
            <a:r>
              <a:rPr lang="en-US" sz="1100" dirty="0"/>
              <a:t>Test efficiency directly supports productivity improvement goals</a:t>
            </a:r>
          </a:p>
          <a:p>
            <a:endParaRPr lang="en-IN" sz="2000" b="1" dirty="0">
              <a:latin typeface="Aptos Display" panose="020B00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447800"/>
            <a:ext cx="6389027" cy="457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6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B7DE376-A114-EB9D-E53A-BF5D691A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094C1D-D9D2-C894-F1C5-7338D4FC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930275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Comparison from cycle 1 &amp; cycle 2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8C3B846-4196-E3AD-2B95-798A8B81D7B9}"/>
              </a:ext>
            </a:extLst>
          </p:cNvPr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1E581E-481D-48E6-9E95-11423910DBDC}"/>
              </a:ext>
            </a:extLst>
          </p:cNvPr>
          <p:cNvSpPr txBox="1"/>
          <p:nvPr/>
        </p:nvSpPr>
        <p:spPr>
          <a:xfrm>
            <a:off x="609600" y="1175772"/>
            <a:ext cx="51053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Regression Equation </a:t>
            </a:r>
          </a:p>
          <a:p>
            <a:r>
              <a:rPr lang="en-US" sz="1200" dirty="0"/>
              <a:t>Productivity = 0.08923 + 0.1335 </a:t>
            </a:r>
            <a:r>
              <a:rPr lang="en-US" sz="1200" dirty="0" err="1"/>
              <a:t>Code_Rate</a:t>
            </a:r>
            <a:r>
              <a:rPr lang="en-US" sz="1200" dirty="0"/>
              <a:t> + 0.03471 </a:t>
            </a:r>
            <a:r>
              <a:rPr lang="en-US" sz="1200" dirty="0" err="1"/>
              <a:t>Test_Rate</a:t>
            </a:r>
            <a:r>
              <a:rPr lang="en-US" sz="1200" dirty="0"/>
              <a:t> 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Regression Equation </a:t>
            </a:r>
          </a:p>
          <a:p>
            <a:r>
              <a:rPr lang="en-US" sz="1200" dirty="0"/>
              <a:t>Cycle Time = -0.131 + 2.166 </a:t>
            </a:r>
            <a:r>
              <a:rPr lang="en-US" sz="1200" dirty="0" err="1"/>
              <a:t>Code_CT</a:t>
            </a:r>
            <a:r>
              <a:rPr lang="en-US" sz="1200" dirty="0"/>
              <a:t> + 1.899 </a:t>
            </a:r>
            <a:r>
              <a:rPr lang="en-US" sz="1200" dirty="0" err="1" smtClean="0"/>
              <a:t>Test_CT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Regression Equation </a:t>
            </a:r>
          </a:p>
          <a:p>
            <a:r>
              <a:rPr lang="en-US" sz="1200" dirty="0"/>
              <a:t>DRE-1 = 0.6449 + 1.834 Code Review Per Size </a:t>
            </a:r>
          </a:p>
          <a:p>
            <a:endParaRPr lang="en-US" sz="1200" dirty="0"/>
          </a:p>
          <a:p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9D2D67FB-E08C-07C0-7ED6-E170EF651125}"/>
              </a:ext>
            </a:extLst>
          </p:cNvPr>
          <p:cNvSpPr/>
          <p:nvPr/>
        </p:nvSpPr>
        <p:spPr>
          <a:xfrm>
            <a:off x="533400" y="2957209"/>
            <a:ext cx="4495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1 for all Y and X Factors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426026AF-255E-11AF-AB82-9A7E5C7636A5}"/>
              </a:ext>
            </a:extLst>
          </p:cNvPr>
          <p:cNvSpPr/>
          <p:nvPr/>
        </p:nvSpPr>
        <p:spPr>
          <a:xfrm>
            <a:off x="6400800" y="3124200"/>
            <a:ext cx="46482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Setting Table and What if Table 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88FBD56A-7053-04F8-93E8-A4CDB06297FB}"/>
              </a:ext>
            </a:extLst>
          </p:cNvPr>
          <p:cNvSpPr/>
          <p:nvPr/>
        </p:nvSpPr>
        <p:spPr>
          <a:xfrm>
            <a:off x="609600" y="5092085"/>
            <a:ext cx="44958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2 for all Y and X Factors </a:t>
            </a:r>
            <a:endParaRPr lang="en-IN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03396"/>
              </p:ext>
            </p:extLst>
          </p:nvPr>
        </p:nvGraphicFramePr>
        <p:xfrm>
          <a:off x="517187" y="3853428"/>
          <a:ext cx="34036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  <a:gridCol w="901700"/>
                <a:gridCol w="10160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Coding Rate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Testing Rate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0.12843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0.2308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0.858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0.040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0.15491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0.3504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1.739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0.10195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0.1113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-0.024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80668"/>
              </p:ext>
            </p:extLst>
          </p:nvPr>
        </p:nvGraphicFramePr>
        <p:xfrm>
          <a:off x="762000" y="5722682"/>
          <a:ext cx="32004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100"/>
                <a:gridCol w="800100"/>
                <a:gridCol w="800100"/>
                <a:gridCol w="8001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Code_Rate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0.2833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0.5581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0.15941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0.3831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0.8683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0.13345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0.2479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157105"/>
              </p:ext>
            </p:extLst>
          </p:nvPr>
        </p:nvGraphicFramePr>
        <p:xfrm>
          <a:off x="4191000" y="5714654"/>
          <a:ext cx="24384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0.2968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0.1717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1.561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0.3301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0.068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-0.0083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0.0133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930004"/>
              </p:ext>
            </p:extLst>
          </p:nvPr>
        </p:nvGraphicFramePr>
        <p:xfrm>
          <a:off x="6781800" y="5715000"/>
          <a:ext cx="27432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3019"/>
                <a:gridCol w="693019"/>
                <a:gridCol w="1357162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0.0723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1.1186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0.1593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0.4331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-0.0148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377237"/>
              </p:ext>
            </p:extLst>
          </p:nvPr>
        </p:nvGraphicFramePr>
        <p:xfrm>
          <a:off x="4038600" y="3843903"/>
          <a:ext cx="27051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Cycle time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0.435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2.606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1.329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-0.183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579480"/>
              </p:ext>
            </p:extLst>
          </p:nvPr>
        </p:nvGraphicFramePr>
        <p:xfrm>
          <a:off x="9809247" y="4338777"/>
          <a:ext cx="14859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Target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614341"/>
              </p:ext>
            </p:extLst>
          </p:nvPr>
        </p:nvGraphicFramePr>
        <p:xfrm>
          <a:off x="9821787" y="3657600"/>
          <a:ext cx="14859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Target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0.141273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781233"/>
              </p:ext>
            </p:extLst>
          </p:nvPr>
        </p:nvGraphicFramePr>
        <p:xfrm>
          <a:off x="9831421" y="4948803"/>
          <a:ext cx="12192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0.10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030044"/>
              </p:ext>
            </p:extLst>
          </p:nvPr>
        </p:nvGraphicFramePr>
        <p:xfrm>
          <a:off x="6858000" y="3851807"/>
          <a:ext cx="26289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4097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1.295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0.646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-0.307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48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515600" cy="320675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5476"/>
            <a:ext cx="5562600" cy="6068456"/>
          </a:xfrm>
        </p:spPr>
        <p:txBody>
          <a:bodyPr>
            <a:noAutofit/>
          </a:bodyPr>
          <a:lstStyle/>
          <a:p>
            <a:r>
              <a:rPr lang="en-US" sz="1100" dirty="0">
                <a:solidFill>
                  <a:srgbClr val="00B050"/>
                </a:solidFill>
              </a:rPr>
              <a:t>Productivity </a:t>
            </a:r>
            <a:r>
              <a:rPr lang="en-US" sz="1100" dirty="0" smtClean="0">
                <a:solidFill>
                  <a:srgbClr val="00B050"/>
                </a:solidFill>
              </a:rPr>
              <a:t>Improved – </a:t>
            </a:r>
            <a:br>
              <a:rPr lang="en-US" sz="1100" dirty="0" smtClean="0">
                <a:solidFill>
                  <a:srgbClr val="00B050"/>
                </a:solidFill>
              </a:rPr>
            </a:br>
            <a:r>
              <a:rPr lang="en-US" sz="1100" b="1" dirty="0"/>
              <a:t>Observation</a:t>
            </a:r>
          </a:p>
          <a:p>
            <a:r>
              <a:rPr lang="en-US" sz="1100" dirty="0"/>
              <a:t>Cycle-2 shows </a:t>
            </a:r>
            <a:r>
              <a:rPr lang="en-US" sz="1100" b="1" dirty="0"/>
              <a:t>higher mean productivity</a:t>
            </a:r>
            <a:r>
              <a:rPr lang="en-US" sz="1100" dirty="0"/>
              <a:t> with </a:t>
            </a:r>
            <a:r>
              <a:rPr lang="en-US" sz="1100" b="1" dirty="0"/>
              <a:t>better stability</a:t>
            </a:r>
            <a:endParaRPr lang="en-US" sz="1100" dirty="0"/>
          </a:p>
          <a:p>
            <a:r>
              <a:rPr lang="en-US" sz="1100" dirty="0"/>
              <a:t>Less rework, fewer delays, and smoother delivery</a:t>
            </a:r>
          </a:p>
          <a:p>
            <a:r>
              <a:rPr lang="en-US" sz="1100" b="1" dirty="0"/>
              <a:t>Regression Evidence</a:t>
            </a:r>
          </a:p>
          <a:p>
            <a:r>
              <a:rPr lang="en-US" sz="1100" b="1" dirty="0"/>
              <a:t>Regression Equation (Cycle-2):</a:t>
            </a:r>
            <a:endParaRPr lang="en-US" sz="1100" dirty="0"/>
          </a:p>
          <a:p>
            <a:r>
              <a:rPr lang="en-US" sz="1100" dirty="0"/>
              <a:t>Productivity=0.08923+0.1335×Code_Rate+0.03471×Test_Rate\</a:t>
            </a:r>
            <a:r>
              <a:rPr lang="en-US" sz="1100" dirty="0" err="1"/>
              <a:t>textbf</a:t>
            </a:r>
            <a:r>
              <a:rPr lang="en-US" sz="1100" dirty="0"/>
              <a:t>{Productivity} = 0.08923 + 0.1335 \times \</a:t>
            </a:r>
            <a:r>
              <a:rPr lang="en-US" sz="1100" dirty="0" err="1"/>
              <a:t>textbf</a:t>
            </a:r>
            <a:r>
              <a:rPr lang="en-US" sz="1100" dirty="0"/>
              <a:t>{Code\_Rate} + 0.03471 \times \</a:t>
            </a:r>
            <a:r>
              <a:rPr lang="en-US" sz="1100" dirty="0" err="1"/>
              <a:t>textbf</a:t>
            </a:r>
            <a:r>
              <a:rPr lang="en-US" sz="1100" dirty="0"/>
              <a:t>{Test\_Rate}Productivity=0.08923+0.1335×Code_Rate+0.03471×Test_Rate </a:t>
            </a:r>
            <a:r>
              <a:rPr lang="en-US" sz="1100" b="1" dirty="0"/>
              <a:t>Interpretation</a:t>
            </a:r>
          </a:p>
          <a:p>
            <a:r>
              <a:rPr lang="en-US" sz="1100" b="1" dirty="0"/>
              <a:t>Code Rate</a:t>
            </a:r>
            <a:r>
              <a:rPr lang="en-US" sz="1100" dirty="0"/>
              <a:t> has the </a:t>
            </a:r>
            <a:r>
              <a:rPr lang="en-US" sz="1100" b="1" dirty="0"/>
              <a:t>strongest impact</a:t>
            </a:r>
            <a:r>
              <a:rPr lang="en-US" sz="1100" dirty="0"/>
              <a:t> on productivity</a:t>
            </a:r>
          </a:p>
          <a:p>
            <a:r>
              <a:rPr lang="en-US" sz="1100" b="1" dirty="0"/>
              <a:t>Test Rate</a:t>
            </a:r>
            <a:r>
              <a:rPr lang="en-US" sz="1100" dirty="0"/>
              <a:t> also positively contributes</a:t>
            </a:r>
          </a:p>
          <a:p>
            <a:r>
              <a:rPr lang="en-US" sz="1100" dirty="0"/>
              <a:t>Improvements in X factors </a:t>
            </a:r>
            <a:r>
              <a:rPr lang="en-US" sz="1100" b="1" dirty="0"/>
              <a:t>directly increased productivity</a:t>
            </a:r>
            <a:endParaRPr lang="en-US" sz="1100" dirty="0"/>
          </a:p>
          <a:p>
            <a:endParaRPr lang="en-US" sz="1100" dirty="0">
              <a:solidFill>
                <a:srgbClr val="00B050"/>
              </a:solidFill>
            </a:endParaRPr>
          </a:p>
          <a:p>
            <a:r>
              <a:rPr lang="en-US" sz="1100" dirty="0">
                <a:solidFill>
                  <a:srgbClr val="00B050"/>
                </a:solidFill>
              </a:rPr>
              <a:t>Code Rate </a:t>
            </a:r>
            <a:r>
              <a:rPr lang="en-US" sz="1100" dirty="0" smtClean="0">
                <a:solidFill>
                  <a:srgbClr val="00B050"/>
                </a:solidFill>
              </a:rPr>
              <a:t>Improved – </a:t>
            </a:r>
            <a:br>
              <a:rPr lang="en-US" sz="1100" dirty="0" smtClean="0">
                <a:solidFill>
                  <a:srgbClr val="00B050"/>
                </a:solidFill>
              </a:rPr>
            </a:br>
            <a:r>
              <a:rPr lang="en-US" sz="1100" b="1" dirty="0"/>
              <a:t>Key Improvements from Cycle-1 to Cycle-2</a:t>
            </a:r>
          </a:p>
          <a:p>
            <a:r>
              <a:rPr lang="en-US" sz="1100" dirty="0"/>
              <a:t>Introduction of </a:t>
            </a:r>
            <a:r>
              <a:rPr lang="en-US" sz="1100" b="1" dirty="0"/>
              <a:t>Code Review Checklist</a:t>
            </a:r>
            <a:endParaRPr lang="en-US" sz="1100" dirty="0"/>
          </a:p>
          <a:p>
            <a:r>
              <a:rPr lang="en-US" sz="1100" dirty="0"/>
              <a:t>Peer reviews done earlier in SDLC</a:t>
            </a:r>
          </a:p>
          <a:p>
            <a:r>
              <a:rPr lang="en-US" sz="1100" dirty="0"/>
              <a:t>Reduced defect injection during coding</a:t>
            </a:r>
          </a:p>
          <a:p>
            <a:r>
              <a:rPr lang="en-US" sz="1100" b="1" dirty="0"/>
              <a:t>Impact</a:t>
            </a:r>
          </a:p>
          <a:p>
            <a:r>
              <a:rPr lang="en-US" sz="1100" dirty="0"/>
              <a:t>Higher </a:t>
            </a:r>
            <a:r>
              <a:rPr lang="en-US" sz="1100" b="1" dirty="0"/>
              <a:t>Code Rate</a:t>
            </a:r>
            <a:endParaRPr lang="en-US" sz="1100" dirty="0"/>
          </a:p>
          <a:p>
            <a:r>
              <a:rPr lang="en-US" sz="1100" dirty="0"/>
              <a:t>Reduced coding rework</a:t>
            </a:r>
          </a:p>
          <a:p>
            <a:r>
              <a:rPr lang="en-US" sz="1100" dirty="0"/>
              <a:t>Better predictability in development effort</a:t>
            </a:r>
          </a:p>
          <a:p>
            <a:r>
              <a:rPr lang="en-US" sz="1100" dirty="0"/>
              <a:t>Strong positive coefficient in productivity regression (</a:t>
            </a:r>
            <a:r>
              <a:rPr lang="en-US" sz="1100" b="1" dirty="0"/>
              <a:t>0.1335</a:t>
            </a:r>
            <a:r>
              <a:rPr lang="en-US" sz="1100" dirty="0"/>
              <a:t>)</a:t>
            </a:r>
          </a:p>
          <a:p>
            <a:r>
              <a:rPr lang="en-US" sz="1100" dirty="0"/>
              <a:t>➡ Code quality improvement became a </a:t>
            </a:r>
            <a:r>
              <a:rPr lang="en-US" sz="1100" b="1" dirty="0"/>
              <a:t>primary driver of productivity gain</a:t>
            </a:r>
            <a:r>
              <a:rPr lang="en-US" sz="1100" dirty="0"/>
              <a:t>.</a:t>
            </a:r>
          </a:p>
          <a:p>
            <a:endParaRPr lang="en-US" sz="1100" dirty="0">
              <a:solidFill>
                <a:srgbClr val="00B050"/>
              </a:solidFill>
            </a:endParaRPr>
          </a:p>
          <a:p>
            <a:pPr>
              <a:buNone/>
            </a:pP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21788" y="6324600"/>
            <a:ext cx="850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19800" y="465136"/>
            <a:ext cx="6172200" cy="6228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</a:rPr>
              <a:t>Code Review → DRE Improvement (Quality Outcome)</a:t>
            </a:r>
          </a:p>
          <a:p>
            <a:r>
              <a:rPr lang="en-US" sz="1100" b="1" dirty="0"/>
              <a:t>Regression Relationship</a:t>
            </a:r>
          </a:p>
          <a:p>
            <a:r>
              <a:rPr lang="en-US" sz="1100" b="1" dirty="0"/>
              <a:t>Cycle-2 Regression Equation:</a:t>
            </a:r>
            <a:endParaRPr lang="en-US" sz="1100" dirty="0"/>
          </a:p>
          <a:p>
            <a:r>
              <a:rPr lang="en-US" sz="1100" dirty="0"/>
              <a:t>DRE=0.6247+0.775×Code Review Per Size\</a:t>
            </a:r>
            <a:r>
              <a:rPr lang="en-US" sz="1100" dirty="0" err="1"/>
              <a:t>textbf</a:t>
            </a:r>
            <a:r>
              <a:rPr lang="en-US" sz="1100" dirty="0"/>
              <a:t>{DRE} = 0.6247 + 0.775 \times \</a:t>
            </a:r>
            <a:r>
              <a:rPr lang="en-US" sz="1100" dirty="0" err="1"/>
              <a:t>textbf</a:t>
            </a:r>
            <a:r>
              <a:rPr lang="en-US" sz="1100" dirty="0"/>
              <a:t>{Code Review Per Size}DRE=0.6247+0.775×Code Review Per Size </a:t>
            </a:r>
            <a:r>
              <a:rPr lang="en-US" sz="1100" b="1" dirty="0"/>
              <a:t>Meaning</a:t>
            </a:r>
          </a:p>
          <a:p>
            <a:r>
              <a:rPr lang="en-US" sz="1100" dirty="0"/>
              <a:t>Increasing </a:t>
            </a:r>
            <a:r>
              <a:rPr lang="en-US" sz="1100" b="1" dirty="0"/>
              <a:t>Code Review effort per size</a:t>
            </a:r>
            <a:r>
              <a:rPr lang="en-US" sz="1100" dirty="0"/>
              <a:t> significantly improves </a:t>
            </a:r>
            <a:r>
              <a:rPr lang="en-US" sz="1100" b="1" dirty="0"/>
              <a:t>Defect Removal Efficiency</a:t>
            </a:r>
            <a:endParaRPr lang="en-US" sz="1100" dirty="0"/>
          </a:p>
          <a:p>
            <a:r>
              <a:rPr lang="en-US" sz="1100" dirty="0"/>
              <a:t>Code Review is a </a:t>
            </a:r>
            <a:r>
              <a:rPr lang="en-US" sz="1100" b="1" dirty="0"/>
              <a:t>leading quality indicator</a:t>
            </a:r>
            <a:endParaRPr lang="en-US" sz="1100" dirty="0"/>
          </a:p>
          <a:p>
            <a:pPr marL="0" indent="0">
              <a:buNone/>
            </a:pPr>
            <a:endParaRPr lang="en-US" sz="11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</a:rPr>
              <a:t>DRE – AS-IS </a:t>
            </a:r>
            <a:r>
              <a:rPr lang="en-US" sz="1100" b="1" dirty="0" err="1">
                <a:solidFill>
                  <a:srgbClr val="00B050"/>
                </a:solidFill>
              </a:rPr>
              <a:t>vs</a:t>
            </a:r>
            <a:r>
              <a:rPr lang="en-US" sz="1100" b="1" dirty="0">
                <a:solidFill>
                  <a:srgbClr val="00B050"/>
                </a:solidFill>
              </a:rPr>
              <a:t> Target </a:t>
            </a:r>
            <a:r>
              <a:rPr lang="en-US" sz="1100" b="1" dirty="0" err="1">
                <a:solidFill>
                  <a:srgbClr val="00B050"/>
                </a:solidFill>
              </a:rPr>
              <a:t>vs</a:t>
            </a:r>
            <a:r>
              <a:rPr lang="en-US" sz="1100" b="1" dirty="0">
                <a:solidFill>
                  <a:srgbClr val="00B050"/>
                </a:solidFill>
              </a:rPr>
              <a:t> What-If Analysis</a:t>
            </a:r>
          </a:p>
          <a:p>
            <a:r>
              <a:rPr lang="en-US" sz="1100" b="1" dirty="0"/>
              <a:t>AS-IS (Cycle-1 / Early Cycle-2</a:t>
            </a:r>
            <a:r>
              <a:rPr lang="en-US" sz="1100" b="1" dirty="0" smtClean="0"/>
              <a:t>)</a:t>
            </a:r>
          </a:p>
          <a:p>
            <a:endParaRPr lang="en-US" sz="1100" b="1" dirty="0"/>
          </a:p>
          <a:p>
            <a:endParaRPr lang="en-US" sz="1100" b="1" dirty="0" smtClean="0"/>
          </a:p>
          <a:p>
            <a:endParaRPr lang="en-US" sz="1100" b="1" dirty="0"/>
          </a:p>
          <a:p>
            <a:r>
              <a:rPr lang="en-US" sz="1100" dirty="0" smtClean="0"/>
              <a:t>Target </a:t>
            </a:r>
            <a:r>
              <a:rPr lang="en-US" sz="1100" dirty="0"/>
              <a:t>(Defined Improvement Goal)</a:t>
            </a:r>
            <a:endParaRPr lang="en-US" sz="1100" dirty="0" smtClean="0">
              <a:solidFill>
                <a:srgbClr val="00B050"/>
              </a:solidFill>
            </a:endParaRPr>
          </a:p>
          <a:p>
            <a:endParaRPr lang="en-US" sz="1100" dirty="0" smtClean="0"/>
          </a:p>
          <a:p>
            <a:endParaRPr lang="en-US" sz="1100" dirty="0"/>
          </a:p>
          <a:p>
            <a:endParaRPr lang="en-US" sz="1100" dirty="0" smtClean="0"/>
          </a:p>
          <a:p>
            <a:r>
              <a:rPr lang="en-US" sz="1100" dirty="0" smtClean="0"/>
              <a:t>What-If </a:t>
            </a:r>
            <a:r>
              <a:rPr lang="en-US" sz="1100" dirty="0"/>
              <a:t>Scenario (Cycle-2 Achieved State)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1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This shows </a:t>
            </a:r>
            <a:r>
              <a:rPr lang="en-US" sz="1100" b="1" dirty="0"/>
              <a:t>process capability improvement</a:t>
            </a:r>
            <a:r>
              <a:rPr lang="en-US" sz="1100" dirty="0"/>
              <a:t>, not just performance improvement.</a:t>
            </a:r>
            <a:endParaRPr lang="en-US" sz="11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100" dirty="0" smtClean="0">
                <a:solidFill>
                  <a:srgbClr val="002060"/>
                </a:solidFill>
              </a:rPr>
              <a:t>Effort need to be put on reducing the standard deviation along with Y and X Factors.</a:t>
            </a:r>
          </a:p>
          <a:p>
            <a:pPr>
              <a:buFont typeface="Arial" panose="020B0604020202020204" pitchFamily="34" charset="0"/>
              <a:buNone/>
            </a:pPr>
            <a:endParaRPr lang="en-US" sz="1100" dirty="0">
              <a:solidFill>
                <a:srgbClr val="00206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2694"/>
              </p:ext>
            </p:extLst>
          </p:nvPr>
        </p:nvGraphicFramePr>
        <p:xfrm>
          <a:off x="8458200" y="2819400"/>
          <a:ext cx="3733800" cy="11277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244600"/>
                <a:gridCol w="1244600"/>
                <a:gridCol w="12446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Metric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Code Review per Size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0.756 – 0.776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0.072 – 0.169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0.114 – 0.180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0.029 – 0.159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High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Inconsistent reviews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575935"/>
              </p:ext>
            </p:extLst>
          </p:nvPr>
        </p:nvGraphicFramePr>
        <p:xfrm>
          <a:off x="8153400" y="4191000"/>
          <a:ext cx="3886200" cy="7315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43100"/>
                <a:gridCol w="1943100"/>
              </a:tblGrid>
              <a:tr h="195845">
                <a:tc>
                  <a:txBody>
                    <a:bodyPr/>
                    <a:lstStyle/>
                    <a:p>
                      <a:r>
                        <a:rPr lang="en-US" sz="10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DRE</a:t>
                      </a:r>
                    </a:p>
                  </a:txBody>
                  <a:tcPr anchor="ctr"/>
                </a:tc>
              </a:tr>
              <a:tr h="195845">
                <a:tc>
                  <a:txBody>
                    <a:bodyPr/>
                    <a:lstStyle/>
                    <a:p>
                      <a:r>
                        <a:rPr lang="en-US" sz="1000"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≥ 0.79 – 0.81</a:t>
                      </a:r>
                    </a:p>
                  </a:txBody>
                  <a:tcPr anchor="ctr"/>
                </a:tc>
              </a:tr>
              <a:tr h="195845">
                <a:tc>
                  <a:txBody>
                    <a:bodyPr/>
                    <a:lstStyle/>
                    <a:p>
                      <a:r>
                        <a:rPr lang="en-US" sz="1000"/>
                        <a:t>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≤ 0.10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468182"/>
              </p:ext>
            </p:extLst>
          </p:nvPr>
        </p:nvGraphicFramePr>
        <p:xfrm>
          <a:off x="8839200" y="5029200"/>
          <a:ext cx="3200400" cy="8839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66800"/>
                <a:gridCol w="1066800"/>
                <a:gridCol w="1066800"/>
              </a:tblGrid>
              <a:tr h="170445">
                <a:tc>
                  <a:txBody>
                    <a:bodyPr/>
                    <a:lstStyle/>
                    <a:p>
                      <a:r>
                        <a:rPr lang="en-US" sz="10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Code Review per Size</a:t>
                      </a:r>
                    </a:p>
                  </a:txBody>
                  <a:tcPr anchor="ctr"/>
                </a:tc>
              </a:tr>
              <a:tr h="170445">
                <a:tc>
                  <a:txBody>
                    <a:bodyPr/>
                    <a:lstStyle/>
                    <a:p>
                      <a:r>
                        <a:rPr lang="en-US" sz="100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0.795 – 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0.09 – 0.22</a:t>
                      </a:r>
                    </a:p>
                  </a:txBody>
                  <a:tcPr anchor="ctr"/>
                </a:tc>
              </a:tr>
              <a:tr h="170445">
                <a:tc>
                  <a:txBody>
                    <a:bodyPr/>
                    <a:lstStyle/>
                    <a:p>
                      <a:r>
                        <a:rPr lang="en-US" sz="1000"/>
                        <a:t>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58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6962"/>
            <a:ext cx="10515600" cy="4730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Improvement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736" y="865981"/>
            <a:ext cx="3657600" cy="4351338"/>
          </a:xfrm>
        </p:spPr>
        <p:txBody>
          <a:bodyPr>
            <a:normAutofit/>
          </a:bodyPr>
          <a:lstStyle/>
          <a:p>
            <a:r>
              <a:rPr lang="en-US" sz="1200" b="1" dirty="0"/>
              <a:t>Variability Reduction – Key Focus Area</a:t>
            </a:r>
          </a:p>
          <a:p>
            <a:r>
              <a:rPr lang="en-US" sz="1200" b="1" dirty="0"/>
              <a:t>Why SD Reduction is Important</a:t>
            </a:r>
          </a:p>
          <a:p>
            <a:r>
              <a:rPr lang="en-US" sz="1200" dirty="0"/>
              <a:t>Mean improvement alone is not sufficient</a:t>
            </a:r>
          </a:p>
          <a:p>
            <a:r>
              <a:rPr lang="en-US" sz="1200" dirty="0"/>
              <a:t>Lower SD = </a:t>
            </a:r>
            <a:r>
              <a:rPr lang="en-US" sz="1200" b="1" dirty="0"/>
              <a:t>predictable outcomes</a:t>
            </a:r>
            <a:endParaRPr lang="en-US" sz="1200" dirty="0"/>
          </a:p>
          <a:p>
            <a:r>
              <a:rPr lang="en-US" sz="1200" dirty="0"/>
              <a:t>Essential for </a:t>
            </a:r>
            <a:r>
              <a:rPr lang="en-US" sz="1200" b="1" dirty="0"/>
              <a:t>statistical control</a:t>
            </a:r>
            <a:endParaRPr lang="en-US" sz="1200" dirty="0"/>
          </a:p>
          <a:p>
            <a:r>
              <a:rPr lang="en-US" sz="1200" b="1" dirty="0"/>
              <a:t>Observations</a:t>
            </a:r>
          </a:p>
          <a:p>
            <a:r>
              <a:rPr lang="en-US" sz="1200" dirty="0"/>
              <a:t>Cycle-2 shows:</a:t>
            </a:r>
          </a:p>
          <a:p>
            <a:pPr lvl="1"/>
            <a:r>
              <a:rPr lang="en-US" sz="1200" dirty="0"/>
              <a:t>Reduced SD for </a:t>
            </a:r>
            <a:r>
              <a:rPr lang="en-US" sz="1200" b="1" dirty="0"/>
              <a:t>Productivity</a:t>
            </a:r>
            <a:endParaRPr lang="en-US" sz="1200" dirty="0"/>
          </a:p>
          <a:p>
            <a:pPr lvl="1"/>
            <a:r>
              <a:rPr lang="en-US" sz="1200" dirty="0"/>
              <a:t>Reduced SD for </a:t>
            </a:r>
            <a:r>
              <a:rPr lang="en-US" sz="1200" b="1" dirty="0"/>
              <a:t>Code Review per Size</a:t>
            </a:r>
            <a:endParaRPr lang="en-US" sz="1200" dirty="0"/>
          </a:p>
          <a:p>
            <a:pPr lvl="1"/>
            <a:r>
              <a:rPr lang="en-US" sz="1200" dirty="0"/>
              <a:t>Reduced SD for </a:t>
            </a:r>
            <a:r>
              <a:rPr lang="en-US" sz="1200" b="1" dirty="0"/>
              <a:t>DRE</a:t>
            </a:r>
            <a:endParaRPr lang="en-US" sz="1200" dirty="0"/>
          </a:p>
          <a:p>
            <a:r>
              <a:rPr lang="en-US" sz="1200" dirty="0"/>
              <a:t>➡ Confirms </a:t>
            </a:r>
            <a:r>
              <a:rPr lang="en-US" sz="1200" b="1" dirty="0"/>
              <a:t>process maturity progression</a:t>
            </a:r>
            <a:r>
              <a:rPr lang="en-US" sz="12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02868" y="877669"/>
            <a:ext cx="282426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Release Planning &amp; UAT Support Improvement</a:t>
            </a:r>
          </a:p>
          <a:p>
            <a:r>
              <a:rPr lang="en-US" sz="1200" b="1" dirty="0"/>
              <a:t>Before (Cycle-1)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Unplanned rework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Higher UAT defect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Extended release cycles</a:t>
            </a:r>
          </a:p>
          <a:p>
            <a:r>
              <a:rPr lang="en-US" sz="1200" b="1" dirty="0"/>
              <a:t>After (Cycle-2)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Better estimation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Fewer late-stage defects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Reduced UAT and production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Stable release timelines</a:t>
            </a:r>
          </a:p>
          <a:p>
            <a:r>
              <a:rPr lang="en-US" sz="1200" dirty="0"/>
              <a:t>➡ Direct result of </a:t>
            </a:r>
            <a:r>
              <a:rPr lang="en-US" sz="1200" b="1" dirty="0"/>
              <a:t>early defect detection and controlled coding/testing</a:t>
            </a:r>
            <a:r>
              <a:rPr lang="en-US" sz="12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0" y="865981"/>
            <a:ext cx="31242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Improved Code Review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Higher Code Rate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Improved Productivity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Reduced Rework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Better Test Rate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Lower UAT Effort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Higher DRE &amp; Stable Releases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4736" y="4488884"/>
            <a:ext cx="82296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Conclusion – Cycle-1 to Cycle-2 Improvement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 err="1"/>
              <a:t>Jal</a:t>
            </a:r>
            <a:r>
              <a:rPr lang="en-US" sz="1100" dirty="0"/>
              <a:t> </a:t>
            </a:r>
            <a:r>
              <a:rPr lang="en-US" sz="1100" dirty="0" err="1"/>
              <a:t>Rekha</a:t>
            </a:r>
            <a:r>
              <a:rPr lang="en-US" sz="1100" dirty="0"/>
              <a:t> project moved from </a:t>
            </a:r>
            <a:r>
              <a:rPr lang="en-US" sz="1100" b="1" dirty="0"/>
              <a:t>reactive quality control (Cycle-1)</a:t>
            </a:r>
            <a:r>
              <a:rPr lang="en-US" sz="1100" dirty="0"/>
              <a:t> to </a:t>
            </a:r>
            <a:r>
              <a:rPr lang="en-US" sz="1100" b="1" dirty="0"/>
              <a:t>predictive, data-driven process control (Cycle-2)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Regression and control charts validate: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Which factors matter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How much they matter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Focus has now shifted from: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i="1" dirty="0"/>
              <a:t>Improving averages</a:t>
            </a:r>
            <a:r>
              <a:rPr lang="en-US" sz="1100" dirty="0"/>
              <a:t> ➜ </a:t>
            </a:r>
            <a:r>
              <a:rPr lang="en-US" sz="1100" i="1" dirty="0"/>
              <a:t>Reducing variation</a:t>
            </a:r>
            <a:endParaRPr lang="en-US" sz="1100" dirty="0"/>
          </a:p>
          <a:p>
            <a:r>
              <a:rPr lang="en-US" sz="1100" dirty="0"/>
              <a:t>➡ This demonstrates </a:t>
            </a:r>
            <a:r>
              <a:rPr lang="en-US" sz="1100" b="1" dirty="0"/>
              <a:t>true Quantitative Process Management (CMMI ML-5 readiness)</a:t>
            </a:r>
            <a:r>
              <a:rPr lang="en-US" sz="1100" dirty="0"/>
              <a:t>.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6096000"/>
            <a:ext cx="109653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Cycle-2 shows statistically proven improvements in productivity, code rate, and DRE, driven by enhanced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reviews and controlled process variation, resulting in predictable releases and reduced UAT effort.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13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3075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Action Plan to achieve targets for Next Cycle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11201400" cy="4732338"/>
          </a:xfrm>
        </p:spPr>
        <p:txBody>
          <a:bodyPr>
            <a:normAutofit/>
          </a:bodyPr>
          <a:lstStyle/>
          <a:p>
            <a:r>
              <a:rPr lang="en-US" sz="2000" dirty="0"/>
              <a:t>Please Central Repository link for (Data Collection, Action Plan): &lt;&lt;link</a:t>
            </a:r>
            <a:r>
              <a:rPr lang="en-US" sz="2000" dirty="0" smtClean="0"/>
              <a:t>&gt;&gt;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117134"/>
              </p:ext>
            </p:extLst>
          </p:nvPr>
        </p:nvGraphicFramePr>
        <p:xfrm>
          <a:off x="609600" y="1524000"/>
          <a:ext cx="11201399" cy="5169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9653"/>
                <a:gridCol w="671639"/>
                <a:gridCol w="521770"/>
                <a:gridCol w="860366"/>
                <a:gridCol w="2279558"/>
                <a:gridCol w="1012033"/>
                <a:gridCol w="1065743"/>
                <a:gridCol w="638335"/>
                <a:gridCol w="632784"/>
                <a:gridCol w="560625"/>
                <a:gridCol w="1198961"/>
                <a:gridCol w="1359932"/>
              </a:tblGrid>
              <a:tr h="1823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 dirty="0">
                          <a:effectLst/>
                        </a:rPr>
                        <a:t>Action Point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Metric/Category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Phase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Action/Task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Description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Improvements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Expected Outcome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Implementation Date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Responsibility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Status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Remarks / Notes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Process, Procedure, Implementation Plan 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 anchor="ctr"/>
                </a:tc>
              </a:tr>
              <a:tr h="1453076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All Phase ( SDLC)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Improve Review Efficiency – Requirement, Design, Code, and Test Case Reviews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1. Requirement Review: Analyze current process, prepare SOP for current </a:t>
                      </a:r>
                      <a:r>
                        <a:rPr lang="en-US" sz="500" u="none" strike="noStrike" dirty="0" err="1">
                          <a:effectLst/>
                        </a:rPr>
                        <a:t>vs</a:t>
                      </a:r>
                      <a:r>
                        <a:rPr lang="en-US" sz="500" u="none" strike="noStrike" dirty="0">
                          <a:effectLst/>
                        </a:rPr>
                        <a:t> revised workflow, define checklists, capture review comments in defect tracking sheet.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/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2. Design Review: Implement structured wireframe and database review process.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/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3. Code Review: Enforce mandatory checklist-driven code reviews before merge.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/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4. Unit Test Case Review: Conduct peer review of developer test cases.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/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5. Functional Test Case Review: Peer review with UAT sign-off before execution.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Expected increase of review defects by 10–15%, enabling early defect detection.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Improved defect leakage prevention and higher product quality across SDLC stages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4th Week Nov'25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BA,QA,TL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Checklists created and implemented for Jal Rekha module.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Establish mandatory review gates in SDLC. No artifact moves to the next phase without review approval. Track review effectiveness monthly.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</a:tr>
              <a:tr h="908703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Productivity- DRE and Code review rate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Reduce the overall DRE count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UAT Alignment: Ensure customer UAT team tests strictly within approved scope using agreed test cases/scenarios.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 Production Defect Analysis: Perform RCA on production defects and implement preventive fixes.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 Strengthen Internal QA: Increase internal testing depth before release.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Reduction in DRE by approx. 2–3%.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To increas or improve the overall performance of DRE by working on total review defects, internal testing defects and code review defects.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4th Week Nov'25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QA, TL, PM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UAT and production defects now analyzed jointly by client and internal teams.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1) UAT Scope of defects added and analyze at both client and at development team level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2) PROD Scope of defects added and analyze at both client and at development team level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</a:tr>
              <a:tr h="991394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Cycle Time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All Phase ( SDLC)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Re-estimate Scope Changes and no last-minute changes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1.Scope Estimation: Perform detailed effort estimation before development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2.Change Management: Any additional customer request must go through formal change control.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• Update scope document.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• Re-estimate effort and timeline.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• Obtain stakeholder approval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3.Execution: Proceed with coding and testing only after approval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4.Productivity Tracking: Compare planned vs actual effort to measure variance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Productivity improvement of 5–10% through controlled scope and better estimation accuracy.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Faster development throughput and improved coding rate.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3rd Week Nove'25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Developer, TL, PM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Version control for all change requests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Track versions of change requests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Set up a Change Control Board (CCB) for approvals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Freeze sprint scope after planning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Track estimation vs actuals and keep past data for better planning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</a:tr>
              <a:tr h="1634387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Cycle Time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Test cycle time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Optimize Testing Through Structured Sign-off and Resource Planning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Formal Sign-off: Require requirement sign-off for new features and change requests. Create separate story points and track via versioning (Module–Submodule–vX.X).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 Resource Planning: Allocate dedicated testers and maintain backup testers for critical cycles.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 Effort-based Test Planning: Estimate testing effort based on scope complexity.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4. Parallel Activities: Begin test case preparation during development to reduce idle time.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5. Measure Test Consumption: Track planned vs actual testing time.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Test cycle reduction by 5–10%.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1.Better testing, fewer delays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2.On-time releases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3rd Week Nove'25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TL, PM, QA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Backup tester model introduced for high-priority releases.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1.Ensure build is test-ready before handover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2.Track daily testing progress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3.Daily bug review to avoid delays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196" marR="2196" marT="2196" marB="0"/>
                </a:tc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53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0E4B20C-62E9-0662-2F82-E5B863C27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2B1FB2-3E06-1C1C-7F96-C0B6E067BC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400" b="1" dirty="0"/>
              <a:t>Cycle 3 – (Productivity</a:t>
            </a:r>
            <a:r>
              <a:rPr lang="en-US" sz="5400" b="1" dirty="0" smtClean="0"/>
              <a:t>)</a:t>
            </a:r>
            <a:endParaRPr lang="en-US" sz="138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54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B65596F-EF9F-8149-6679-1C47F8099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8B9C61-D444-9259-6350-C3F849DF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7620000" cy="762000"/>
          </a:xfrm>
        </p:spPr>
        <p:txBody>
          <a:bodyPr/>
          <a:lstStyle/>
          <a:p>
            <a:r>
              <a:rPr lang="en-US" dirty="0">
                <a:latin typeface="Calibri (Body)"/>
              </a:rPr>
              <a:t>Y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D9EE7B-1506-E423-0468-205F3A46A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936" y="762000"/>
            <a:ext cx="5567464" cy="4953000"/>
          </a:xfrm>
        </p:spPr>
        <p:txBody>
          <a:bodyPr>
            <a:noAutofit/>
          </a:bodyPr>
          <a:lstStyle/>
          <a:p>
            <a:r>
              <a:rPr lang="en-US" sz="1200" b="1" dirty="0"/>
              <a:t>Y Factor – Productivity (Cycle 3)</a:t>
            </a:r>
          </a:p>
          <a:p>
            <a:r>
              <a:rPr lang="en-US" sz="1200" b="1" dirty="0"/>
              <a:t>Definition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Productivity is the primary </a:t>
            </a:r>
            <a:r>
              <a:rPr lang="en-US" sz="1200" b="1" dirty="0"/>
              <a:t>Y factor</a:t>
            </a:r>
            <a:r>
              <a:rPr lang="en-US" sz="1200" dirty="0"/>
              <a:t> and represents the efficiency of converting effort (person-hours) into delivered functionality (USP / FP).</a:t>
            </a:r>
          </a:p>
          <a:p>
            <a:r>
              <a:rPr lang="en-US" sz="1200" dirty="0"/>
              <a:t>Productivity=Size (USP / FP</a:t>
            </a:r>
            <a:r>
              <a:rPr lang="en-US" sz="1200" dirty="0" smtClean="0"/>
              <a:t>)  /  Actual</a:t>
            </a:r>
            <a:r>
              <a:rPr lang="en-US" sz="1200" dirty="0"/>
              <a:t> Effort (Person Hours</a:t>
            </a:r>
            <a:r>
              <a:rPr lang="en-US" sz="1200" dirty="0" smtClean="0"/>
              <a:t>)</a:t>
            </a:r>
          </a:p>
          <a:p>
            <a:r>
              <a:rPr lang="en-US" sz="1200" b="1" dirty="0"/>
              <a:t>Key Observations</a:t>
            </a:r>
            <a:endParaRPr lang="en-US" sz="1200" dirty="0"/>
          </a:p>
          <a:p>
            <a:r>
              <a:rPr lang="en-US" sz="1200" dirty="0"/>
              <a:t>Stable productivity across:</a:t>
            </a:r>
          </a:p>
          <a:p>
            <a:pPr lvl="1"/>
            <a:r>
              <a:rPr lang="en-US" sz="1200" dirty="0"/>
              <a:t>O&amp;M Billing</a:t>
            </a:r>
          </a:p>
          <a:p>
            <a:pPr lvl="1"/>
            <a:r>
              <a:rPr lang="en-US" sz="1200" dirty="0" err="1"/>
              <a:t>Bharosa</a:t>
            </a:r>
            <a:r>
              <a:rPr lang="en-US" sz="1200" dirty="0"/>
              <a:t> (Factory &amp; Material Testing)</a:t>
            </a:r>
          </a:p>
          <a:p>
            <a:pPr lvl="1"/>
            <a:r>
              <a:rPr lang="en-US" sz="1200" dirty="0" err="1"/>
              <a:t>Dhara</a:t>
            </a:r>
            <a:r>
              <a:rPr lang="en-US" sz="1200" dirty="0"/>
              <a:t>, </a:t>
            </a:r>
            <a:r>
              <a:rPr lang="en-US" sz="1200" dirty="0" err="1"/>
              <a:t>Nirmal</a:t>
            </a:r>
            <a:r>
              <a:rPr lang="en-US" sz="1200" dirty="0"/>
              <a:t>, </a:t>
            </a:r>
            <a:r>
              <a:rPr lang="en-US" sz="1200" dirty="0" err="1"/>
              <a:t>Sahbhagita</a:t>
            </a:r>
            <a:r>
              <a:rPr lang="en-US" sz="1200" dirty="0"/>
              <a:t> modules</a:t>
            </a:r>
          </a:p>
          <a:p>
            <a:r>
              <a:rPr lang="en-US" sz="1200" dirty="0"/>
              <a:t>Productivity variation mainly occurred due to:</a:t>
            </a:r>
          </a:p>
          <a:p>
            <a:pPr lvl="1"/>
            <a:r>
              <a:rPr lang="en-US" sz="1200" dirty="0"/>
              <a:t>Late CRs</a:t>
            </a:r>
          </a:p>
          <a:p>
            <a:pPr lvl="1"/>
            <a:r>
              <a:rPr lang="en-US" sz="1200" dirty="0"/>
              <a:t>Security vulnerability fixes (</a:t>
            </a:r>
            <a:r>
              <a:rPr lang="en-US" sz="1200" dirty="0" err="1"/>
              <a:t>SonarQube</a:t>
            </a:r>
            <a:r>
              <a:rPr lang="en-US" sz="1200" dirty="0"/>
              <a:t>, XSS, encryption)</a:t>
            </a:r>
          </a:p>
          <a:p>
            <a:pPr lvl="1"/>
            <a:r>
              <a:rPr lang="en-US" sz="1200" dirty="0"/>
              <a:t>Integration-heavy workflows</a:t>
            </a:r>
          </a:p>
          <a:p>
            <a:r>
              <a:rPr lang="en-US" sz="1200" b="1" dirty="0"/>
              <a:t>Conclusion (Y Factor – Productivity)</a:t>
            </a:r>
            <a:endParaRPr lang="en-US" sz="1200" dirty="0"/>
          </a:p>
          <a:p>
            <a:r>
              <a:rPr lang="en-US" sz="1200" dirty="0"/>
              <a:t>Productivity in Cycle 3 is </a:t>
            </a:r>
            <a:r>
              <a:rPr lang="en-US" sz="1200" b="1" dirty="0"/>
              <a:t>more consistent and predictable</a:t>
            </a:r>
            <a:endParaRPr lang="en-US" sz="1200" dirty="0"/>
          </a:p>
          <a:p>
            <a:r>
              <a:rPr lang="en-US" sz="1200" dirty="0"/>
              <a:t>Variability is lower compared to Cycle 1</a:t>
            </a:r>
          </a:p>
          <a:p>
            <a:r>
              <a:rPr lang="en-US" sz="1200" dirty="0"/>
              <a:t>Indicates </a:t>
            </a:r>
            <a:r>
              <a:rPr lang="en-US" sz="1200" b="1" dirty="0"/>
              <a:t>process stabilization and team maturity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23992983-46E2-F07A-141C-C4296D52F165}"/>
              </a:ext>
            </a:extLst>
          </p:cNvPr>
          <p:cNvSpPr txBox="1">
            <a:spLocks/>
          </p:cNvSpPr>
          <p:nvPr/>
        </p:nvSpPr>
        <p:spPr>
          <a:xfrm>
            <a:off x="5903068" y="76200"/>
            <a:ext cx="6400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 (Body)"/>
                <a:ea typeface="+mj-ea"/>
                <a:cs typeface="+mj-cs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5pPr>
            <a:lvl6pPr marL="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6pPr>
            <a:lvl7pPr marL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7pPr>
            <a:lvl8pPr marL="10287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8pPr>
            <a:lvl9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9pPr>
          </a:lstStyle>
          <a:p>
            <a:r>
              <a:rPr lang="en-US" dirty="0"/>
              <a:t>X factors (write the x Factors below from your projects)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8C3F6158-DA8B-3674-C245-49A823FE25DA}"/>
              </a:ext>
            </a:extLst>
          </p:cNvPr>
          <p:cNvSpPr txBox="1">
            <a:spLocks/>
          </p:cNvSpPr>
          <p:nvPr/>
        </p:nvSpPr>
        <p:spPr>
          <a:xfrm>
            <a:off x="6019800" y="1043940"/>
            <a:ext cx="3200400" cy="52806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r>
              <a:rPr lang="en-US" sz="1200" b="1" dirty="0"/>
              <a:t>X Factors Influencing Productivity (Cycle 3)</a:t>
            </a:r>
          </a:p>
          <a:p>
            <a:r>
              <a:rPr lang="en-US" sz="1200" dirty="0"/>
              <a:t>Based on project data, the </a:t>
            </a:r>
            <a:r>
              <a:rPr lang="en-US" sz="1200" b="1" dirty="0"/>
              <a:t>key X factors</a:t>
            </a:r>
            <a:r>
              <a:rPr lang="en-US" sz="1200" dirty="0"/>
              <a:t> impacting Productivity are:</a:t>
            </a:r>
          </a:p>
          <a:p>
            <a:r>
              <a:rPr lang="en-US" sz="1100" b="1" dirty="0"/>
              <a:t>Cycle 3 Code Rate Analysis</a:t>
            </a:r>
          </a:p>
          <a:p>
            <a:r>
              <a:rPr lang="en-US" sz="1100" b="1" dirty="0"/>
              <a:t>What Went Well</a:t>
            </a:r>
            <a:endParaRPr lang="en-US" sz="1100" dirty="0"/>
          </a:p>
          <a:p>
            <a:r>
              <a:rPr lang="en-US" sz="1100" dirty="0"/>
              <a:t>Clear modularization across:</a:t>
            </a:r>
          </a:p>
          <a:p>
            <a:pPr lvl="1"/>
            <a:r>
              <a:rPr lang="en-US" sz="1100" dirty="0"/>
              <a:t>O&amp;M Billing</a:t>
            </a:r>
          </a:p>
          <a:p>
            <a:pPr lvl="1"/>
            <a:r>
              <a:rPr lang="en-US" sz="1100" dirty="0" err="1"/>
              <a:t>Bharosa</a:t>
            </a:r>
            <a:endParaRPr lang="en-US" sz="1100" dirty="0"/>
          </a:p>
          <a:p>
            <a:pPr lvl="1"/>
            <a:r>
              <a:rPr lang="en-US" sz="1100" dirty="0"/>
              <a:t>Material Testing</a:t>
            </a:r>
          </a:p>
          <a:p>
            <a:r>
              <a:rPr lang="en-US" sz="1100" dirty="0"/>
              <a:t>Improved:</a:t>
            </a:r>
          </a:p>
          <a:p>
            <a:pPr lvl="1"/>
            <a:r>
              <a:rPr lang="en-US" sz="1100" dirty="0"/>
              <a:t>Design clarity</a:t>
            </a:r>
          </a:p>
          <a:p>
            <a:pPr lvl="1"/>
            <a:r>
              <a:rPr lang="en-US" sz="1100" dirty="0"/>
              <a:t>Reusable database functions</a:t>
            </a:r>
          </a:p>
          <a:p>
            <a:pPr lvl="1"/>
            <a:r>
              <a:rPr lang="en-US" sz="1100" dirty="0"/>
              <a:t>Reduced inline queries</a:t>
            </a:r>
          </a:p>
          <a:p>
            <a:r>
              <a:rPr lang="en-US" sz="1100" dirty="0"/>
              <a:t>Early code reviews reduced rework</a:t>
            </a:r>
          </a:p>
          <a:p>
            <a:r>
              <a:rPr lang="en-US" sz="1100" b="1" dirty="0"/>
              <a:t>What Impacted Code Rate</a:t>
            </a:r>
            <a:endParaRPr lang="en-US" sz="1100" dirty="0"/>
          </a:p>
          <a:p>
            <a:r>
              <a:rPr lang="en-US" sz="1100" dirty="0"/>
              <a:t>Security fixes (XSS, encryption, </a:t>
            </a:r>
            <a:r>
              <a:rPr lang="en-US" sz="1100" dirty="0" err="1"/>
              <a:t>SonarQube</a:t>
            </a:r>
            <a:r>
              <a:rPr lang="en-US" sz="1100" dirty="0"/>
              <a:t> issues)</a:t>
            </a:r>
          </a:p>
          <a:p>
            <a:r>
              <a:rPr lang="en-US" sz="1100" dirty="0"/>
              <a:t>Late CRs requiring re-coding</a:t>
            </a:r>
          </a:p>
          <a:p>
            <a:r>
              <a:rPr lang="en-US" sz="1100" dirty="0"/>
              <a:t>Database refactoring in </a:t>
            </a:r>
            <a:r>
              <a:rPr lang="en-US" sz="1100" dirty="0" err="1"/>
              <a:t>Dhara</a:t>
            </a:r>
            <a:r>
              <a:rPr lang="en-US" sz="1100" dirty="0"/>
              <a:t> and </a:t>
            </a:r>
            <a:r>
              <a:rPr lang="en-US" sz="1100" dirty="0" err="1"/>
              <a:t>Nirmal</a:t>
            </a:r>
            <a:r>
              <a:rPr lang="en-US" sz="1100" dirty="0"/>
              <a:t> modules</a:t>
            </a:r>
          </a:p>
          <a:p>
            <a:r>
              <a:rPr lang="en-US" sz="1100" b="1" dirty="0"/>
              <a:t>Outcome</a:t>
            </a:r>
            <a:endParaRPr lang="en-US" sz="1100" dirty="0"/>
          </a:p>
          <a:p>
            <a:r>
              <a:rPr lang="en-US" sz="1100" dirty="0"/>
              <a:t>Code Rate is </a:t>
            </a:r>
            <a:r>
              <a:rPr lang="en-US" sz="1100" b="1" dirty="0"/>
              <a:t>better controlled</a:t>
            </a:r>
            <a:r>
              <a:rPr lang="en-US" sz="1100" dirty="0"/>
              <a:t> than earlier cycles</a:t>
            </a:r>
          </a:p>
          <a:p>
            <a:r>
              <a:rPr lang="en-US" sz="1100" dirty="0"/>
              <a:t>Less fluctuation across modules</a:t>
            </a:r>
          </a:p>
          <a:p>
            <a:r>
              <a:rPr lang="en-US" sz="1100" dirty="0"/>
              <a:t>Strong contributor to productivity improvement</a:t>
            </a:r>
          </a:p>
          <a:p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9220200" y="1043940"/>
            <a:ext cx="2743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Cycle 3 Testing Rate Analysis</a:t>
            </a:r>
          </a:p>
          <a:p>
            <a:r>
              <a:rPr lang="en-US" sz="1100" b="1" dirty="0"/>
              <a:t>Positive Trends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Early involvement of QA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Structured test case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Clear workflows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GM / Contractor / FE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Approval-based modules (Material, </a:t>
            </a:r>
            <a:r>
              <a:rPr lang="en-US" sz="1100" dirty="0" err="1"/>
              <a:t>Bharosa</a:t>
            </a:r>
            <a:r>
              <a:rPr lang="en-US" sz="1100" dirty="0"/>
              <a:t>)</a:t>
            </a:r>
          </a:p>
          <a:p>
            <a:r>
              <a:rPr lang="en-US" sz="1100" b="1" dirty="0"/>
              <a:t>Challenges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UAT defects due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Change requests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Business rule clarifications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Cross-module dependency testing increased effort</a:t>
            </a:r>
          </a:p>
          <a:p>
            <a:r>
              <a:rPr lang="en-US" sz="1100" b="1" dirty="0"/>
              <a:t>Outcome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Testing Rate stabilized compared to Cycle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Fewer late-stage defects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Better regression control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652659"/>
            <a:ext cx="4495800" cy="4811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84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505FFB26-94E9-0482-62A5-CBD80A90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DC2BBA-F733-14C3-610D-0AEF2F66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1"/>
            <a:ext cx="11049000" cy="790799"/>
          </a:xfrm>
        </p:spPr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068065D-0989-BB13-8E88-495F2E76A3C8}"/>
              </a:ext>
            </a:extLst>
          </p:cNvPr>
          <p:cNvSpPr txBox="1"/>
          <p:nvPr/>
        </p:nvSpPr>
        <p:spPr>
          <a:xfrm>
            <a:off x="659860" y="773439"/>
            <a:ext cx="1104899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Cycle 3 – Productivity Interpretation</a:t>
            </a:r>
          </a:p>
          <a:p>
            <a:r>
              <a:rPr lang="en-US" sz="1100" dirty="0"/>
              <a:t>Productivity remained </a:t>
            </a:r>
            <a:r>
              <a:rPr lang="en-US" sz="1100" b="1" dirty="0"/>
              <a:t>stable across most modules</a:t>
            </a:r>
            <a:endParaRPr lang="en-US" sz="1100" dirty="0"/>
          </a:p>
          <a:p>
            <a:r>
              <a:rPr lang="en-US" sz="1100" dirty="0"/>
              <a:t>Higher productivity observed in:</a:t>
            </a:r>
          </a:p>
          <a:p>
            <a:pPr lvl="1"/>
            <a:r>
              <a:rPr lang="en-US" sz="1100" dirty="0"/>
              <a:t>Mobile modules</a:t>
            </a:r>
          </a:p>
          <a:p>
            <a:pPr lvl="1"/>
            <a:r>
              <a:rPr lang="en-US" sz="1100" dirty="0"/>
              <a:t>Well-defined workflows (</a:t>
            </a:r>
            <a:r>
              <a:rPr lang="en-US" sz="1100" dirty="0" err="1"/>
              <a:t>Bharosa</a:t>
            </a:r>
            <a:r>
              <a:rPr lang="en-US" sz="1100" dirty="0"/>
              <a:t>, O&amp;M Contractor)</a:t>
            </a:r>
          </a:p>
          <a:p>
            <a:r>
              <a:rPr lang="en-US" sz="1100" dirty="0"/>
              <a:t>Lower productivity seen where:</a:t>
            </a:r>
          </a:p>
          <a:p>
            <a:pPr lvl="1"/>
            <a:r>
              <a:rPr lang="en-US" sz="1100" dirty="0"/>
              <a:t>Heavy CRs existed</a:t>
            </a:r>
          </a:p>
          <a:p>
            <a:pPr lvl="1"/>
            <a:r>
              <a:rPr lang="en-US" sz="1100" dirty="0"/>
              <a:t>Security &amp; compliance fixes were involved</a:t>
            </a:r>
          </a:p>
          <a:p>
            <a:endParaRPr lang="en-US" sz="1100" dirty="0" smtClean="0"/>
          </a:p>
          <a:p>
            <a:endParaRPr lang="en-US" sz="1100" dirty="0"/>
          </a:p>
          <a:p>
            <a:endParaRPr lang="en-US" sz="1100" dirty="0" smtClean="0"/>
          </a:p>
          <a:p>
            <a:r>
              <a:rPr lang="en-US" sz="1100" dirty="0"/>
              <a:t>Cycle 3 demonstrates </a:t>
            </a:r>
            <a:r>
              <a:rPr lang="en-US" sz="1100" b="1" dirty="0"/>
              <a:t>process maturity</a:t>
            </a:r>
            <a:r>
              <a:rPr lang="en-US" sz="1100" dirty="0"/>
              <a:t>, where productivity is </a:t>
            </a:r>
            <a:r>
              <a:rPr lang="en-US" sz="1100" b="1" dirty="0"/>
              <a:t>consistent and predictable</a:t>
            </a:r>
            <a:r>
              <a:rPr lang="en-US" sz="1100" dirty="0" smtClean="0"/>
              <a:t>,</a:t>
            </a:r>
          </a:p>
          <a:p>
            <a:r>
              <a:rPr lang="en-US" sz="1100" dirty="0" smtClean="0"/>
              <a:t> </a:t>
            </a:r>
            <a:r>
              <a:rPr lang="en-US" sz="1100" dirty="0"/>
              <a:t>and variations are mainly driven by </a:t>
            </a:r>
            <a:r>
              <a:rPr lang="en-US" sz="1100" b="1" dirty="0"/>
              <a:t>change requests and security enhancements</a:t>
            </a:r>
            <a:r>
              <a:rPr lang="en-US" sz="1100" dirty="0"/>
              <a:t>, not process gaps.</a:t>
            </a:r>
            <a:endParaRPr lang="en-US" sz="1100" dirty="0" smtClean="0"/>
          </a:p>
          <a:p>
            <a:endParaRPr lang="en-US" sz="1100" dirty="0"/>
          </a:p>
          <a:p>
            <a:endParaRPr lang="en-US" sz="1100" b="1" dirty="0" smtClean="0"/>
          </a:p>
          <a:p>
            <a:r>
              <a:rPr lang="en-US" sz="1100" b="1" dirty="0" smtClean="0"/>
              <a:t>Combined </a:t>
            </a:r>
            <a:r>
              <a:rPr lang="en-US" sz="1100" b="1" dirty="0"/>
              <a:t>Effect of X Factors on Y </a:t>
            </a:r>
            <a:r>
              <a:rPr lang="en-US" sz="1100" b="1" dirty="0" smtClean="0"/>
              <a:t>Factor</a:t>
            </a:r>
            <a:r>
              <a:rPr lang="en-US" sz="1100" dirty="0" smtClean="0"/>
              <a:t/>
            </a:r>
            <a:br>
              <a:rPr lang="en-US" sz="1100" dirty="0" smtClean="0"/>
            </a:br>
            <a:endParaRPr lang="en-US" sz="1100" dirty="0" smtClean="0"/>
          </a:p>
          <a:p>
            <a:r>
              <a:rPr lang="en-US" sz="1100" b="1" dirty="0"/>
              <a:t>Code Rate contributes more strongly to productivity compared to Testing Rate</a:t>
            </a:r>
            <a:r>
              <a:rPr lang="en-US" sz="1100" dirty="0"/>
              <a:t>, </a:t>
            </a:r>
            <a:endParaRPr lang="en-US" sz="1100" dirty="0" smtClean="0"/>
          </a:p>
          <a:p>
            <a:r>
              <a:rPr lang="en-US" sz="1100" dirty="0" smtClean="0"/>
              <a:t>but </a:t>
            </a:r>
            <a:r>
              <a:rPr lang="en-US" sz="1100" b="1" dirty="0"/>
              <a:t>both are essential</a:t>
            </a:r>
            <a:r>
              <a:rPr lang="en-US" sz="1100" dirty="0"/>
              <a:t> for sustained improvement.</a:t>
            </a:r>
          </a:p>
          <a:p>
            <a:endParaRPr lang="en-US" sz="11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1066800" y="6365068"/>
            <a:ext cx="937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Please Central Repository link for (Data Collection, Action Plan): &lt;&lt;link&gt;&gt;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4097891"/>
            <a:ext cx="89154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Cycle 3 – Overall 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Productivity (Y)</a:t>
            </a:r>
            <a:r>
              <a:rPr lang="en-US" sz="1100" dirty="0"/>
              <a:t> improved mainly due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Better </a:t>
            </a:r>
            <a:r>
              <a:rPr lang="en-US" sz="1100" b="1" dirty="0"/>
              <a:t>Code Rate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More structured </a:t>
            </a:r>
            <a:r>
              <a:rPr lang="en-US" sz="1100" b="1" dirty="0"/>
              <a:t>Testing Rate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Process improvements: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Code reviews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Security audits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Database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Remaining focus area: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Reduce </a:t>
            </a:r>
            <a:r>
              <a:rPr lang="en-US" sz="1100" b="1" dirty="0"/>
              <a:t>standard deviation</a:t>
            </a:r>
            <a:r>
              <a:rPr lang="en-US" sz="1100" dirty="0"/>
              <a:t> of Code &amp; Testing rates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988402"/>
              </p:ext>
            </p:extLst>
          </p:nvPr>
        </p:nvGraphicFramePr>
        <p:xfrm>
          <a:off x="5715000" y="5029200"/>
          <a:ext cx="5257800" cy="7772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752600"/>
                <a:gridCol w="1752600"/>
                <a:gridCol w="17526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X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Influence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Effect on Productivity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Code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Major driver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Testing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Supporting driver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9860" y="5993226"/>
            <a:ext cx="115321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In the </a:t>
            </a:r>
            <a:r>
              <a:rPr lang="en-US" sz="1100" dirty="0" err="1"/>
              <a:t>Jal</a:t>
            </a:r>
            <a:r>
              <a:rPr lang="en-US" sz="1100" dirty="0"/>
              <a:t> </a:t>
            </a:r>
            <a:r>
              <a:rPr lang="en-US" sz="1100" dirty="0" err="1"/>
              <a:t>Rekha</a:t>
            </a:r>
            <a:r>
              <a:rPr lang="en-US" sz="1100" dirty="0"/>
              <a:t> project, productivity is strongly driven by coding efficiency and supported by testing effectiveness; stabilizing these X factors results in sustained and predictable productivity.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604866"/>
              </p:ext>
            </p:extLst>
          </p:nvPr>
        </p:nvGraphicFramePr>
        <p:xfrm>
          <a:off x="7708360" y="862519"/>
          <a:ext cx="2705100" cy="3695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700"/>
                <a:gridCol w="901700"/>
                <a:gridCol w="901700"/>
              </a:tblGrid>
              <a:tr h="196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Productivity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Code_Rate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Test_Rate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0.727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1.000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0.333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0.571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0.727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0.600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931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2AA9C47-8B83-3B25-657A-5F5CA5E2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6FFC0FDA-9B4B-CACF-DAE2-B7909E7FB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396875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Chart – Productivity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2E9110D-1451-528E-69C5-49F51CC562D2}"/>
              </a:ext>
            </a:extLst>
          </p:cNvPr>
          <p:cNvSpPr txBox="1"/>
          <p:nvPr/>
        </p:nvSpPr>
        <p:spPr>
          <a:xfrm>
            <a:off x="685800" y="990600"/>
            <a:ext cx="1118520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The </a:t>
            </a:r>
            <a:r>
              <a:rPr lang="en-US" sz="1100" b="1" dirty="0"/>
              <a:t>Productivity Control Chart</a:t>
            </a:r>
            <a:r>
              <a:rPr lang="en-US" sz="1100" dirty="0"/>
              <a:t> for </a:t>
            </a:r>
            <a:r>
              <a:rPr lang="en-US" sz="1100" dirty="0" smtClean="0"/>
              <a:t>Cycle-3 </a:t>
            </a:r>
            <a:r>
              <a:rPr lang="en-US" sz="1100" dirty="0"/>
              <a:t>has been generated using actual productivity values recorded across modules </a:t>
            </a:r>
            <a:endParaRPr lang="en-US" sz="1100" dirty="0" smtClean="0"/>
          </a:p>
          <a:p>
            <a:r>
              <a:rPr lang="en-US" sz="1100" dirty="0" smtClean="0"/>
              <a:t>and </a:t>
            </a:r>
            <a:r>
              <a:rPr lang="en-US" sz="1100" dirty="0"/>
              <a:t>time periods from the </a:t>
            </a:r>
            <a:r>
              <a:rPr lang="en-US" sz="1100" b="1" dirty="0" smtClean="0"/>
              <a:t>Cycle-3 </a:t>
            </a:r>
            <a:r>
              <a:rPr lang="en-US" sz="1100" b="1" dirty="0"/>
              <a:t>data collection sheet</a:t>
            </a:r>
            <a:r>
              <a:rPr lang="en-US" sz="1100" dirty="0" smtClean="0"/>
              <a:t>.</a:t>
            </a:r>
            <a:br>
              <a:rPr lang="en-US" sz="1100" dirty="0" smtClean="0"/>
            </a:br>
            <a:endParaRPr lang="en-US" sz="1100" dirty="0" smtClean="0"/>
          </a:p>
          <a:p>
            <a:r>
              <a:rPr lang="en-US" sz="1100" b="1" dirty="0"/>
              <a:t>Observations from Cycle 3 Productivity Control Chart</a:t>
            </a:r>
          </a:p>
          <a:p>
            <a:r>
              <a:rPr lang="en-US" sz="1100" b="1" dirty="0"/>
              <a:t>1. Improved Mean Productivity</a:t>
            </a:r>
          </a:p>
          <a:p>
            <a:r>
              <a:rPr lang="en-US" sz="1100" dirty="0"/>
              <a:t>The </a:t>
            </a:r>
            <a:r>
              <a:rPr lang="en-US" sz="1100" b="1" dirty="0"/>
              <a:t>average productivity in Cycle-3 is higher than Cycle-2</a:t>
            </a:r>
            <a:endParaRPr lang="en-US" sz="1100" dirty="0"/>
          </a:p>
          <a:p>
            <a:r>
              <a:rPr lang="en-US" sz="1100" dirty="0"/>
              <a:t>Indicates:</a:t>
            </a:r>
          </a:p>
          <a:p>
            <a:pPr lvl="1"/>
            <a:r>
              <a:rPr lang="en-US" sz="1100" dirty="0"/>
              <a:t>Better effort estimation</a:t>
            </a:r>
          </a:p>
          <a:p>
            <a:pPr lvl="1"/>
            <a:r>
              <a:rPr lang="en-US" sz="1100" dirty="0"/>
              <a:t>Reduced rework</a:t>
            </a:r>
          </a:p>
          <a:p>
            <a:pPr lvl="1"/>
            <a:r>
              <a:rPr lang="en-US" sz="1100" dirty="0"/>
              <a:t>Improved execution discipline</a:t>
            </a:r>
          </a:p>
          <a:p>
            <a:r>
              <a:rPr lang="en-US" sz="1100" b="1" dirty="0"/>
              <a:t>2. Reduced Process Variation</a:t>
            </a:r>
          </a:p>
          <a:p>
            <a:r>
              <a:rPr lang="en-US" sz="1100" dirty="0"/>
              <a:t>Fewer points approaching </a:t>
            </a:r>
            <a:r>
              <a:rPr lang="en-US" sz="1100" b="1" dirty="0"/>
              <a:t>UCL or LCL</a:t>
            </a:r>
            <a:endParaRPr lang="en-US" sz="1100" dirty="0"/>
          </a:p>
          <a:p>
            <a:r>
              <a:rPr lang="en-US" sz="1100" dirty="0"/>
              <a:t>No abnormal spikes or drops</a:t>
            </a:r>
          </a:p>
          <a:p>
            <a:r>
              <a:rPr lang="en-US" sz="1100" dirty="0"/>
              <a:t>Indicates a </a:t>
            </a:r>
            <a:r>
              <a:rPr lang="en-US" sz="1100" b="1" dirty="0"/>
              <a:t>stable and controlled development process</a:t>
            </a:r>
            <a:endParaRPr lang="en-US" sz="1100" dirty="0"/>
          </a:p>
          <a:p>
            <a:r>
              <a:rPr lang="en-US" sz="1100" b="1" dirty="0" smtClean="0"/>
              <a:t/>
            </a:r>
            <a:br>
              <a:rPr lang="en-US" sz="1100" b="1" dirty="0" smtClean="0"/>
            </a:br>
            <a:r>
              <a:rPr lang="en-US" sz="1100" b="1" dirty="0"/>
              <a:t>3. No Special-Cause Variation</a:t>
            </a:r>
          </a:p>
          <a:p>
            <a:r>
              <a:rPr lang="en-US" sz="1100" dirty="0"/>
              <a:t>All productivity points lie </a:t>
            </a:r>
            <a:r>
              <a:rPr lang="en-US" sz="1100" b="1" dirty="0"/>
              <a:t>within control limits</a:t>
            </a:r>
            <a:endParaRPr lang="en-US" sz="1100" dirty="0"/>
          </a:p>
          <a:p>
            <a:r>
              <a:rPr lang="en-US" sz="1100" dirty="0"/>
              <a:t>Confirms:</a:t>
            </a:r>
          </a:p>
          <a:p>
            <a:pPr lvl="1"/>
            <a:r>
              <a:rPr lang="en-US" sz="1100" dirty="0"/>
              <a:t>Process is </a:t>
            </a:r>
            <a:r>
              <a:rPr lang="en-US" sz="1100" b="1" dirty="0"/>
              <a:t>predictable</a:t>
            </a:r>
            <a:endParaRPr lang="en-US" sz="1100" dirty="0"/>
          </a:p>
          <a:p>
            <a:pPr lvl="1"/>
            <a:r>
              <a:rPr lang="en-US" sz="1100" dirty="0"/>
              <a:t>No firefighting or unplanned rework cycles</a:t>
            </a:r>
          </a:p>
          <a:p>
            <a:r>
              <a:rPr lang="en-US" sz="1100" b="1" dirty="0"/>
              <a:t>4. Consistency Across Modules</a:t>
            </a:r>
          </a:p>
          <a:p>
            <a:r>
              <a:rPr lang="en-US" sz="1100" dirty="0"/>
              <a:t>Similar productivity trends observed across:</a:t>
            </a:r>
          </a:p>
          <a:p>
            <a:pPr lvl="1"/>
            <a:r>
              <a:rPr lang="en-US" sz="1100" dirty="0"/>
              <a:t>Web modules</a:t>
            </a:r>
          </a:p>
          <a:p>
            <a:pPr lvl="1"/>
            <a:r>
              <a:rPr lang="en-US" sz="1100" dirty="0"/>
              <a:t>Mobile modules</a:t>
            </a:r>
          </a:p>
          <a:p>
            <a:pPr lvl="1"/>
            <a:r>
              <a:rPr lang="en-US" sz="1100" dirty="0"/>
              <a:t>CR-based enhancements</a:t>
            </a:r>
          </a:p>
          <a:p>
            <a:r>
              <a:rPr lang="en-US" sz="1100" dirty="0"/>
              <a:t>Shows maturity in </a:t>
            </a:r>
            <a:r>
              <a:rPr lang="en-US" sz="1100" b="1" dirty="0"/>
              <a:t>cross-functional </a:t>
            </a:r>
            <a:r>
              <a:rPr lang="en-US" sz="1100" b="1" dirty="0" smtClean="0"/>
              <a:t>execution</a:t>
            </a:r>
            <a:endParaRPr lang="en-US" sz="1100" b="1" dirty="0"/>
          </a:p>
          <a:p>
            <a:endParaRPr lang="en-IN" sz="1100" b="1" dirty="0">
              <a:latin typeface="Aptos Display" panose="020B00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533" y="1219200"/>
            <a:ext cx="6324600" cy="4191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62400" y="5226784"/>
            <a:ext cx="10591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/>
              <a:t>Reasons for Productivity Improvement in Cycle 3</a:t>
            </a:r>
          </a:p>
          <a:p>
            <a:r>
              <a:rPr lang="en-US" sz="1000" b="1" dirty="0"/>
              <a:t>Process Improvements Implemented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Strong </a:t>
            </a:r>
            <a:r>
              <a:rPr lang="en-US" sz="1000" b="1" dirty="0"/>
              <a:t>code review discipline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Stabilized </a:t>
            </a:r>
            <a:r>
              <a:rPr lang="en-US" sz="1000" b="1" dirty="0"/>
              <a:t>testing and review cycles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Reduced </a:t>
            </a:r>
            <a:r>
              <a:rPr lang="en-US" sz="1000" b="1" dirty="0"/>
              <a:t>late-stage change requests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Better </a:t>
            </a:r>
            <a:r>
              <a:rPr lang="en-US" sz="1000" b="1" dirty="0"/>
              <a:t>release planning &amp; UAT coordination</a:t>
            </a:r>
            <a:endParaRPr lang="en-US" sz="1000" dirty="0"/>
          </a:p>
          <a:p>
            <a:r>
              <a:rPr lang="en-US" sz="1000" b="1" dirty="0"/>
              <a:t>Engineering Practices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SonarQube</a:t>
            </a:r>
            <a:r>
              <a:rPr lang="en-US" sz="1000" dirty="0"/>
              <a:t>-based quality checks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Security fixes and refactoring handled early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Clear ownership across FE, Contractor, GM workflows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5487144"/>
            <a:ext cx="6096000" cy="9387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/>
              <a:t>Conclusion (Y-Factor – Cycle 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Productivity in Cycle-3 is </a:t>
            </a:r>
            <a:r>
              <a:rPr lang="en-US" sz="1100" b="1" dirty="0"/>
              <a:t>within statistical control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Mean productivity shows </a:t>
            </a:r>
            <a:r>
              <a:rPr lang="en-US" sz="1100" b="1" dirty="0"/>
              <a:t>sustained improvement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Variability is </a:t>
            </a:r>
            <a:r>
              <a:rPr lang="en-US" sz="1100" b="1" dirty="0"/>
              <a:t>reduced</a:t>
            </a:r>
            <a:r>
              <a:rPr lang="en-US" sz="1100" dirty="0"/>
              <a:t>, not just shifted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Process is </a:t>
            </a:r>
            <a:r>
              <a:rPr lang="en-US" sz="1100" b="1" dirty="0"/>
              <a:t>ready for scaling and repeatability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7116605" y="5546569"/>
            <a:ext cx="44657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Cycle-3 productivity demonstrates a stable, controlled, and improved delivery process driven by disciplined coding, testing, and review practices.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08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E4CB4B1-4914-2D17-27FE-C080C9338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B0791600-B463-B1AC-07E0-65C0872B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0857"/>
            <a:ext cx="9277350" cy="733544"/>
          </a:xfrm>
        </p:spPr>
        <p:txBody>
          <a:bodyPr>
            <a:normAutofit/>
          </a:bodyPr>
          <a:lstStyle/>
          <a:p>
            <a:r>
              <a:rPr lang="en-US" dirty="0"/>
              <a:t>Control Chart – Code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7035A78-0309-DA6D-3256-C3FE834E2A47}"/>
              </a:ext>
            </a:extLst>
          </p:cNvPr>
          <p:cNvSpPr txBox="1"/>
          <p:nvPr/>
        </p:nvSpPr>
        <p:spPr>
          <a:xfrm>
            <a:off x="685800" y="1133356"/>
            <a:ext cx="11125199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 </a:t>
            </a:r>
            <a:r>
              <a:rPr lang="en-US" sz="1100" b="1" dirty="0" smtClean="0"/>
              <a:t>Cycle-3</a:t>
            </a:r>
            <a:r>
              <a:rPr lang="en-US" sz="1100" dirty="0" smtClean="0"/>
              <a:t>, </a:t>
            </a:r>
            <a:r>
              <a:rPr lang="en-US" sz="1100" b="1" dirty="0"/>
              <a:t>Code Rate (X Factor)</a:t>
            </a:r>
            <a:r>
              <a:rPr lang="en-US" sz="1100" dirty="0"/>
              <a:t> measures the efficiency and consistency of the coding activity and is calculated as:</a:t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Code Rate = Functional Size Implemented (USP / FP) ÷ Actual Coding Effort (Person-Hours</a:t>
            </a:r>
            <a:r>
              <a:rPr lang="en-US" sz="1100" dirty="0" smtClean="0"/>
              <a:t>)</a:t>
            </a:r>
            <a:br>
              <a:rPr lang="en-US" sz="1100" dirty="0" smtClean="0"/>
            </a:b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b="1" dirty="0"/>
              <a:t>Observations from Cycle 3 Code Rate Control Chart</a:t>
            </a:r>
          </a:p>
          <a:p>
            <a:r>
              <a:rPr lang="en-US" sz="1100" b="1" dirty="0"/>
              <a:t>1. Improved Mean Code Rate</a:t>
            </a:r>
          </a:p>
          <a:p>
            <a:r>
              <a:rPr lang="en-US" sz="1100" dirty="0"/>
              <a:t>The </a:t>
            </a:r>
            <a:r>
              <a:rPr lang="en-US" sz="1100" b="1" dirty="0"/>
              <a:t>average Code Rate in Cycle-3 is higher than previous cycles</a:t>
            </a:r>
            <a:endParaRPr lang="en-US" sz="1100" dirty="0"/>
          </a:p>
          <a:p>
            <a:r>
              <a:rPr lang="en-US" sz="1100" dirty="0"/>
              <a:t>Indicates:</a:t>
            </a:r>
          </a:p>
          <a:p>
            <a:pPr lvl="1"/>
            <a:r>
              <a:rPr lang="en-US" sz="1100" dirty="0"/>
              <a:t>Better coding discipline</a:t>
            </a:r>
          </a:p>
          <a:p>
            <a:pPr lvl="1"/>
            <a:r>
              <a:rPr lang="en-US" sz="1100" dirty="0"/>
              <a:t>Reduced rework during coding</a:t>
            </a:r>
          </a:p>
          <a:p>
            <a:pPr lvl="1"/>
            <a:r>
              <a:rPr lang="en-US" sz="1100" dirty="0"/>
              <a:t>Improved clarity in requirements and design</a:t>
            </a:r>
          </a:p>
          <a:p>
            <a:r>
              <a:rPr lang="en-US" sz="1100" b="1" dirty="0"/>
              <a:t>2. Reduced Variability in Coding</a:t>
            </a:r>
          </a:p>
          <a:p>
            <a:r>
              <a:rPr lang="en-US" sz="1100" dirty="0"/>
              <a:t>Code Rate points are </a:t>
            </a:r>
            <a:r>
              <a:rPr lang="en-US" sz="1100" b="1" dirty="0"/>
              <a:t>tightly clustered around the mean</a:t>
            </a:r>
            <a:endParaRPr lang="en-US" sz="1100" dirty="0"/>
          </a:p>
          <a:p>
            <a:r>
              <a:rPr lang="en-US" sz="1100" dirty="0"/>
              <a:t>Very few points approach control limits</a:t>
            </a:r>
          </a:p>
          <a:p>
            <a:r>
              <a:rPr lang="en-US" sz="1100" dirty="0"/>
              <a:t>Shows </a:t>
            </a:r>
            <a:r>
              <a:rPr lang="en-US" sz="1100" b="1" dirty="0"/>
              <a:t>predictable and repeatable coding performance</a:t>
            </a:r>
            <a:endParaRPr lang="en-US" sz="1100" dirty="0"/>
          </a:p>
          <a:p>
            <a:r>
              <a:rPr lang="en-US" sz="1100" b="1" dirty="0" smtClean="0"/>
              <a:t/>
            </a:r>
            <a:br>
              <a:rPr lang="en-US" sz="1100" b="1" dirty="0" smtClean="0"/>
            </a:br>
            <a:r>
              <a:rPr lang="en-US" sz="1100" b="1" dirty="0" smtClean="0"/>
              <a:t>3. </a:t>
            </a:r>
            <a:r>
              <a:rPr lang="en-US" sz="1100" b="1" dirty="0"/>
              <a:t>Consistency Across Modules</a:t>
            </a:r>
          </a:p>
          <a:p>
            <a:r>
              <a:rPr lang="en-US" sz="1100" dirty="0"/>
              <a:t>Similar Code Rate trends observed across:</a:t>
            </a:r>
          </a:p>
          <a:p>
            <a:pPr lvl="1"/>
            <a:r>
              <a:rPr lang="en-US" sz="1100" dirty="0" err="1"/>
              <a:t>Bharosa</a:t>
            </a:r>
            <a:r>
              <a:rPr lang="en-US" sz="1100" dirty="0"/>
              <a:t> (Web &amp; Mobile)</a:t>
            </a:r>
          </a:p>
          <a:p>
            <a:pPr lvl="1"/>
            <a:r>
              <a:rPr lang="en-US" sz="1100" dirty="0"/>
              <a:t>Material Testing</a:t>
            </a:r>
          </a:p>
          <a:p>
            <a:pPr lvl="1"/>
            <a:r>
              <a:rPr lang="en-US" sz="1100" dirty="0"/>
              <a:t>O&amp;M Billing</a:t>
            </a:r>
          </a:p>
          <a:p>
            <a:pPr lvl="1"/>
            <a:r>
              <a:rPr lang="en-US" sz="1100" dirty="0" err="1"/>
              <a:t>Dhara</a:t>
            </a:r>
            <a:r>
              <a:rPr lang="en-US" sz="1100" dirty="0"/>
              <a:t> &amp; </a:t>
            </a:r>
            <a:r>
              <a:rPr lang="en-US" sz="1100" dirty="0" err="1"/>
              <a:t>Nirmal</a:t>
            </a:r>
            <a:r>
              <a:rPr lang="en-US" sz="1100" dirty="0"/>
              <a:t> CRs</a:t>
            </a:r>
          </a:p>
          <a:p>
            <a:r>
              <a:rPr lang="en-US" sz="1100" dirty="0"/>
              <a:t>Demonstrates </a:t>
            </a:r>
            <a:r>
              <a:rPr lang="en-US" sz="1100" b="1" dirty="0"/>
              <a:t>uniform coding standards</a:t>
            </a:r>
            <a:r>
              <a:rPr lang="en-US" sz="1100" dirty="0"/>
              <a:t> across teams</a:t>
            </a:r>
          </a:p>
          <a:p>
            <a:endParaRPr lang="en-US" sz="1100" b="1" dirty="0" smtClean="0"/>
          </a:p>
          <a:p>
            <a:r>
              <a:rPr lang="en-US" sz="1100" b="1" dirty="0"/>
              <a:t>Reasons for Code Rate Improvement in Cycle 3</a:t>
            </a:r>
          </a:p>
          <a:p>
            <a:r>
              <a:rPr lang="en-US" sz="1100" b="1" dirty="0"/>
              <a:t>Process &amp; Practice Improvements</a:t>
            </a:r>
          </a:p>
          <a:p>
            <a:r>
              <a:rPr lang="en-US" sz="1100" dirty="0"/>
              <a:t>Mandatory </a:t>
            </a:r>
            <a:r>
              <a:rPr lang="en-US" sz="1100" b="1" dirty="0"/>
              <a:t>Code Review Checklists</a:t>
            </a:r>
            <a:endParaRPr lang="en-US" sz="1100" dirty="0"/>
          </a:p>
          <a:p>
            <a:r>
              <a:rPr lang="en-US" sz="1100" dirty="0"/>
              <a:t>Early </a:t>
            </a:r>
            <a:r>
              <a:rPr lang="en-US" sz="1100" b="1" dirty="0" err="1"/>
              <a:t>SonarQube</a:t>
            </a:r>
            <a:r>
              <a:rPr lang="en-US" sz="1100" b="1" dirty="0"/>
              <a:t> static analysis</a:t>
            </a:r>
            <a:endParaRPr lang="en-US" sz="1100" dirty="0"/>
          </a:p>
          <a:p>
            <a:r>
              <a:rPr lang="en-US" sz="1100" dirty="0"/>
              <a:t>Clear separation of:</a:t>
            </a:r>
          </a:p>
          <a:p>
            <a:pPr lvl="1"/>
            <a:r>
              <a:rPr lang="en-US" sz="1100" dirty="0"/>
              <a:t>Development</a:t>
            </a:r>
          </a:p>
          <a:p>
            <a:pPr lvl="1"/>
            <a:r>
              <a:rPr lang="en-US" sz="1100" dirty="0"/>
              <a:t>Code review</a:t>
            </a:r>
          </a:p>
          <a:p>
            <a:pPr lvl="1"/>
            <a:r>
              <a:rPr lang="en-US" sz="1100" dirty="0" smtClean="0"/>
              <a:t>Refactoring</a:t>
            </a:r>
            <a:endParaRPr lang="en-US" sz="1100" dirty="0"/>
          </a:p>
          <a:p>
            <a:r>
              <a:rPr lang="en-US" sz="1100" dirty="0"/>
              <a:t>Reduction in late-stage CRs impacting </a:t>
            </a:r>
            <a:r>
              <a:rPr lang="en-US" sz="1100" dirty="0" smtClean="0"/>
              <a:t>coding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047" y="1420977"/>
            <a:ext cx="5652952" cy="459882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33800" y="5791200"/>
            <a:ext cx="6096000" cy="9387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/>
              <a:t>Technical Maturity</a:t>
            </a:r>
          </a:p>
          <a:p>
            <a:r>
              <a:rPr lang="en-US" sz="1100" dirty="0"/>
              <a:t>Reusable components and APIs</a:t>
            </a:r>
          </a:p>
          <a:p>
            <a:r>
              <a:rPr lang="en-US" sz="1100" dirty="0"/>
              <a:t>Optimized </a:t>
            </a:r>
            <a:r>
              <a:rPr lang="en-US" sz="1100" dirty="0" err="1"/>
              <a:t>PostgreSQL</a:t>
            </a:r>
            <a:r>
              <a:rPr lang="en-US" sz="1100" dirty="0"/>
              <a:t> queries</a:t>
            </a:r>
          </a:p>
          <a:p>
            <a:r>
              <a:rPr lang="en-US" sz="1100" dirty="0"/>
              <a:t>Improved schema and function reuse</a:t>
            </a:r>
          </a:p>
          <a:p>
            <a:r>
              <a:rPr lang="en-US" sz="1100" dirty="0"/>
              <a:t>Standardized UI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61772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Code Rate acts as the </a:t>
            </a:r>
            <a:r>
              <a:rPr lang="en-US" b="1" dirty="0"/>
              <a:t>primary driver</a:t>
            </a:r>
            <a:r>
              <a:rPr lang="en-US" dirty="0"/>
              <a:t> for productivity improvement.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97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87B7AF0-5A6F-C0CF-19F6-8B06976B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60AC83AC-9CC0-D04B-0238-281EDC4F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087"/>
            <a:ext cx="11353800" cy="751114"/>
          </a:xfrm>
        </p:spPr>
        <p:txBody>
          <a:bodyPr>
            <a:normAutofit/>
          </a:bodyPr>
          <a:lstStyle/>
          <a:p>
            <a:r>
              <a:rPr lang="en-US" dirty="0"/>
              <a:t>Control Chart – </a:t>
            </a:r>
            <a:r>
              <a:rPr lang="en-IN" dirty="0"/>
              <a:t>Testing Rate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47A9711-FFF5-7AAF-3AAA-8A613D959BD2}"/>
              </a:ext>
            </a:extLst>
          </p:cNvPr>
          <p:cNvSpPr txBox="1"/>
          <p:nvPr/>
        </p:nvSpPr>
        <p:spPr>
          <a:xfrm>
            <a:off x="533400" y="990601"/>
            <a:ext cx="11353799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 </a:t>
            </a:r>
            <a:r>
              <a:rPr lang="en-US" sz="1100" b="1" dirty="0" smtClean="0"/>
              <a:t>Cycle-3</a:t>
            </a:r>
            <a:r>
              <a:rPr lang="en-US" sz="1100" dirty="0" smtClean="0"/>
              <a:t>, </a:t>
            </a:r>
            <a:r>
              <a:rPr lang="en-US" sz="1100" b="1" dirty="0"/>
              <a:t>Test Rate (X Factor)</a:t>
            </a:r>
            <a:r>
              <a:rPr lang="en-US" sz="1100" dirty="0"/>
              <a:t> measures the efficiency of the testing phase and is defined as:</a:t>
            </a:r>
            <a:br>
              <a:rPr lang="en-US" sz="1100" dirty="0"/>
            </a:br>
            <a:endParaRPr lang="en-US" sz="1100" dirty="0" smtClean="0"/>
          </a:p>
          <a:p>
            <a:r>
              <a:rPr lang="en-US" sz="1100" dirty="0" smtClean="0"/>
              <a:t>Test </a:t>
            </a:r>
            <a:r>
              <a:rPr lang="en-US" sz="1100" dirty="0"/>
              <a:t>Rate = Functional Size Tested (USP / FP) ÷ Actual Testing Effort (Person-Hours</a:t>
            </a:r>
            <a:r>
              <a:rPr lang="en-US" sz="1100" dirty="0" smtClean="0"/>
              <a:t>)</a:t>
            </a:r>
          </a:p>
          <a:p>
            <a:endParaRPr lang="en-US" sz="1100" b="1" dirty="0">
              <a:latin typeface="Aptos Display" panose="020B0004020202020204" pitchFamily="34" charset="0"/>
            </a:endParaRPr>
          </a:p>
          <a:p>
            <a:r>
              <a:rPr lang="en-US" sz="1100" b="1" dirty="0"/>
              <a:t>Observations from Cycle-3 Test Rate Control Chart</a:t>
            </a:r>
          </a:p>
          <a:p>
            <a:r>
              <a:rPr lang="en-US" sz="1100" b="1" dirty="0"/>
              <a:t>1. Stable Testing Process</a:t>
            </a:r>
          </a:p>
          <a:p>
            <a:r>
              <a:rPr lang="en-US" sz="1100" dirty="0"/>
              <a:t>All Test Rate data points fall </a:t>
            </a:r>
            <a:r>
              <a:rPr lang="en-US" sz="1100" b="1" dirty="0"/>
              <a:t>within UCL and LCL</a:t>
            </a:r>
            <a:endParaRPr lang="en-US" sz="1100" dirty="0"/>
          </a:p>
          <a:p>
            <a:r>
              <a:rPr lang="en-US" sz="1100" dirty="0"/>
              <a:t>No out-of-control points observed</a:t>
            </a:r>
          </a:p>
          <a:p>
            <a:r>
              <a:rPr lang="en-US" sz="1100" dirty="0"/>
              <a:t>Indicates </a:t>
            </a:r>
            <a:r>
              <a:rPr lang="en-US" sz="1100" b="1" dirty="0"/>
              <a:t>statistically stable testing performance</a:t>
            </a:r>
            <a:endParaRPr lang="en-US" sz="1100" dirty="0"/>
          </a:p>
          <a:p>
            <a:endParaRPr lang="en-US" sz="1100" b="1" dirty="0" smtClean="0"/>
          </a:p>
          <a:p>
            <a:r>
              <a:rPr lang="en-US" sz="1100" b="1" dirty="0"/>
              <a:t>2. Improved Average Test Rate</a:t>
            </a:r>
          </a:p>
          <a:p>
            <a:r>
              <a:rPr lang="en-US" sz="1100" dirty="0"/>
              <a:t>Mean Test Rate in Cycle-3 is </a:t>
            </a:r>
            <a:r>
              <a:rPr lang="en-US" sz="1100" b="1" dirty="0"/>
              <a:t>higher than Cycle-1 and Cycle-2</a:t>
            </a:r>
            <a:endParaRPr lang="en-US" sz="1100" dirty="0"/>
          </a:p>
          <a:p>
            <a:r>
              <a:rPr lang="en-US" sz="1100" dirty="0"/>
              <a:t>Shows:</a:t>
            </a:r>
          </a:p>
          <a:p>
            <a:pPr lvl="1"/>
            <a:r>
              <a:rPr lang="en-US" sz="1100" dirty="0"/>
              <a:t>Faster test execution</a:t>
            </a:r>
          </a:p>
          <a:p>
            <a:pPr lvl="1"/>
            <a:r>
              <a:rPr lang="en-US" sz="1100" dirty="0"/>
              <a:t>Better test case preparation</a:t>
            </a:r>
          </a:p>
          <a:p>
            <a:pPr lvl="1"/>
            <a:r>
              <a:rPr lang="en-US" sz="1100" dirty="0"/>
              <a:t>Reduced retesting cycles</a:t>
            </a:r>
          </a:p>
          <a:p>
            <a:r>
              <a:rPr lang="en-US" sz="1100" b="1" dirty="0" smtClean="0"/>
              <a:t/>
            </a:r>
            <a:br>
              <a:rPr lang="en-US" sz="1100" b="1" dirty="0" smtClean="0"/>
            </a:br>
            <a:r>
              <a:rPr lang="en-US" sz="1100" b="1" dirty="0" smtClean="0"/>
              <a:t>3</a:t>
            </a:r>
            <a:r>
              <a:rPr lang="en-US" sz="1100" b="1" dirty="0"/>
              <a:t>. Reduced Variation</a:t>
            </a:r>
          </a:p>
          <a:p>
            <a:r>
              <a:rPr lang="en-US" sz="1100" dirty="0"/>
              <a:t>Test Rate values show </a:t>
            </a:r>
            <a:r>
              <a:rPr lang="en-US" sz="1100" b="1" dirty="0"/>
              <a:t>lower dispersion</a:t>
            </a:r>
            <a:endParaRPr lang="en-US" sz="1100" dirty="0"/>
          </a:p>
          <a:p>
            <a:r>
              <a:rPr lang="en-US" sz="1100" dirty="0"/>
              <a:t>Minimal fluctuation between modules</a:t>
            </a:r>
          </a:p>
          <a:p>
            <a:r>
              <a:rPr lang="en-US" sz="1100" dirty="0"/>
              <a:t>Indicates </a:t>
            </a:r>
            <a:r>
              <a:rPr lang="en-US" sz="1100" b="1" dirty="0"/>
              <a:t>standardized testing practices across </a:t>
            </a:r>
            <a:r>
              <a:rPr lang="en-US" sz="1100" b="1" dirty="0" smtClean="0"/>
              <a:t>projects</a:t>
            </a:r>
          </a:p>
          <a:p>
            <a:endParaRPr lang="en-US" sz="1100" dirty="0"/>
          </a:p>
          <a:p>
            <a:r>
              <a:rPr lang="en-US" sz="1100" b="1" dirty="0"/>
              <a:t>4. Early Defect Detection</a:t>
            </a:r>
          </a:p>
          <a:p>
            <a:r>
              <a:rPr lang="en-US" sz="1100" dirty="0"/>
              <a:t>Higher Test Rate achieved </a:t>
            </a:r>
            <a:r>
              <a:rPr lang="en-US" sz="1100" b="1" dirty="0"/>
              <a:t>without increase in UAT or Production defects</a:t>
            </a:r>
            <a:endParaRPr lang="en-US" sz="1100" dirty="0"/>
          </a:p>
          <a:p>
            <a:r>
              <a:rPr lang="en-US" sz="1100" dirty="0"/>
              <a:t>Confirms:</a:t>
            </a:r>
          </a:p>
          <a:p>
            <a:pPr lvl="1"/>
            <a:r>
              <a:rPr lang="en-US" sz="1100" dirty="0"/>
              <a:t>Strong test coverage</a:t>
            </a:r>
          </a:p>
          <a:p>
            <a:pPr lvl="1"/>
            <a:r>
              <a:rPr lang="en-US" sz="1100" dirty="0"/>
              <a:t>Effective test scenarios</a:t>
            </a:r>
          </a:p>
          <a:p>
            <a:pPr lvl="1"/>
            <a:r>
              <a:rPr lang="en-US" sz="1100" dirty="0"/>
              <a:t>Improved requirement understanding</a:t>
            </a:r>
          </a:p>
          <a:p>
            <a:endParaRPr lang="en-US" sz="1100" b="1" dirty="0" smtClean="0"/>
          </a:p>
          <a:p>
            <a:r>
              <a:rPr lang="en-US" sz="1100" b="1" dirty="0"/>
              <a:t>Conclusion – X Factor (Test Rate, Cycle 3)</a:t>
            </a:r>
          </a:p>
          <a:p>
            <a:r>
              <a:rPr lang="en-US" sz="1100" dirty="0"/>
              <a:t>Test Rate process is </a:t>
            </a:r>
            <a:r>
              <a:rPr lang="en-US" sz="1100" b="1" dirty="0"/>
              <a:t>statistically controlled</a:t>
            </a:r>
            <a:endParaRPr lang="en-US" sz="1100" dirty="0"/>
          </a:p>
          <a:p>
            <a:r>
              <a:rPr lang="en-US" sz="1100" dirty="0"/>
              <a:t>Mean Test Rate shows </a:t>
            </a:r>
            <a:r>
              <a:rPr lang="en-US" sz="1100" b="1" dirty="0"/>
              <a:t>continuous improvement</a:t>
            </a:r>
            <a:endParaRPr lang="en-US" sz="1100" dirty="0"/>
          </a:p>
          <a:p>
            <a:r>
              <a:rPr lang="en-US" sz="1100" dirty="0"/>
              <a:t>Testing efficiency is </a:t>
            </a:r>
            <a:r>
              <a:rPr lang="en-US" sz="1100" b="1" dirty="0"/>
              <a:t>predictable and repeatable</a:t>
            </a:r>
            <a:endParaRPr lang="en-US" sz="1100" dirty="0"/>
          </a:p>
          <a:p>
            <a:r>
              <a:rPr lang="en-US" sz="1100" dirty="0"/>
              <a:t>Strong contributor to overall productivity </a:t>
            </a:r>
            <a:r>
              <a:rPr lang="en-US" sz="1100" dirty="0" smtClean="0"/>
              <a:t>improvement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515" y="1295503"/>
            <a:ext cx="6172199" cy="4419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953000" y="5867503"/>
            <a:ext cx="7010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Cycle-3 Test Rate demonstrates a controlled and efficient testing process, enabling higher productivity through reduced rework and faster validation.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79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B7DE376-A114-EB9D-E53A-BF5D691A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094C1D-D9D2-C894-F1C5-7338D4FC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930275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Comparison from cycle </a:t>
            </a:r>
            <a:r>
              <a:rPr lang="en-US" dirty="0" smtClean="0"/>
              <a:t>2 </a:t>
            </a:r>
            <a:r>
              <a:rPr lang="en-US" dirty="0"/>
              <a:t>&amp; cycle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8C3B846-4196-E3AD-2B95-798A8B81D7B9}"/>
              </a:ext>
            </a:extLst>
          </p:cNvPr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1E581E-481D-48E6-9E95-11423910DBDC}"/>
              </a:ext>
            </a:extLst>
          </p:cNvPr>
          <p:cNvSpPr txBox="1"/>
          <p:nvPr/>
        </p:nvSpPr>
        <p:spPr>
          <a:xfrm>
            <a:off x="609600" y="1175772"/>
            <a:ext cx="51053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Regression Equation </a:t>
            </a:r>
          </a:p>
          <a:p>
            <a:r>
              <a:rPr lang="en-US" sz="1200" dirty="0"/>
              <a:t>Productivity = 0.08923 + 0.1335 </a:t>
            </a:r>
            <a:r>
              <a:rPr lang="en-US" sz="1200" dirty="0" err="1"/>
              <a:t>Code_Rate</a:t>
            </a:r>
            <a:r>
              <a:rPr lang="en-US" sz="1200" dirty="0"/>
              <a:t> + 0.03471 </a:t>
            </a:r>
            <a:r>
              <a:rPr lang="en-US" sz="1200" dirty="0" err="1"/>
              <a:t>Test_Rate</a:t>
            </a:r>
            <a:r>
              <a:rPr lang="en-US" sz="1200" dirty="0"/>
              <a:t> </a:t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Regression Equation </a:t>
            </a:r>
          </a:p>
          <a:p>
            <a:r>
              <a:rPr lang="en-US" sz="1200" dirty="0"/>
              <a:t>Cycle Time = -0.131 + 2.166 </a:t>
            </a:r>
            <a:r>
              <a:rPr lang="en-US" sz="1200" dirty="0" err="1"/>
              <a:t>Code_CT</a:t>
            </a:r>
            <a:r>
              <a:rPr lang="en-US" sz="1200" dirty="0"/>
              <a:t> + 1.899 </a:t>
            </a:r>
            <a:r>
              <a:rPr lang="en-US" sz="1200" dirty="0" err="1" smtClean="0"/>
              <a:t>Test_CT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Regression Equation </a:t>
            </a:r>
          </a:p>
          <a:p>
            <a:r>
              <a:rPr lang="en-US" sz="1200" dirty="0"/>
              <a:t>DRE-1 = 0.6449 + 1.834 Code Review Per Size </a:t>
            </a:r>
          </a:p>
          <a:p>
            <a:endParaRPr lang="en-US" sz="1200" dirty="0"/>
          </a:p>
          <a:p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9D2D67FB-E08C-07C0-7ED6-E170EF651125}"/>
              </a:ext>
            </a:extLst>
          </p:cNvPr>
          <p:cNvSpPr/>
          <p:nvPr/>
        </p:nvSpPr>
        <p:spPr>
          <a:xfrm>
            <a:off x="533400" y="2957209"/>
            <a:ext cx="44958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3</a:t>
            </a:r>
            <a:r>
              <a:rPr lang="en-US" dirty="0" smtClean="0"/>
              <a:t> </a:t>
            </a:r>
            <a:r>
              <a:rPr lang="en-US" dirty="0"/>
              <a:t>for all Y and X Factors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426026AF-255E-11AF-AB82-9A7E5C7636A5}"/>
              </a:ext>
            </a:extLst>
          </p:cNvPr>
          <p:cNvSpPr/>
          <p:nvPr/>
        </p:nvSpPr>
        <p:spPr>
          <a:xfrm>
            <a:off x="7315200" y="2957209"/>
            <a:ext cx="46482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Setting Table and What if Table 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88FBD56A-7053-04F8-93E8-A4CDB06297FB}"/>
              </a:ext>
            </a:extLst>
          </p:cNvPr>
          <p:cNvSpPr/>
          <p:nvPr/>
        </p:nvSpPr>
        <p:spPr>
          <a:xfrm>
            <a:off x="609600" y="5092085"/>
            <a:ext cx="44958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2</a:t>
            </a:r>
            <a:r>
              <a:rPr lang="en-US" dirty="0" smtClean="0"/>
              <a:t> </a:t>
            </a:r>
            <a:r>
              <a:rPr lang="en-US" dirty="0"/>
              <a:t>for all Y and X Factors 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5722682"/>
          <a:ext cx="32004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100"/>
                <a:gridCol w="800100"/>
                <a:gridCol w="800100"/>
                <a:gridCol w="8001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Code_Rate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0.2833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0.5581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0.15941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0.3831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0.8683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0.13345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0.2479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91000" y="5714654"/>
          <a:ext cx="24384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0.2968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0.1717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1.561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0.3301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0.068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-0.0083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0.0133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81800" y="5715000"/>
          <a:ext cx="27432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3019"/>
                <a:gridCol w="693019"/>
                <a:gridCol w="1357162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0.0723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1.1186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0.1593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0.4331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-0.0148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692214"/>
              </p:ext>
            </p:extLst>
          </p:nvPr>
        </p:nvGraphicFramePr>
        <p:xfrm>
          <a:off x="10363200" y="3810000"/>
          <a:ext cx="15240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/>
                <a:gridCol w="7620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119113"/>
              </p:ext>
            </p:extLst>
          </p:nvPr>
        </p:nvGraphicFramePr>
        <p:xfrm>
          <a:off x="10363200" y="4648200"/>
          <a:ext cx="12192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Target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0.7335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397843"/>
              </p:ext>
            </p:extLst>
          </p:nvPr>
        </p:nvGraphicFramePr>
        <p:xfrm>
          <a:off x="10363200" y="5273060"/>
          <a:ext cx="12192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0.10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54386"/>
              </p:ext>
            </p:extLst>
          </p:nvPr>
        </p:nvGraphicFramePr>
        <p:xfrm>
          <a:off x="457200" y="3853428"/>
          <a:ext cx="2438400" cy="1078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Productivity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Test_Rate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0.1668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0.2606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1.0753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0.18312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0.6918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0.1961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0.3083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072735"/>
              </p:ext>
            </p:extLst>
          </p:nvPr>
        </p:nvGraphicFramePr>
        <p:xfrm>
          <a:off x="3183376" y="3853428"/>
          <a:ext cx="2438400" cy="1099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219914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Cycle time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219914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0.3141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219914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219914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1.1518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0.5709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0.3643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219914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0.4506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0.0573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182613"/>
              </p:ext>
            </p:extLst>
          </p:nvPr>
        </p:nvGraphicFramePr>
        <p:xfrm>
          <a:off x="5813897" y="3835247"/>
          <a:ext cx="2438400" cy="1078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2192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0.1992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1.0368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0.5197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0.0145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64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515600" cy="320675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5476"/>
            <a:ext cx="5562600" cy="6068456"/>
          </a:xfrm>
        </p:spPr>
        <p:txBody>
          <a:bodyPr>
            <a:noAutofit/>
          </a:bodyPr>
          <a:lstStyle/>
          <a:p>
            <a:r>
              <a:rPr lang="en-US" sz="1100" dirty="0">
                <a:solidFill>
                  <a:srgbClr val="00B050"/>
                </a:solidFill>
              </a:rPr>
              <a:t>Productivity </a:t>
            </a:r>
            <a:r>
              <a:rPr lang="en-US" sz="1100" dirty="0" smtClean="0">
                <a:solidFill>
                  <a:srgbClr val="00B050"/>
                </a:solidFill>
              </a:rPr>
              <a:t>Improved – </a:t>
            </a:r>
            <a:br>
              <a:rPr lang="en-US" sz="1100" dirty="0" smtClean="0">
                <a:solidFill>
                  <a:srgbClr val="00B050"/>
                </a:solidFill>
              </a:rPr>
            </a:br>
            <a:r>
              <a:rPr lang="en-US" sz="1100" b="1" dirty="0"/>
              <a:t>Observation</a:t>
            </a:r>
          </a:p>
          <a:p>
            <a:r>
              <a:rPr lang="en-US" sz="1100" dirty="0"/>
              <a:t>Cycle-2 shows </a:t>
            </a:r>
            <a:r>
              <a:rPr lang="en-US" sz="1100" b="1" dirty="0"/>
              <a:t>higher mean productivity</a:t>
            </a:r>
            <a:r>
              <a:rPr lang="en-US" sz="1100" dirty="0"/>
              <a:t> with </a:t>
            </a:r>
            <a:r>
              <a:rPr lang="en-US" sz="1100" b="1" dirty="0"/>
              <a:t>better stability</a:t>
            </a:r>
            <a:endParaRPr lang="en-US" sz="1100" dirty="0"/>
          </a:p>
          <a:p>
            <a:r>
              <a:rPr lang="en-US" sz="1100" dirty="0"/>
              <a:t>Less rework, fewer delays, and smoother delivery</a:t>
            </a:r>
          </a:p>
          <a:p>
            <a:r>
              <a:rPr lang="en-US" sz="1100" b="1" dirty="0"/>
              <a:t>Regression Evidence</a:t>
            </a:r>
          </a:p>
          <a:p>
            <a:r>
              <a:rPr lang="en-US" sz="1100" b="1" dirty="0"/>
              <a:t>Regression Equation (Cycle-2):</a:t>
            </a:r>
            <a:endParaRPr lang="en-US" sz="1100" dirty="0"/>
          </a:p>
          <a:p>
            <a:r>
              <a:rPr lang="en-US" sz="1100" dirty="0"/>
              <a:t>Productivity=0.08923+0.1335×Code_Rate+0.03471×Test_Rate\</a:t>
            </a:r>
            <a:r>
              <a:rPr lang="en-US" sz="1100" dirty="0" err="1"/>
              <a:t>textbf</a:t>
            </a:r>
            <a:r>
              <a:rPr lang="en-US" sz="1100" dirty="0"/>
              <a:t>{Productivity} = 0.08923 + 0.1335 \times \</a:t>
            </a:r>
            <a:r>
              <a:rPr lang="en-US" sz="1100" dirty="0" err="1"/>
              <a:t>textbf</a:t>
            </a:r>
            <a:r>
              <a:rPr lang="en-US" sz="1100" dirty="0"/>
              <a:t>{Code\_Rate} + 0.03471 \times \</a:t>
            </a:r>
            <a:r>
              <a:rPr lang="en-US" sz="1100" dirty="0" err="1"/>
              <a:t>textbf</a:t>
            </a:r>
            <a:r>
              <a:rPr lang="en-US" sz="1100" dirty="0"/>
              <a:t>{Test\_Rate}Productivity=0.08923+0.1335×Code_Rate+0.03471×Test_Rate </a:t>
            </a:r>
            <a:r>
              <a:rPr lang="en-US" sz="1100" b="1" dirty="0"/>
              <a:t>Interpretation</a:t>
            </a:r>
          </a:p>
          <a:p>
            <a:r>
              <a:rPr lang="en-US" sz="1100" b="1" dirty="0"/>
              <a:t>Code Rate</a:t>
            </a:r>
            <a:r>
              <a:rPr lang="en-US" sz="1100" dirty="0"/>
              <a:t> has the </a:t>
            </a:r>
            <a:r>
              <a:rPr lang="en-US" sz="1100" b="1" dirty="0"/>
              <a:t>strongest impact</a:t>
            </a:r>
            <a:r>
              <a:rPr lang="en-US" sz="1100" dirty="0"/>
              <a:t> on productivity</a:t>
            </a:r>
          </a:p>
          <a:p>
            <a:r>
              <a:rPr lang="en-US" sz="1100" b="1" dirty="0"/>
              <a:t>Test Rate</a:t>
            </a:r>
            <a:r>
              <a:rPr lang="en-US" sz="1100" dirty="0"/>
              <a:t> also positively contributes</a:t>
            </a:r>
          </a:p>
          <a:p>
            <a:r>
              <a:rPr lang="en-US" sz="1100" dirty="0"/>
              <a:t>Improvements in X factors </a:t>
            </a:r>
            <a:r>
              <a:rPr lang="en-US" sz="1100" b="1" dirty="0"/>
              <a:t>directly increased productivity</a:t>
            </a:r>
            <a:endParaRPr lang="en-US" sz="1100" dirty="0"/>
          </a:p>
          <a:p>
            <a:endParaRPr lang="en-US" sz="1100" dirty="0">
              <a:solidFill>
                <a:srgbClr val="00B050"/>
              </a:solidFill>
            </a:endParaRPr>
          </a:p>
          <a:p>
            <a:r>
              <a:rPr lang="en-US" sz="1100" dirty="0">
                <a:solidFill>
                  <a:srgbClr val="00B050"/>
                </a:solidFill>
              </a:rPr>
              <a:t>Code Rate </a:t>
            </a:r>
            <a:r>
              <a:rPr lang="en-US" sz="1100" dirty="0" smtClean="0">
                <a:solidFill>
                  <a:srgbClr val="00B050"/>
                </a:solidFill>
              </a:rPr>
              <a:t>Improved – </a:t>
            </a:r>
            <a:br>
              <a:rPr lang="en-US" sz="1100" dirty="0" smtClean="0">
                <a:solidFill>
                  <a:srgbClr val="00B050"/>
                </a:solidFill>
              </a:rPr>
            </a:br>
            <a:r>
              <a:rPr lang="en-US" sz="1100" b="1" dirty="0"/>
              <a:t>Key Improvements from Cycle-1 to Cycle-2</a:t>
            </a:r>
          </a:p>
          <a:p>
            <a:r>
              <a:rPr lang="en-US" sz="1100" dirty="0"/>
              <a:t>Introduction of </a:t>
            </a:r>
            <a:r>
              <a:rPr lang="en-US" sz="1100" b="1" dirty="0"/>
              <a:t>Code Review Checklist</a:t>
            </a:r>
            <a:endParaRPr lang="en-US" sz="1100" dirty="0"/>
          </a:p>
          <a:p>
            <a:r>
              <a:rPr lang="en-US" sz="1100" dirty="0"/>
              <a:t>Peer reviews done earlier in SDLC</a:t>
            </a:r>
          </a:p>
          <a:p>
            <a:r>
              <a:rPr lang="en-US" sz="1100" dirty="0"/>
              <a:t>Reduced defect injection during coding</a:t>
            </a:r>
          </a:p>
          <a:p>
            <a:r>
              <a:rPr lang="en-US" sz="1100" b="1" dirty="0"/>
              <a:t>Impact</a:t>
            </a:r>
          </a:p>
          <a:p>
            <a:r>
              <a:rPr lang="en-US" sz="1100" dirty="0"/>
              <a:t>Higher </a:t>
            </a:r>
            <a:r>
              <a:rPr lang="en-US" sz="1100" b="1" dirty="0"/>
              <a:t>Code Rate</a:t>
            </a:r>
            <a:endParaRPr lang="en-US" sz="1100" dirty="0"/>
          </a:p>
          <a:p>
            <a:r>
              <a:rPr lang="en-US" sz="1100" dirty="0"/>
              <a:t>Reduced coding rework</a:t>
            </a:r>
          </a:p>
          <a:p>
            <a:r>
              <a:rPr lang="en-US" sz="1100" dirty="0"/>
              <a:t>Better predictability in development effort</a:t>
            </a:r>
          </a:p>
          <a:p>
            <a:r>
              <a:rPr lang="en-US" sz="1100" dirty="0"/>
              <a:t>Strong positive coefficient in productivity regression (</a:t>
            </a:r>
            <a:r>
              <a:rPr lang="en-US" sz="1100" b="1" dirty="0"/>
              <a:t>0.1335</a:t>
            </a:r>
            <a:r>
              <a:rPr lang="en-US" sz="1100" dirty="0"/>
              <a:t>)</a:t>
            </a:r>
          </a:p>
          <a:p>
            <a:r>
              <a:rPr lang="en-US" sz="1100" dirty="0"/>
              <a:t>➡ Code quality improvement became a </a:t>
            </a:r>
            <a:r>
              <a:rPr lang="en-US" sz="1100" b="1" dirty="0"/>
              <a:t>primary driver of productivity gain</a:t>
            </a:r>
            <a:r>
              <a:rPr lang="en-US" sz="1100" dirty="0"/>
              <a:t>.</a:t>
            </a:r>
          </a:p>
          <a:p>
            <a:endParaRPr lang="en-US" sz="1100" dirty="0">
              <a:solidFill>
                <a:srgbClr val="00B050"/>
              </a:solidFill>
            </a:endParaRPr>
          </a:p>
          <a:p>
            <a:pPr>
              <a:buNone/>
            </a:pP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21788" y="6324600"/>
            <a:ext cx="850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19800" y="465136"/>
            <a:ext cx="6172200" cy="6228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</a:rPr>
              <a:t>Code Review → DRE Improvement (Quality Outcome)</a:t>
            </a:r>
          </a:p>
          <a:p>
            <a:r>
              <a:rPr lang="en-US" sz="1100" b="1" dirty="0"/>
              <a:t>Regression Relationship</a:t>
            </a:r>
          </a:p>
          <a:p>
            <a:r>
              <a:rPr lang="en-US" sz="1100" b="1" dirty="0"/>
              <a:t>Cycle-2 Regression Equation:</a:t>
            </a:r>
            <a:endParaRPr lang="en-US" sz="1100" dirty="0"/>
          </a:p>
          <a:p>
            <a:r>
              <a:rPr lang="en-US" sz="1100" dirty="0"/>
              <a:t>DRE=0.6247+0.775×Code Review Per Size\</a:t>
            </a:r>
            <a:r>
              <a:rPr lang="en-US" sz="1100" dirty="0" err="1"/>
              <a:t>textbf</a:t>
            </a:r>
            <a:r>
              <a:rPr lang="en-US" sz="1100" dirty="0"/>
              <a:t>{DRE} = 0.6247 + 0.775 \times \</a:t>
            </a:r>
            <a:r>
              <a:rPr lang="en-US" sz="1100" dirty="0" err="1"/>
              <a:t>textbf</a:t>
            </a:r>
            <a:r>
              <a:rPr lang="en-US" sz="1100" dirty="0"/>
              <a:t>{Code Review Per Size}DRE=0.6247+0.775×Code Review Per Size </a:t>
            </a:r>
            <a:r>
              <a:rPr lang="en-US" sz="1100" b="1" dirty="0"/>
              <a:t>Meaning</a:t>
            </a:r>
          </a:p>
          <a:p>
            <a:r>
              <a:rPr lang="en-US" sz="1100" dirty="0"/>
              <a:t>Increasing </a:t>
            </a:r>
            <a:r>
              <a:rPr lang="en-US" sz="1100" b="1" dirty="0"/>
              <a:t>Code Review effort per size</a:t>
            </a:r>
            <a:r>
              <a:rPr lang="en-US" sz="1100" dirty="0"/>
              <a:t> significantly improves </a:t>
            </a:r>
            <a:r>
              <a:rPr lang="en-US" sz="1100" b="1" dirty="0"/>
              <a:t>Defect Removal Efficiency</a:t>
            </a:r>
            <a:endParaRPr lang="en-US" sz="1100" dirty="0"/>
          </a:p>
          <a:p>
            <a:r>
              <a:rPr lang="en-US" sz="1100" dirty="0"/>
              <a:t>Code Review is a </a:t>
            </a:r>
            <a:r>
              <a:rPr lang="en-US" sz="1100" b="1" dirty="0"/>
              <a:t>leading quality indicator</a:t>
            </a:r>
            <a:endParaRPr lang="en-US" sz="1100" dirty="0"/>
          </a:p>
          <a:p>
            <a:pPr marL="0" indent="0">
              <a:buNone/>
            </a:pPr>
            <a:endParaRPr lang="en-US" sz="11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</a:rPr>
              <a:t>DRE – AS-IS </a:t>
            </a:r>
            <a:r>
              <a:rPr lang="en-US" sz="1100" b="1" dirty="0" err="1">
                <a:solidFill>
                  <a:srgbClr val="00B050"/>
                </a:solidFill>
              </a:rPr>
              <a:t>vs</a:t>
            </a:r>
            <a:r>
              <a:rPr lang="en-US" sz="1100" b="1" dirty="0">
                <a:solidFill>
                  <a:srgbClr val="00B050"/>
                </a:solidFill>
              </a:rPr>
              <a:t> Target </a:t>
            </a:r>
            <a:r>
              <a:rPr lang="en-US" sz="1100" b="1" dirty="0" err="1">
                <a:solidFill>
                  <a:srgbClr val="00B050"/>
                </a:solidFill>
              </a:rPr>
              <a:t>vs</a:t>
            </a:r>
            <a:r>
              <a:rPr lang="en-US" sz="1100" b="1" dirty="0">
                <a:solidFill>
                  <a:srgbClr val="00B050"/>
                </a:solidFill>
              </a:rPr>
              <a:t> What-If Analysis</a:t>
            </a:r>
          </a:p>
          <a:p>
            <a:r>
              <a:rPr lang="en-US" sz="1100" b="1" dirty="0"/>
              <a:t>AS-IS (Cycle-1 / Early Cycle-2</a:t>
            </a:r>
            <a:r>
              <a:rPr lang="en-US" sz="1100" b="1" dirty="0" smtClean="0"/>
              <a:t>)</a:t>
            </a:r>
          </a:p>
          <a:p>
            <a:endParaRPr lang="en-US" sz="1100" b="1" dirty="0"/>
          </a:p>
          <a:p>
            <a:endParaRPr lang="en-US" sz="1100" b="1" dirty="0" smtClean="0"/>
          </a:p>
          <a:p>
            <a:endParaRPr lang="en-US" sz="1100" b="1" dirty="0"/>
          </a:p>
          <a:p>
            <a:r>
              <a:rPr lang="en-US" sz="1100" dirty="0" smtClean="0"/>
              <a:t>Target </a:t>
            </a:r>
            <a:r>
              <a:rPr lang="en-US" sz="1100" dirty="0"/>
              <a:t>(Defined Improvement Goal)</a:t>
            </a:r>
            <a:endParaRPr lang="en-US" sz="1100" dirty="0" smtClean="0">
              <a:solidFill>
                <a:srgbClr val="00B050"/>
              </a:solidFill>
            </a:endParaRPr>
          </a:p>
          <a:p>
            <a:endParaRPr lang="en-US" sz="1100" dirty="0" smtClean="0"/>
          </a:p>
          <a:p>
            <a:endParaRPr lang="en-US" sz="1100" dirty="0"/>
          </a:p>
          <a:p>
            <a:endParaRPr lang="en-US" sz="1100" dirty="0" smtClean="0"/>
          </a:p>
          <a:p>
            <a:r>
              <a:rPr lang="en-US" sz="1100" dirty="0" smtClean="0"/>
              <a:t>What-If </a:t>
            </a:r>
            <a:r>
              <a:rPr lang="en-US" sz="1100" dirty="0"/>
              <a:t>Scenario (Cycle-2 Achieved State)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1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This shows </a:t>
            </a:r>
            <a:r>
              <a:rPr lang="en-US" sz="1100" b="1" dirty="0"/>
              <a:t>process capability improvement</a:t>
            </a:r>
            <a:r>
              <a:rPr lang="en-US" sz="1100" dirty="0"/>
              <a:t>, not just performance improvement.</a:t>
            </a:r>
            <a:endParaRPr lang="en-US" sz="11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100" dirty="0" smtClean="0">
                <a:solidFill>
                  <a:srgbClr val="002060"/>
                </a:solidFill>
              </a:rPr>
              <a:t>Effort need to be put on reducing the standard deviation along with Y and X Factors.</a:t>
            </a:r>
          </a:p>
          <a:p>
            <a:pPr>
              <a:buFont typeface="Arial" panose="020B0604020202020204" pitchFamily="34" charset="0"/>
              <a:buNone/>
            </a:pPr>
            <a:endParaRPr lang="en-US" sz="1100" dirty="0">
              <a:solidFill>
                <a:srgbClr val="00206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58200" y="2819400"/>
          <a:ext cx="3733800" cy="11277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244600"/>
                <a:gridCol w="1244600"/>
                <a:gridCol w="12446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Metric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Code Review per Size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0.756 – 0.776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0.072 – 0.169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0.114 – 0.180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0.029 – 0.159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High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Inconsistent reviews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53400" y="4191000"/>
          <a:ext cx="3886200" cy="7315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43100"/>
                <a:gridCol w="1943100"/>
              </a:tblGrid>
              <a:tr h="195845">
                <a:tc>
                  <a:txBody>
                    <a:bodyPr/>
                    <a:lstStyle/>
                    <a:p>
                      <a:r>
                        <a:rPr lang="en-US" sz="10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DRE</a:t>
                      </a:r>
                    </a:p>
                  </a:txBody>
                  <a:tcPr anchor="ctr"/>
                </a:tc>
              </a:tr>
              <a:tr h="195845">
                <a:tc>
                  <a:txBody>
                    <a:bodyPr/>
                    <a:lstStyle/>
                    <a:p>
                      <a:r>
                        <a:rPr lang="en-US" sz="1000"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≥ 0.79 – 0.81</a:t>
                      </a:r>
                    </a:p>
                  </a:txBody>
                  <a:tcPr anchor="ctr"/>
                </a:tc>
              </a:tr>
              <a:tr h="195845">
                <a:tc>
                  <a:txBody>
                    <a:bodyPr/>
                    <a:lstStyle/>
                    <a:p>
                      <a:r>
                        <a:rPr lang="en-US" sz="1000"/>
                        <a:t>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≤ 0.10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839200" y="5029200"/>
          <a:ext cx="3200400" cy="8839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66800"/>
                <a:gridCol w="1066800"/>
                <a:gridCol w="1066800"/>
              </a:tblGrid>
              <a:tr h="170445">
                <a:tc>
                  <a:txBody>
                    <a:bodyPr/>
                    <a:lstStyle/>
                    <a:p>
                      <a:r>
                        <a:rPr lang="en-US" sz="10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Code Review per Size</a:t>
                      </a:r>
                    </a:p>
                  </a:txBody>
                  <a:tcPr anchor="ctr"/>
                </a:tc>
              </a:tr>
              <a:tr h="170445">
                <a:tc>
                  <a:txBody>
                    <a:bodyPr/>
                    <a:lstStyle/>
                    <a:p>
                      <a:r>
                        <a:rPr lang="en-US" sz="100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0.795 – 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0.09 – 0.22</a:t>
                      </a:r>
                    </a:p>
                  </a:txBody>
                  <a:tcPr anchor="ctr"/>
                </a:tc>
              </a:tr>
              <a:tr h="170445">
                <a:tc>
                  <a:txBody>
                    <a:bodyPr/>
                    <a:lstStyle/>
                    <a:p>
                      <a:r>
                        <a:rPr lang="en-US" sz="1000"/>
                        <a:t>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0.05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64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438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Cycle 1-</a:t>
            </a:r>
            <a:r>
              <a:rPr lang="en-IN" sz="5400" dirty="0"/>
              <a:t> </a:t>
            </a:r>
            <a:r>
              <a:rPr lang="en-IN" sz="5400" dirty="0" smtClean="0"/>
              <a:t>Cycle </a:t>
            </a:r>
            <a:r>
              <a:rPr lang="en-IN" sz="5400" dirty="0"/>
              <a:t>Time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77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04800"/>
            <a:ext cx="8229600" cy="914400"/>
          </a:xfrm>
        </p:spPr>
        <p:txBody>
          <a:bodyPr/>
          <a:lstStyle/>
          <a:p>
            <a:r>
              <a:rPr lang="en-US" dirty="0">
                <a:latin typeface="Calibri (Body)"/>
              </a:rPr>
              <a:t>Y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219200"/>
            <a:ext cx="8229600" cy="533400"/>
          </a:xfrm>
        </p:spPr>
        <p:txBody>
          <a:bodyPr>
            <a:normAutofit/>
          </a:bodyPr>
          <a:lstStyle/>
          <a:p>
            <a:r>
              <a:rPr lang="en-US" sz="1600" dirty="0"/>
              <a:t>Cycle Time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52600" y="18288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 (Body)"/>
                <a:ea typeface="+mj-ea"/>
                <a:cs typeface="+mj-cs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5pPr>
            <a:lvl6pPr marL="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6pPr>
            <a:lvl7pPr marL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7pPr>
            <a:lvl8pPr marL="10287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8pPr>
            <a:lvl9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9pPr>
          </a:lstStyle>
          <a:p>
            <a:r>
              <a:rPr lang="en-US" dirty="0"/>
              <a:t>X </a:t>
            </a:r>
            <a:r>
              <a:rPr lang="en-US" dirty="0" smtClean="0"/>
              <a:t>factors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52600" y="2468880"/>
            <a:ext cx="8229600" cy="3779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600" dirty="0"/>
              <a:t>Coding Time </a:t>
            </a:r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600" dirty="0" smtClean="0"/>
              <a:t>Testing </a:t>
            </a:r>
            <a:r>
              <a:rPr lang="en-US" sz="1600" dirty="0"/>
              <a:t>time 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57620"/>
            <a:ext cx="6211281" cy="66003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68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1"/>
            <a:ext cx="10972800" cy="790799"/>
          </a:xfrm>
        </p:spPr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B92EF86-8FEE-2CA5-A87D-444D35EC5C2E}"/>
              </a:ext>
            </a:extLst>
          </p:cNvPr>
          <p:cNvSpPr txBox="1"/>
          <p:nvPr/>
        </p:nvSpPr>
        <p:spPr>
          <a:xfrm>
            <a:off x="762000" y="1676400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</a:t>
            </a:r>
            <a:r>
              <a:rPr lang="en-US" dirty="0"/>
              <a:t>Collection Sheet for Cycle 1 Cycle Time with all y Factors and x Factors </a:t>
            </a:r>
            <a:r>
              <a:rPr lang="en-US" dirty="0" smtClean="0"/>
              <a:t>calculation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598254"/>
              </p:ext>
            </p:extLst>
          </p:nvPr>
        </p:nvGraphicFramePr>
        <p:xfrm>
          <a:off x="1143000" y="2743200"/>
          <a:ext cx="3924300" cy="525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400"/>
                <a:gridCol w="494400"/>
                <a:gridCol w="710700"/>
                <a:gridCol w="741600"/>
                <a:gridCol w="741600"/>
                <a:gridCol w="741600"/>
              </a:tblGrid>
              <a:tr h="18415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Regression Equation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=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0.129 + 1.312 </a:t>
                      </a:r>
                      <a:r>
                        <a:rPr lang="en-US" sz="1100" u="none" strike="noStrike" dirty="0" err="1">
                          <a:effectLst/>
                        </a:rPr>
                        <a:t>Code_CT</a:t>
                      </a:r>
                      <a:r>
                        <a:rPr lang="en-US" sz="1100" u="none" strike="noStrike" dirty="0">
                          <a:effectLst/>
                        </a:rPr>
                        <a:t> + 1.500 </a:t>
                      </a:r>
                      <a:r>
                        <a:rPr lang="en-US" sz="1100" u="none" strike="noStrike" dirty="0" err="1">
                          <a:effectLst/>
                        </a:rPr>
                        <a:t>Test_CT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921552"/>
              </p:ext>
            </p:extLst>
          </p:nvPr>
        </p:nvGraphicFramePr>
        <p:xfrm>
          <a:off x="8534400" y="2209800"/>
          <a:ext cx="1738602" cy="4351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9534"/>
                <a:gridCol w="579534"/>
                <a:gridCol w="579534"/>
              </a:tblGrid>
              <a:tr h="3247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Cycle Time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Code_CT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Test_CT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2.22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0.78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0.44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0.42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2.14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2.23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1.23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0.35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0.50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0.72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0.44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1.08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0.75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0.43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0.30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0.62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  <a:tr h="175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1.28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0.61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0.28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37" marR="6037" marT="6037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197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Chart – cycle Time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90688"/>
            <a:ext cx="6384431" cy="4346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651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Chart – X Factor of cycle Time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55006"/>
            <a:ext cx="5683316" cy="38676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33741"/>
            <a:ext cx="4864988" cy="3824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95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31DE578-EAE2-F42E-0339-90E47411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8D377B-3E05-1132-EE9C-77F71E26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10490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Regression Equation – Cycle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50265A-E987-AB74-7641-C6F8EC39A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1658600" cy="5486400"/>
          </a:xfrm>
        </p:spPr>
        <p:txBody>
          <a:bodyPr>
            <a:noAutofit/>
          </a:bodyPr>
          <a:lstStyle/>
          <a:p>
            <a:r>
              <a:rPr lang="en-US" sz="1300" dirty="0"/>
              <a:t>Regression </a:t>
            </a:r>
            <a:r>
              <a:rPr lang="en-US" sz="1300" dirty="0" smtClean="0"/>
              <a:t>Equation</a:t>
            </a:r>
            <a:endParaRPr lang="en-US" sz="1400" dirty="0"/>
          </a:p>
          <a:p>
            <a:r>
              <a:rPr lang="en-US" sz="1400" dirty="0"/>
              <a:t>Cycle Time = 0.129 + 1.312 </a:t>
            </a:r>
            <a:r>
              <a:rPr lang="en-US" sz="1400" dirty="0" err="1"/>
              <a:t>Code_CT</a:t>
            </a:r>
            <a:r>
              <a:rPr lang="en-US" sz="1400" dirty="0"/>
              <a:t> + 1.500 </a:t>
            </a:r>
            <a:r>
              <a:rPr lang="en-US" sz="1400" dirty="0" err="1"/>
              <a:t>Test_CT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300" dirty="0" smtClean="0"/>
              <a:t> </a:t>
            </a:r>
            <a:endParaRPr lang="en-US" sz="1300" dirty="0"/>
          </a:p>
          <a:p>
            <a:pPr marL="0" indent="0" fontAlgn="b">
              <a:buNone/>
            </a:pPr>
            <a:r>
              <a:rPr lang="en-US" sz="1300" dirty="0" smtClean="0"/>
              <a:t> </a:t>
            </a:r>
          </a:p>
          <a:p>
            <a:pPr marL="0" indent="0" fontAlgn="b">
              <a:buNone/>
            </a:pPr>
            <a:endParaRPr lang="en-IN" sz="13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300" dirty="0"/>
          </a:p>
          <a:p>
            <a:endParaRPr lang="en-US" sz="1300" dirty="0"/>
          </a:p>
          <a:p>
            <a:pPr>
              <a:buNone/>
            </a:pPr>
            <a:endParaRPr lang="en-US" sz="13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51E83BD-7A41-466E-77D6-DC1BB0D27753}"/>
              </a:ext>
            </a:extLst>
          </p:cNvPr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65200"/>
            <a:ext cx="5562600" cy="5728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42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55B7256-FAF7-524C-795D-FEA3EF426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98971D-B473-E64F-7941-29B0A625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930275"/>
          </a:xfrm>
        </p:spPr>
        <p:txBody>
          <a:bodyPr>
            <a:normAutofit/>
          </a:bodyPr>
          <a:lstStyle/>
          <a:p>
            <a:r>
              <a:rPr lang="en-US" dirty="0"/>
              <a:t>Performance and Targets – cycle 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1E5A0E0-135E-3AA8-6797-D134F6D37FAF}"/>
              </a:ext>
            </a:extLst>
          </p:cNvPr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F927885-18C7-1AAE-9D99-3C8B21C9C13A}"/>
              </a:ext>
            </a:extLst>
          </p:cNvPr>
          <p:cNvSpPr txBox="1"/>
          <p:nvPr/>
        </p:nvSpPr>
        <p:spPr>
          <a:xfrm>
            <a:off x="609600" y="1371600"/>
            <a:ext cx="1097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ptos Display" panose="020B0004020202020204" pitchFamily="34" charset="0"/>
              </a:rPr>
              <a:t>The </a:t>
            </a:r>
            <a:r>
              <a:rPr lang="en-US" sz="2400" b="1" dirty="0">
                <a:latin typeface="Aptos Display" panose="020B0004020202020204" pitchFamily="34" charset="0"/>
              </a:rPr>
              <a:t>As Is Performance and What if </a:t>
            </a:r>
            <a:r>
              <a:rPr lang="en-US" sz="2400" b="1" dirty="0" smtClean="0">
                <a:latin typeface="Aptos Display" panose="020B0004020202020204" pitchFamily="34" charset="0"/>
              </a:rPr>
              <a:t>analysis</a:t>
            </a:r>
            <a:endParaRPr lang="en-IN" sz="2400" b="1" dirty="0"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1FFE0055-82A3-3521-1174-479632C8DBB4}"/>
              </a:ext>
            </a:extLst>
          </p:cNvPr>
          <p:cNvSpPr/>
          <p:nvPr/>
        </p:nvSpPr>
        <p:spPr>
          <a:xfrm>
            <a:off x="838200" y="3124200"/>
            <a:ext cx="4419600" cy="83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all Y and X Factors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307DFCFD-D3B2-3B3E-6D77-431E8C5924CE}"/>
              </a:ext>
            </a:extLst>
          </p:cNvPr>
          <p:cNvSpPr/>
          <p:nvPr/>
        </p:nvSpPr>
        <p:spPr>
          <a:xfrm>
            <a:off x="6400800" y="3124200"/>
            <a:ext cx="4266347" cy="83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Setting Table and What if Table 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50157"/>
              </p:ext>
            </p:extLst>
          </p:nvPr>
        </p:nvGraphicFramePr>
        <p:xfrm>
          <a:off x="1295400" y="4648200"/>
          <a:ext cx="27051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0.435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2.606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1.329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-0.183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704820"/>
              </p:ext>
            </p:extLst>
          </p:nvPr>
        </p:nvGraphicFramePr>
        <p:xfrm>
          <a:off x="5029200" y="4876800"/>
          <a:ext cx="14859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79496"/>
              </p:ext>
            </p:extLst>
          </p:nvPr>
        </p:nvGraphicFramePr>
        <p:xfrm>
          <a:off x="7962047" y="4800600"/>
          <a:ext cx="2705100" cy="910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  <a:gridCol w="609600"/>
                <a:gridCol w="609600"/>
              </a:tblGrid>
              <a:tr h="10477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What if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1.170848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USL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1.920848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0.854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LSL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-0.5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-0.2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-1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20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Action Plan to achieve targets of Cycle time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</a:t>
            </a:r>
            <a:r>
              <a:rPr lang="en-US" sz="2400" dirty="0" smtClean="0"/>
              <a:t>ction </a:t>
            </a:r>
            <a:r>
              <a:rPr lang="en-US" sz="2400" dirty="0"/>
              <a:t>plan to achieve the cycle time </a:t>
            </a:r>
            <a:r>
              <a:rPr lang="en-US" sz="2400" dirty="0" smtClean="0"/>
              <a:t>targets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257251"/>
              </p:ext>
            </p:extLst>
          </p:nvPr>
        </p:nvGraphicFramePr>
        <p:xfrm>
          <a:off x="838201" y="2193925"/>
          <a:ext cx="11125200" cy="495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9253"/>
                <a:gridCol w="436666"/>
                <a:gridCol w="612635"/>
                <a:gridCol w="886366"/>
                <a:gridCol w="1870495"/>
                <a:gridCol w="1101441"/>
                <a:gridCol w="1251341"/>
                <a:gridCol w="749500"/>
                <a:gridCol w="742983"/>
                <a:gridCol w="658257"/>
                <a:gridCol w="749500"/>
                <a:gridCol w="1596763"/>
              </a:tblGrid>
              <a:tr h="2521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Sr. No.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Metric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Phase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Action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Description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Improvements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Expected Outcome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Implementation Date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Responsibility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Status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Remarks / Notes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Process, Procedure, Implementation Plan 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</a:tr>
              <a:tr h="1873136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Productivity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>
                          <a:effectLst/>
                        </a:rPr>
                        <a:t>All Phase ( SDLC)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>
                          <a:effectLst/>
                        </a:rPr>
                        <a:t>Improve Review </a:t>
                      </a:r>
                      <a:r>
                        <a:rPr lang="en-US" sz="900" u="none" strike="noStrike" dirty="0" err="1">
                          <a:effectLst/>
                        </a:rPr>
                        <a:t>Effeciency</a:t>
                      </a:r>
                      <a:r>
                        <a:rPr lang="en-US" sz="900" u="none" strike="noStrike" dirty="0">
                          <a:effectLst/>
                        </a:rPr>
                        <a:t>  - Requirement Review , </a:t>
                      </a:r>
                      <a:br>
                        <a:rPr lang="en-US" sz="900" u="none" strike="noStrike" dirty="0">
                          <a:effectLst/>
                        </a:rPr>
                      </a:br>
                      <a:r>
                        <a:rPr lang="en-US" sz="900" u="none" strike="noStrike" dirty="0">
                          <a:effectLst/>
                        </a:rPr>
                        <a:t>Design Review ,</a:t>
                      </a:r>
                      <a:br>
                        <a:rPr lang="en-US" sz="900" u="none" strike="noStrike" dirty="0">
                          <a:effectLst/>
                        </a:rPr>
                      </a:br>
                      <a:r>
                        <a:rPr lang="en-US" sz="900" u="none" strike="noStrike" dirty="0">
                          <a:effectLst/>
                        </a:rPr>
                        <a:t>Code Review ,</a:t>
                      </a:r>
                      <a:br>
                        <a:rPr lang="en-US" sz="900" u="none" strike="noStrike" dirty="0">
                          <a:effectLst/>
                        </a:rPr>
                      </a:br>
                      <a:r>
                        <a:rPr lang="en-US" sz="900" u="none" strike="noStrike" dirty="0">
                          <a:effectLst/>
                        </a:rPr>
                        <a:t>Test Cases Review and this will increase productivity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1. Requirement Review :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     1.1. Analyze the Current Process.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    1.2 Prepare the SOP - Current Process &amp;  Revised Process ( Define Checklist , Review cooments captured ie., defect tracking sheet , Promot - option )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   1.3  Implementation Plan.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2. Design Review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 2.1 Wireframe Review Process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2.2 Database  Review Process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3. Code Review - Implement Code Review Checklist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4. Unit Test Cases Review - Peer Review  unit test cases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5. Test Cases Review -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This will increases the productivity by 10%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To Increase / Improve the productivity rate for coding and testing.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7-Aug-25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BA,QA,TL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Complete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1. Test Plan &amp; Test Case Review Checklist- JAL REKHA                                                                        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 2. Jal Rekha Code Review Checklist                      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3. Jal Rekha-DesignReview _ Defects 1.0               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4. Jal Rekha_FRS_REVIEW Ver 1.0                        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5. Mobile Code Review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</a:tr>
              <a:tr h="750934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DRE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DRE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Improve the overall DRE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1. Align the Customer UAT Team on the Scope of Testing . ( Test Cases / Test Scenarios )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/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2.Analyze the Type of defects raised And accordingly decision.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This will improve the overall DRE by 5%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To decrease / reduce  total review defects and total internal testing defect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3rd Week Aug'25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QA, TL, PM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Complete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1) UAT Scope of defects added and analyze at both client and at development team level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2) PROD Scope of defects added and analyze at both client and at development team level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</a:tr>
              <a:tr h="1623758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Productivity/Cycle time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Coding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Re-estimate the scope changes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1. Estimate the Scope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2. Coding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3. Addl. Changes that are requested by Customer/Client.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    3.1 Update the Scope document with that changes.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   3.2 Re-estimate the Size of the Changes.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   3.3 Coding 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   3.4 Prepare Test Cases and Execution.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4. Sum the Size of the requirements against the total  Actuial efforts to Calc Productivity.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This will Improve the Productivity and Cycle time by 5-10%.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To Increase / Improve the productivity rate for coding.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4th Week Aug'25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Developer, TL, PM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Complete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>
                          <a:effectLst/>
                        </a:rPr>
                        <a:t>1. Test Plan &amp; Test Case Review Checklist- JAL REKHA                                                                         </a:t>
                      </a:r>
                      <a:br>
                        <a:rPr lang="en-US" sz="900" u="none" strike="noStrike" dirty="0">
                          <a:effectLst/>
                        </a:rPr>
                      </a:br>
                      <a:r>
                        <a:rPr lang="en-US" sz="900" u="none" strike="noStrike" dirty="0">
                          <a:effectLst/>
                        </a:rPr>
                        <a:t> 2. </a:t>
                      </a:r>
                      <a:r>
                        <a:rPr lang="en-US" sz="900" u="none" strike="noStrike" dirty="0" err="1">
                          <a:effectLst/>
                        </a:rPr>
                        <a:t>Jal</a:t>
                      </a:r>
                      <a:r>
                        <a:rPr lang="en-US" sz="900" u="none" strike="noStrike" dirty="0">
                          <a:effectLst/>
                        </a:rPr>
                        <a:t> </a:t>
                      </a:r>
                      <a:r>
                        <a:rPr lang="en-US" sz="900" u="none" strike="noStrike" dirty="0" err="1">
                          <a:effectLst/>
                        </a:rPr>
                        <a:t>Rekha</a:t>
                      </a:r>
                      <a:r>
                        <a:rPr lang="en-US" sz="900" u="none" strike="noStrike" dirty="0">
                          <a:effectLst/>
                        </a:rPr>
                        <a:t> Code Review Checklist                       </a:t>
                      </a:r>
                      <a:br>
                        <a:rPr lang="en-US" sz="900" u="none" strike="noStrike" dirty="0">
                          <a:effectLst/>
                        </a:rPr>
                      </a:br>
                      <a:r>
                        <a:rPr lang="en-US" sz="900" u="none" strike="noStrike" dirty="0">
                          <a:effectLst/>
                        </a:rPr>
                        <a:t>3. </a:t>
                      </a:r>
                      <a:r>
                        <a:rPr lang="en-US" sz="900" u="none" strike="noStrike" dirty="0" err="1">
                          <a:effectLst/>
                        </a:rPr>
                        <a:t>Jal</a:t>
                      </a:r>
                      <a:r>
                        <a:rPr lang="en-US" sz="900" u="none" strike="noStrike" dirty="0">
                          <a:effectLst/>
                        </a:rPr>
                        <a:t> </a:t>
                      </a:r>
                      <a:r>
                        <a:rPr lang="en-US" sz="900" u="none" strike="noStrike" dirty="0" err="1">
                          <a:effectLst/>
                        </a:rPr>
                        <a:t>Rekha-DesignReview</a:t>
                      </a:r>
                      <a:r>
                        <a:rPr lang="en-US" sz="900" u="none" strike="noStrike" dirty="0">
                          <a:effectLst/>
                        </a:rPr>
                        <a:t> _ Defects 1.0                </a:t>
                      </a:r>
                      <a:br>
                        <a:rPr lang="en-US" sz="900" u="none" strike="noStrike" dirty="0">
                          <a:effectLst/>
                        </a:rPr>
                      </a:br>
                      <a:r>
                        <a:rPr lang="en-US" sz="900" u="none" strike="noStrike" dirty="0">
                          <a:effectLst/>
                        </a:rPr>
                        <a:t>4. </a:t>
                      </a:r>
                      <a:r>
                        <a:rPr lang="en-US" sz="900" u="none" strike="noStrike" dirty="0" err="1">
                          <a:effectLst/>
                        </a:rPr>
                        <a:t>Jal</a:t>
                      </a:r>
                      <a:r>
                        <a:rPr lang="en-US" sz="900" u="none" strike="noStrike" dirty="0">
                          <a:effectLst/>
                        </a:rPr>
                        <a:t> </a:t>
                      </a:r>
                      <a:r>
                        <a:rPr lang="en-US" sz="900" u="none" strike="noStrike" dirty="0" err="1">
                          <a:effectLst/>
                        </a:rPr>
                        <a:t>Rekha_FRS_REVIEW</a:t>
                      </a:r>
                      <a:r>
                        <a:rPr lang="en-US" sz="900" u="none" strike="noStrike" dirty="0">
                          <a:effectLst/>
                        </a:rPr>
                        <a:t> </a:t>
                      </a:r>
                      <a:r>
                        <a:rPr lang="en-US" sz="900" u="none" strike="noStrike" dirty="0" err="1">
                          <a:effectLst/>
                        </a:rPr>
                        <a:t>Ver</a:t>
                      </a:r>
                      <a:r>
                        <a:rPr lang="en-US" sz="900" u="none" strike="noStrike" dirty="0">
                          <a:effectLst/>
                        </a:rPr>
                        <a:t> 1.0                         </a:t>
                      </a:r>
                      <a:br>
                        <a:rPr lang="en-US" sz="900" u="none" strike="noStrike" dirty="0">
                          <a:effectLst/>
                        </a:rPr>
                      </a:br>
                      <a:r>
                        <a:rPr lang="en-US" sz="900" u="none" strike="noStrike" dirty="0">
                          <a:effectLst/>
                        </a:rPr>
                        <a:t>5. Mobile Code Review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54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Cycle 2 (Cycle Time)</a:t>
            </a:r>
            <a:endParaRPr lang="en-US" sz="138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888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04800"/>
            <a:ext cx="8229600" cy="914400"/>
          </a:xfrm>
        </p:spPr>
        <p:txBody>
          <a:bodyPr/>
          <a:lstStyle/>
          <a:p>
            <a:r>
              <a:rPr lang="en-US" dirty="0">
                <a:latin typeface="Calibri (Body)"/>
              </a:rPr>
              <a:t>Y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219200"/>
            <a:ext cx="8229600" cy="533400"/>
          </a:xfrm>
        </p:spPr>
        <p:txBody>
          <a:bodyPr>
            <a:normAutofit/>
          </a:bodyPr>
          <a:lstStyle/>
          <a:p>
            <a:r>
              <a:rPr lang="en-US" sz="1600" dirty="0"/>
              <a:t>Cycle Time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52600" y="18288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 (Body)"/>
                <a:ea typeface="+mj-ea"/>
                <a:cs typeface="+mj-cs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5pPr>
            <a:lvl6pPr marL="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6pPr>
            <a:lvl7pPr marL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7pPr>
            <a:lvl8pPr marL="10287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8pPr>
            <a:lvl9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9pPr>
          </a:lstStyle>
          <a:p>
            <a:r>
              <a:rPr lang="en-US" dirty="0"/>
              <a:t>X factors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52600" y="2468880"/>
            <a:ext cx="8229600" cy="3779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600" dirty="0" smtClean="0"/>
              <a:t>Code Cycle Time</a:t>
            </a:r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600" dirty="0" smtClean="0"/>
              <a:t>Test Cycle Time</a:t>
            </a:r>
            <a:endParaRPr lang="en-US" sz="1600" dirty="0"/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76200"/>
            <a:ext cx="4846320" cy="6583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54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1"/>
            <a:ext cx="9372600" cy="228600"/>
          </a:xfrm>
        </p:spPr>
        <p:txBody>
          <a:bodyPr>
            <a:normAutofit fontScale="90000"/>
          </a:bodyPr>
          <a:lstStyle/>
          <a:p>
            <a:r>
              <a:rPr lang="en-IN" dirty="0"/>
              <a:t>Data for Cycle 2 Cycle time(data from the Data Collection Sheet 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686146"/>
              </p:ext>
            </p:extLst>
          </p:nvPr>
        </p:nvGraphicFramePr>
        <p:xfrm>
          <a:off x="990600" y="2438400"/>
          <a:ext cx="3048000" cy="525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762000"/>
                <a:gridCol w="762000"/>
              </a:tblGrid>
              <a:tr h="18415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Regression Equation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=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-0.131 + 2.166 </a:t>
                      </a:r>
                      <a:r>
                        <a:rPr lang="en-US" sz="1100" u="none" strike="noStrike" dirty="0" err="1">
                          <a:effectLst/>
                        </a:rPr>
                        <a:t>Code_CT</a:t>
                      </a:r>
                      <a:r>
                        <a:rPr lang="en-US" sz="1100" u="none" strike="noStrike" dirty="0">
                          <a:effectLst/>
                        </a:rPr>
                        <a:t> + 1.899 </a:t>
                      </a:r>
                      <a:r>
                        <a:rPr lang="en-US" sz="1100" u="none" strike="noStrike" dirty="0" err="1">
                          <a:effectLst/>
                        </a:rPr>
                        <a:t>Test_CT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73650" y="1587500"/>
          <a:ext cx="2044700" cy="368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/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1.600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1.040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0.160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5960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Chart – cycle time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683" y="1656533"/>
            <a:ext cx="5378633" cy="35449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935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Chart – X Factors of cycle Time </a:t>
            </a:r>
            <a:r>
              <a:rPr lang="en-IN" dirty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24" y="1656533"/>
            <a:ext cx="5378632" cy="35449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531" y="1656533"/>
            <a:ext cx="5380445" cy="3544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138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7DD9D42-D175-33C6-F7C3-70061BE43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D2F945-ED03-F646-FCAD-6C340D12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930275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Comparison from cycle 1 &amp; cycle 2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B6D6A55-84C9-996E-3E0A-0FCEEDCF1042}"/>
              </a:ext>
            </a:extLst>
          </p:cNvPr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66BC7DD-E96D-4442-91DD-8B5A4D4DC811}"/>
              </a:ext>
            </a:extLst>
          </p:cNvPr>
          <p:cNvSpPr txBox="1"/>
          <p:nvPr/>
        </p:nvSpPr>
        <p:spPr>
          <a:xfrm>
            <a:off x="473045" y="1364902"/>
            <a:ext cx="1097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ptos Display" panose="020B0004020202020204" pitchFamily="34" charset="0"/>
              </a:rPr>
              <a:t>The </a:t>
            </a:r>
            <a:r>
              <a:rPr lang="en-US" sz="2400" b="1" dirty="0">
                <a:latin typeface="Aptos Display" panose="020B0004020202020204" pitchFamily="34" charset="0"/>
              </a:rPr>
              <a:t>As Is Performance and What if </a:t>
            </a:r>
            <a:r>
              <a:rPr lang="en-US" sz="2400" b="1" dirty="0" smtClean="0">
                <a:latin typeface="Aptos Display" panose="020B0004020202020204" pitchFamily="34" charset="0"/>
              </a:rPr>
              <a:t>analysis   -  Of CYCLE TIME (Y FACTOR)</a:t>
            </a:r>
            <a:endParaRPr lang="en-IN" sz="2400" b="1" dirty="0"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5FC242D7-04F7-4DEB-D554-20F4DC257151}"/>
              </a:ext>
            </a:extLst>
          </p:cNvPr>
          <p:cNvSpPr/>
          <p:nvPr/>
        </p:nvSpPr>
        <p:spPr>
          <a:xfrm>
            <a:off x="533400" y="2048754"/>
            <a:ext cx="4724400" cy="6944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1 for all Y and X Factors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68CDFC07-8B9B-6A10-883E-86DE5445AA12}"/>
              </a:ext>
            </a:extLst>
          </p:cNvPr>
          <p:cNvSpPr/>
          <p:nvPr/>
        </p:nvSpPr>
        <p:spPr>
          <a:xfrm>
            <a:off x="7315200" y="2207567"/>
            <a:ext cx="41148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Setting Table and What if Table 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06D97C4F-9724-C206-CDE7-EDCB47FD77C9}"/>
              </a:ext>
            </a:extLst>
          </p:cNvPr>
          <p:cNvSpPr/>
          <p:nvPr/>
        </p:nvSpPr>
        <p:spPr>
          <a:xfrm>
            <a:off x="587721" y="4267200"/>
            <a:ext cx="48006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2 for all Y and X Factors 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943559"/>
              </p:ext>
            </p:extLst>
          </p:nvPr>
        </p:nvGraphicFramePr>
        <p:xfrm>
          <a:off x="2286000" y="5475900"/>
          <a:ext cx="24384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0.2968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0.1717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1.561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0.3301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-0.0083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0.0133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157559"/>
              </p:ext>
            </p:extLst>
          </p:nvPr>
        </p:nvGraphicFramePr>
        <p:xfrm>
          <a:off x="2057400" y="3044825"/>
          <a:ext cx="27051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0.435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2.606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1.329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-0.183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114502"/>
              </p:ext>
            </p:extLst>
          </p:nvPr>
        </p:nvGraphicFramePr>
        <p:xfrm>
          <a:off x="8629650" y="3183583"/>
          <a:ext cx="14859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8763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897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4131"/>
            <a:ext cx="10515600" cy="609600"/>
          </a:xfrm>
        </p:spPr>
        <p:txBody>
          <a:bodyPr/>
          <a:lstStyle/>
          <a:p>
            <a:r>
              <a:rPr lang="en-US" sz="2800" dirty="0"/>
              <a:t>Action Plan to achieve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10515600" cy="5791200"/>
          </a:xfrm>
        </p:spPr>
        <p:txBody>
          <a:bodyPr>
            <a:normAutofit/>
          </a:bodyPr>
          <a:lstStyle/>
          <a:p>
            <a:r>
              <a:rPr lang="en-US" sz="1400" dirty="0"/>
              <a:t>Complete estimation of CR with-in 24 Hour after logging CR;</a:t>
            </a:r>
          </a:p>
          <a:p>
            <a:r>
              <a:rPr lang="en-US" sz="1400" dirty="0"/>
              <a:t>Involvement of Testing team members in Process briefing also;</a:t>
            </a:r>
          </a:p>
          <a:p>
            <a:r>
              <a:rPr lang="en-US" sz="1400" dirty="0"/>
              <a:t>Reduction of Defect to reduce re-testing;</a:t>
            </a:r>
          </a:p>
        </p:txBody>
      </p:sp>
      <p:sp>
        <p:nvSpPr>
          <p:cNvPr id="4" name="Rectangle 3"/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494897"/>
              </p:ext>
            </p:extLst>
          </p:nvPr>
        </p:nvGraphicFramePr>
        <p:xfrm>
          <a:off x="1309730" y="1973261"/>
          <a:ext cx="10044069" cy="4656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361"/>
                <a:gridCol w="602246"/>
                <a:gridCol w="467861"/>
                <a:gridCol w="771472"/>
                <a:gridCol w="1761942"/>
                <a:gridCol w="1189560"/>
                <a:gridCol w="955630"/>
                <a:gridCol w="572382"/>
                <a:gridCol w="567405"/>
                <a:gridCol w="502702"/>
                <a:gridCol w="1075084"/>
                <a:gridCol w="1219424"/>
              </a:tblGrid>
              <a:tr h="1691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 dirty="0">
                          <a:effectLst/>
                        </a:rPr>
                        <a:t>Action Point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Metric/Category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Phase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Action/Task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Description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Improvements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Expected Outcome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Implementation Date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Responsibility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Status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Remarks / Notes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Process, Procedure, Implementation Plan 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 anchor="ctr"/>
                </a:tc>
              </a:tr>
              <a:tr h="1391781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All Phase ( SDLC)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Improve Review Efficiency – Requirement, Design, Code, and Test Case Reviews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Requirement Review: Analyze current process, prepare SOP for current vs revised workflow, define checklists, capture review comments in defect tracking sheet.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 Design Review: Implement structured wireframe and database review process.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 Code Review: Enforce mandatory checklist-driven code reviews before merge.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4. Unit Test Case Review: Conduct peer review of developer test cases.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5. Functional Test Case Review: Peer review with UAT sign-off before execution.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Expected increase of review defects by 10–15%, enabling early defect detection.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Improved defect leakage prevention and higher product quality across SDLC stages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4th Week Nov'25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BA,QA,TL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Checklists created and implemented for Jal Rekha module.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Establish mandatory review gates in SDLC. No artifact moves to the next phase without review approval. Track review effectiveness monthly.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</a:tr>
              <a:tr h="783962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Productivity- DRE and Code review rate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Reduce the overall DRE count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UAT Alignment: Ensure customer UAT team tests strictly within approved scope using agreed test cases/scenarios.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 Production Defect Analysis: Perform RCA on production defects and implement preventive fixes.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 Strengthen Internal QA: Increase internal testing depth before release.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Reduction in DRE by approx. 2–3%.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To increas or improve the overall performance of DRE by working on total review defects, internal testing defects and code review defects.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4th Week Nov'25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QA, TL, PM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UAT and production defects now analyzed jointly by client and internal teams.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1) UAT Scope of defects added and analyze at both client and at development team level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2) PROD Scope of defects added and analyze at both client and at development team level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</a:tr>
              <a:tr h="919419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Cycle Time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All Phase ( SDLC)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Re-estimate Scope Changes and no last-minute changes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1.Scope Estimation: Perform detailed effort estimation before development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2.Change Management: Any additional customer request must go through formal change control.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• Update scope document.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• Re-estimate effort and timeline.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• Obtain stakeholder approval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3.Execution: Proceed with coding and testing only after approval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4.Productivity Tracking: Compare planned vs actual effort to measure variance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Productivity improvement of 5–10% through controlled scope and better estimation accuracy.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Faster development throughput and improved coding rate.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3rd Week Nove'25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Developer, TL, PM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Version control for all change requests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Track versions of change requests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Set up a Change Control Board (CCB) for approvals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Freeze sprint scope after planning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Track estimation vs actuals and keep past data for better planning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</a:tr>
              <a:tr h="1391781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Cycle Time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Test cycle time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Optimize Testing Through Structured Sign-off and Resource Planning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Formal Sign-off: Require requirement sign-off for new features and change requests. Create separate story points and track via versioning (Module–Submodule–vX.X).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 Resource Planning: Allocate dedicated testers and maintain backup testers for critical cycles.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 Effort-based Test Planning: Estimate testing effort based on scope complexity.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4. Parallel Activities: Begin test case preparation during development to reduce idle time.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5. Measure Test Consumption: Track planned vs actual testing time.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Test cycle reduction by 5–10%.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1.Better testing, fewer delays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2.On-time releases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3rd Week Nove'25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TL, PM, QA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Backup tester model introduced for high-priority releases.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1.Ensure build is test-ready before handover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2.Track daily testing progress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3.Daily bug review to avoid delays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318" marR="2318" marT="2318" marB="0"/>
                </a:tc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715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CC72C99-2B48-EC0E-9393-82320D34B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13EE55-F71A-D29A-92B7-606C52F5A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400" b="1" dirty="0"/>
              <a:t>Cycle 3 – (Cycle Time</a:t>
            </a:r>
            <a:r>
              <a:rPr lang="en-US" sz="5400" b="1" dirty="0" smtClean="0"/>
              <a:t>)</a:t>
            </a:r>
            <a:endParaRPr lang="en-US" sz="138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3318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04800"/>
            <a:ext cx="8229600" cy="914400"/>
          </a:xfrm>
        </p:spPr>
        <p:txBody>
          <a:bodyPr/>
          <a:lstStyle/>
          <a:p>
            <a:r>
              <a:rPr lang="en-US" dirty="0">
                <a:latin typeface="Calibri (Body)"/>
              </a:rPr>
              <a:t>Y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219200"/>
            <a:ext cx="8229600" cy="533400"/>
          </a:xfrm>
        </p:spPr>
        <p:txBody>
          <a:bodyPr>
            <a:normAutofit/>
          </a:bodyPr>
          <a:lstStyle/>
          <a:p>
            <a:r>
              <a:rPr lang="en-US" sz="1600" dirty="0"/>
              <a:t>Cycle Time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52600" y="18288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 (Body)"/>
                <a:ea typeface="+mj-ea"/>
                <a:cs typeface="+mj-cs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5pPr>
            <a:lvl6pPr marL="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6pPr>
            <a:lvl7pPr marL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7pPr>
            <a:lvl8pPr marL="10287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8pPr>
            <a:lvl9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9pPr>
          </a:lstStyle>
          <a:p>
            <a:r>
              <a:rPr lang="en-US" dirty="0"/>
              <a:t>X factors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52600" y="2468880"/>
            <a:ext cx="8229600" cy="3779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600" dirty="0" smtClean="0"/>
              <a:t>Code Cycle Time</a:t>
            </a:r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600" dirty="0" smtClean="0"/>
              <a:t>Test Cycle Time</a:t>
            </a:r>
            <a:endParaRPr lang="en-US" sz="1600" dirty="0"/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013" y="381000"/>
            <a:ext cx="4297680" cy="59723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930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1"/>
            <a:ext cx="9372600" cy="228600"/>
          </a:xfrm>
        </p:spPr>
        <p:txBody>
          <a:bodyPr>
            <a:normAutofit fontScale="90000"/>
          </a:bodyPr>
          <a:lstStyle/>
          <a:p>
            <a:r>
              <a:rPr lang="en-IN" dirty="0"/>
              <a:t>Data for Cycle 2 Cycle time(data from the Data Collection Sheet 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098422"/>
              </p:ext>
            </p:extLst>
          </p:nvPr>
        </p:nvGraphicFramePr>
        <p:xfrm>
          <a:off x="1066800" y="2590800"/>
          <a:ext cx="3048000" cy="525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762000"/>
                <a:gridCol w="762000"/>
              </a:tblGrid>
              <a:tr h="18415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Regression Equation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=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0.3011 + 0.875 </a:t>
                      </a:r>
                      <a:r>
                        <a:rPr lang="en-US" sz="1100" u="none" strike="noStrike" dirty="0" err="1">
                          <a:effectLst/>
                        </a:rPr>
                        <a:t>Code_CT</a:t>
                      </a:r>
                      <a:r>
                        <a:rPr lang="en-US" sz="1100" u="none" strike="noStrike" dirty="0">
                          <a:effectLst/>
                        </a:rPr>
                        <a:t> + 1.201 </a:t>
                      </a:r>
                      <a:r>
                        <a:rPr lang="en-US" sz="1100" u="none" strike="noStrike" dirty="0" err="1">
                          <a:effectLst/>
                        </a:rPr>
                        <a:t>Test_CT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46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181600" y="1666875"/>
          <a:ext cx="1828800" cy="3524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</a:tblGrid>
              <a:tr h="3937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Cycle Time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Code_CT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Test_CT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0.750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0.370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0.364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0.923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0.385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0.909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0.455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0.300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0.914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1.000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0.625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0.300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0.917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0.458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0.563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0.273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0.778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0.333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0.222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608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Chart – cycle time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981200"/>
            <a:ext cx="5835831" cy="4040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660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Chart – X Factors of cycle Time </a:t>
            </a:r>
            <a:r>
              <a:rPr lang="en-IN" dirty="0"/>
              <a:t> 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43" y="1690688"/>
            <a:ext cx="5744391" cy="39819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90688"/>
            <a:ext cx="5760720" cy="4030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218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7DD9D42-D175-33C6-F7C3-70061BE43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D2F945-ED03-F646-FCAD-6C340D12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930275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Comparison from cycle </a:t>
            </a:r>
            <a:r>
              <a:rPr lang="en-US" dirty="0" smtClean="0"/>
              <a:t>2 </a:t>
            </a:r>
            <a:r>
              <a:rPr lang="en-US" dirty="0"/>
              <a:t>&amp; cycle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B6D6A55-84C9-996E-3E0A-0FCEEDCF1042}"/>
              </a:ext>
            </a:extLst>
          </p:cNvPr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66BC7DD-E96D-4442-91DD-8B5A4D4DC811}"/>
              </a:ext>
            </a:extLst>
          </p:cNvPr>
          <p:cNvSpPr txBox="1"/>
          <p:nvPr/>
        </p:nvSpPr>
        <p:spPr>
          <a:xfrm>
            <a:off x="473045" y="1364902"/>
            <a:ext cx="1097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ptos Display" panose="020B0004020202020204" pitchFamily="34" charset="0"/>
              </a:rPr>
              <a:t>The </a:t>
            </a:r>
            <a:r>
              <a:rPr lang="en-US" sz="2400" b="1" dirty="0">
                <a:latin typeface="Aptos Display" panose="020B0004020202020204" pitchFamily="34" charset="0"/>
              </a:rPr>
              <a:t>As Is Performance and What if </a:t>
            </a:r>
            <a:r>
              <a:rPr lang="en-US" sz="2400" b="1" dirty="0" smtClean="0">
                <a:latin typeface="Aptos Display" panose="020B0004020202020204" pitchFamily="34" charset="0"/>
              </a:rPr>
              <a:t>analysis   -  Of CYCLE TIME (Y FACTOR)</a:t>
            </a:r>
            <a:endParaRPr lang="en-IN" sz="2400" b="1" dirty="0"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5FC242D7-04F7-4DEB-D554-20F4DC257151}"/>
              </a:ext>
            </a:extLst>
          </p:cNvPr>
          <p:cNvSpPr/>
          <p:nvPr/>
        </p:nvSpPr>
        <p:spPr>
          <a:xfrm>
            <a:off x="533400" y="2048754"/>
            <a:ext cx="4724400" cy="6944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</a:t>
            </a:r>
            <a:r>
              <a:rPr lang="en-US" dirty="0" smtClean="0"/>
              <a:t>2 </a:t>
            </a:r>
            <a:r>
              <a:rPr lang="en-US" dirty="0"/>
              <a:t>for all Y and X Factors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68CDFC07-8B9B-6A10-883E-86DE5445AA12}"/>
              </a:ext>
            </a:extLst>
          </p:cNvPr>
          <p:cNvSpPr/>
          <p:nvPr/>
        </p:nvSpPr>
        <p:spPr>
          <a:xfrm>
            <a:off x="7315200" y="2207567"/>
            <a:ext cx="41148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Setting Table and What if Table 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06D97C4F-9724-C206-CDE7-EDCB47FD77C9}"/>
              </a:ext>
            </a:extLst>
          </p:cNvPr>
          <p:cNvSpPr/>
          <p:nvPr/>
        </p:nvSpPr>
        <p:spPr>
          <a:xfrm>
            <a:off x="587721" y="4267200"/>
            <a:ext cx="48006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</a:t>
            </a:r>
            <a:r>
              <a:rPr lang="en-US" dirty="0" smtClean="0"/>
              <a:t>3 </a:t>
            </a:r>
            <a:r>
              <a:rPr lang="en-US" dirty="0"/>
              <a:t>for all Y and X Factors 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986382"/>
              </p:ext>
            </p:extLst>
          </p:nvPr>
        </p:nvGraphicFramePr>
        <p:xfrm>
          <a:off x="1981200" y="3124200"/>
          <a:ext cx="24384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0.2968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0.1717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0.249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1.561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0.3301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-0.0083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0.0133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24855"/>
              </p:ext>
            </p:extLst>
          </p:nvPr>
        </p:nvGraphicFramePr>
        <p:xfrm>
          <a:off x="2286000" y="5715000"/>
          <a:ext cx="24384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Test_CT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0.3141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1.1518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0.5709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0.3643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0.4506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0.0573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715536"/>
              </p:ext>
            </p:extLst>
          </p:nvPr>
        </p:nvGraphicFramePr>
        <p:xfrm>
          <a:off x="8569701" y="3429000"/>
          <a:ext cx="12192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Cycle 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0.7335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466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4131"/>
            <a:ext cx="10515600" cy="609600"/>
          </a:xfrm>
        </p:spPr>
        <p:txBody>
          <a:bodyPr/>
          <a:lstStyle/>
          <a:p>
            <a:r>
              <a:rPr lang="en-US" sz="2800" dirty="0"/>
              <a:t>Action Plan to achieve </a:t>
            </a:r>
            <a:r>
              <a:rPr lang="en-US" sz="2800" dirty="0" smtClean="0"/>
              <a:t>targets Cycle 3 to Next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10515600" cy="5791200"/>
          </a:xfrm>
        </p:spPr>
        <p:txBody>
          <a:bodyPr>
            <a:normAutofit/>
          </a:bodyPr>
          <a:lstStyle/>
          <a:p>
            <a:r>
              <a:rPr lang="en-US" sz="1400" dirty="0"/>
              <a:t>Complete estimation of CR with-in 24 Hour after logging CR;</a:t>
            </a:r>
          </a:p>
          <a:p>
            <a:r>
              <a:rPr lang="en-US" sz="1400" dirty="0"/>
              <a:t>Involvement of Testing team members in Process briefing also;</a:t>
            </a:r>
          </a:p>
          <a:p>
            <a:r>
              <a:rPr lang="en-US" sz="1400" dirty="0"/>
              <a:t>Reduction of Defect to reduce re-testing;</a:t>
            </a:r>
          </a:p>
        </p:txBody>
      </p:sp>
      <p:sp>
        <p:nvSpPr>
          <p:cNvPr id="4" name="Rectangle 3"/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064864"/>
              </p:ext>
            </p:extLst>
          </p:nvPr>
        </p:nvGraphicFramePr>
        <p:xfrm>
          <a:off x="914400" y="2514600"/>
          <a:ext cx="10515602" cy="1489207"/>
        </p:xfrm>
        <a:graphic>
          <a:graphicData uri="http://schemas.openxmlformats.org/drawingml/2006/table">
            <a:tbl>
              <a:tblPr/>
              <a:tblGrid>
                <a:gridCol w="391886"/>
                <a:gridCol w="658586"/>
                <a:gridCol w="598714"/>
                <a:gridCol w="843643"/>
                <a:gridCol w="1752600"/>
                <a:gridCol w="919843"/>
                <a:gridCol w="1045029"/>
                <a:gridCol w="625929"/>
                <a:gridCol w="620486"/>
                <a:gridCol w="549729"/>
                <a:gridCol w="1175657"/>
                <a:gridCol w="1333500"/>
              </a:tblGrid>
              <a:tr h="2672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Action Point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Metric/Category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Phase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Action/Task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Description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Improvements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Expected Outcome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Implementation Date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Responsibility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Status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Remarks / Notes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Process, Procedure, Implementation Plan </a:t>
                      </a:r>
                    </a:p>
                  </a:txBody>
                  <a:tcPr marL="2721" marR="2721" marT="272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</a:tr>
              <a:tr h="1104314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Code Rate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Development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Enforce Coding Standards with SonarQube Quality Gates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1. Define standardized coding guidelines.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2. Configure SonarQube quality gates and thresholds.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3. Make quality checks mandatory before code merge.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4. Allocate dedicated time to refactor high-complexity code.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5. Monitor technical debt metrics regularly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.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Reduces rework and technical debt by 15–25%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Improved developer efficiency and faster future enhancements.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4th Week Nov'25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TL, Developers, Architect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Complete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Especially important for billing module due to complex scenarios.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Integrate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SonarQube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 into CI/CD pipeline. Block merges failing quality gates. Maintain technical debt register and review in sprint retrospectives.</a:t>
                      </a:r>
                    </a:p>
                  </a:txBody>
                  <a:tcPr marL="2721" marR="2721" marT="272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351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971801"/>
            <a:ext cx="7886700" cy="79079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Cycle 1</a:t>
            </a:r>
            <a:br>
              <a:rPr lang="en-IN" dirty="0"/>
            </a:br>
            <a:r>
              <a:rPr lang="en-IN" dirty="0"/>
              <a:t>(</a:t>
            </a:r>
            <a:r>
              <a:rPr lang="en-IN" dirty="0" smtClean="0"/>
              <a:t>DRE)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7315201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 Code Leakage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464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31BC614-25D2-6867-F3E7-3B1D0462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D4C4FA-C9FE-EDE6-8BBD-5E439A80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04800"/>
            <a:ext cx="8229600" cy="914400"/>
          </a:xfrm>
        </p:spPr>
        <p:txBody>
          <a:bodyPr/>
          <a:lstStyle/>
          <a:p>
            <a:r>
              <a:rPr lang="en-US" dirty="0">
                <a:latin typeface="Calibri (Body)"/>
              </a:rPr>
              <a:t>Y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ADF13D-5888-2976-756B-406471CAD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219200"/>
            <a:ext cx="8229600" cy="533400"/>
          </a:xfrm>
        </p:spPr>
        <p:txBody>
          <a:bodyPr>
            <a:normAutofit/>
          </a:bodyPr>
          <a:lstStyle/>
          <a:p>
            <a:r>
              <a:rPr lang="en-US" sz="1600" dirty="0"/>
              <a:t>DRE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440407D2-C02E-C300-1128-DD15D885FFBE}"/>
              </a:ext>
            </a:extLst>
          </p:cNvPr>
          <p:cNvSpPr txBox="1">
            <a:spLocks/>
          </p:cNvSpPr>
          <p:nvPr/>
        </p:nvSpPr>
        <p:spPr>
          <a:xfrm>
            <a:off x="1752600" y="18288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 (Body)"/>
                <a:ea typeface="+mj-ea"/>
                <a:cs typeface="+mj-cs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5pPr>
            <a:lvl6pPr marL="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6pPr>
            <a:lvl7pPr marL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7pPr>
            <a:lvl8pPr marL="10287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8pPr>
            <a:lvl9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9pPr>
          </a:lstStyle>
          <a:p>
            <a:r>
              <a:rPr lang="en-US" dirty="0"/>
              <a:t>X factors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B14D6E1D-D21C-AC92-48E6-94CAAD66581F}"/>
              </a:ext>
            </a:extLst>
          </p:cNvPr>
          <p:cNvSpPr txBox="1">
            <a:spLocks/>
          </p:cNvSpPr>
          <p:nvPr/>
        </p:nvSpPr>
        <p:spPr>
          <a:xfrm>
            <a:off x="1752600" y="2468880"/>
            <a:ext cx="8229600" cy="3779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600" dirty="0" smtClean="0"/>
              <a:t>Code Review per Size </a:t>
            </a:r>
            <a:endParaRPr lang="en-US" sz="1600" dirty="0"/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665" y="31282"/>
            <a:ext cx="5645135" cy="71797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442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1"/>
            <a:ext cx="10972800" cy="790799"/>
          </a:xfrm>
        </p:spPr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1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and Code Leakage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64507"/>
              </p:ext>
            </p:extLst>
          </p:nvPr>
        </p:nvGraphicFramePr>
        <p:xfrm>
          <a:off x="1143000" y="2438400"/>
          <a:ext cx="3238501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0638"/>
                <a:gridCol w="500638"/>
                <a:gridCol w="500638"/>
                <a:gridCol w="1736587"/>
              </a:tblGrid>
              <a:tr h="18415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Regression Equation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=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0.6247 + 0.775 Code Review Per Size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53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76875" y="1254125"/>
          <a:ext cx="1236696" cy="4351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643"/>
                <a:gridCol w="687053"/>
              </a:tblGrid>
              <a:tr h="5324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0.750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0.700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0.039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0.800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0.143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0.714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0.115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0.500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0.500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0.080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0.800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0.600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0.571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0.833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0.130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0.667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0.800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0.182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0.500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0.500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0.667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0.600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0.500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0.069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0.800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0.143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  <a:tr h="166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0.750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0.056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25" marR="5725" marT="57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2639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Chart – DRE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1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 Code Leakage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689084"/>
            <a:ext cx="6949440" cy="4632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194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Chart – </a:t>
            </a:r>
            <a:r>
              <a:rPr lang="en-IN" dirty="0"/>
              <a:t>x Factors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315201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 Code Leakage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684271"/>
            <a:ext cx="6949440" cy="4632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201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DRE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10210800" cy="5486400"/>
          </a:xfrm>
        </p:spPr>
        <p:txBody>
          <a:bodyPr>
            <a:noAutofit/>
          </a:bodyPr>
          <a:lstStyle/>
          <a:p>
            <a:r>
              <a:rPr lang="en-US" sz="2400" dirty="0"/>
              <a:t>Regression Analysis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pPr fontAlgn="b"/>
            <a:r>
              <a:rPr lang="en-US" sz="2400" dirty="0"/>
              <a:t>The regression equation is</a:t>
            </a:r>
            <a:r>
              <a:rPr lang="en-US" sz="2400" dirty="0" smtClean="0"/>
              <a:t>:</a:t>
            </a:r>
          </a:p>
          <a:p>
            <a:r>
              <a:rPr lang="en-US" sz="2400" dirty="0" smtClean="0"/>
              <a:t>DRE </a:t>
            </a:r>
            <a:r>
              <a:rPr lang="en-US" sz="2400" dirty="0"/>
              <a:t>= 0.6247 + 0.775 Code Review Per Size </a:t>
            </a:r>
          </a:p>
          <a:p>
            <a:pPr fontAlgn="b"/>
            <a:endParaRPr lang="en-IN" sz="2400" dirty="0"/>
          </a:p>
          <a:p>
            <a:pPr marL="0" indent="0" fontAlgn="b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en-US" sz="2400" dirty="0"/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7315201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 Code Leakage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532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8EE166D-0C63-8611-8D08-E0C489FB0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46C5FB-DFEC-6377-6BAA-D96008D6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930275"/>
          </a:xfrm>
        </p:spPr>
        <p:txBody>
          <a:bodyPr>
            <a:normAutofit/>
          </a:bodyPr>
          <a:lstStyle/>
          <a:p>
            <a:r>
              <a:rPr lang="en-US" dirty="0"/>
              <a:t>Performance and Targets – DRE / QA-TDD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294B4DD-6B9B-8D17-81C2-40D28C4041CE}"/>
              </a:ext>
            </a:extLst>
          </p:cNvPr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E9B5BD0-2AE3-EDD1-8F80-A2CF5D1FC27F}"/>
              </a:ext>
            </a:extLst>
          </p:cNvPr>
          <p:cNvSpPr txBox="1"/>
          <p:nvPr/>
        </p:nvSpPr>
        <p:spPr>
          <a:xfrm>
            <a:off x="609600" y="1371600"/>
            <a:ext cx="1097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ptos Display" panose="020B0004020202020204" pitchFamily="34" charset="0"/>
              </a:rPr>
              <a:t>The AS IS </a:t>
            </a:r>
            <a:r>
              <a:rPr lang="en-US" sz="2400" b="1" dirty="0">
                <a:latin typeface="Aptos Display" panose="020B0004020202020204" pitchFamily="34" charset="0"/>
              </a:rPr>
              <a:t>Performance and What if </a:t>
            </a:r>
            <a:r>
              <a:rPr lang="en-US" sz="2400" b="1" dirty="0" smtClean="0">
                <a:latin typeface="Aptos Display" panose="020B0004020202020204" pitchFamily="34" charset="0"/>
              </a:rPr>
              <a:t>analysis</a:t>
            </a:r>
            <a:endParaRPr lang="en-IN" sz="2400" b="1" dirty="0"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78920286-7E38-A590-EA75-3F539B923D0E}"/>
              </a:ext>
            </a:extLst>
          </p:cNvPr>
          <p:cNvSpPr/>
          <p:nvPr/>
        </p:nvSpPr>
        <p:spPr>
          <a:xfrm>
            <a:off x="838200" y="3124200"/>
            <a:ext cx="4572000" cy="83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all Y and X Factors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ED4ECA82-5BEC-1502-B166-702150581DFF}"/>
              </a:ext>
            </a:extLst>
          </p:cNvPr>
          <p:cNvSpPr/>
          <p:nvPr/>
        </p:nvSpPr>
        <p:spPr>
          <a:xfrm>
            <a:off x="6400800" y="3124200"/>
            <a:ext cx="4572000" cy="990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Setting Table and What if Table 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42213"/>
              </p:ext>
            </p:extLst>
          </p:nvPr>
        </p:nvGraphicFramePr>
        <p:xfrm>
          <a:off x="1447800" y="4876800"/>
          <a:ext cx="26289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4097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1.295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0.646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-0.307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0801"/>
              </p:ext>
            </p:extLst>
          </p:nvPr>
        </p:nvGraphicFramePr>
        <p:xfrm>
          <a:off x="4800600" y="5257800"/>
          <a:ext cx="12192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Target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Mean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0.10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548292"/>
              </p:ext>
            </p:extLst>
          </p:nvPr>
        </p:nvGraphicFramePr>
        <p:xfrm>
          <a:off x="6934200" y="4876800"/>
          <a:ext cx="26289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4097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What if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0.7952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USL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1.0952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LSL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>
                          <a:effectLst/>
                        </a:rPr>
                        <a:t>0.4952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100" u="none" strike="noStrike" dirty="0">
                          <a:effectLst/>
                        </a:rPr>
                        <a:t>0.07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383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Action Plan to achieve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DRE </a:t>
            </a:r>
            <a:r>
              <a:rPr lang="en-US" sz="2400" dirty="0"/>
              <a:t>action plan </a:t>
            </a:r>
            <a:r>
              <a:rPr lang="en-US" sz="2400" dirty="0" smtClean="0"/>
              <a:t>here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7315201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and Code Leakage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956299"/>
              </p:ext>
            </p:extLst>
          </p:nvPr>
        </p:nvGraphicFramePr>
        <p:xfrm>
          <a:off x="762000" y="2895600"/>
          <a:ext cx="10515599" cy="16965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3540"/>
                <a:gridCol w="412739"/>
                <a:gridCol w="579066"/>
                <a:gridCol w="837798"/>
                <a:gridCol w="1768001"/>
                <a:gridCol w="1041088"/>
                <a:gridCol w="1182774"/>
                <a:gridCol w="708432"/>
                <a:gridCol w="702272"/>
                <a:gridCol w="622188"/>
                <a:gridCol w="708432"/>
                <a:gridCol w="1509269"/>
              </a:tblGrid>
              <a:tr h="893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Sr. No.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Metric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Phase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Action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Description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Improvements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Expected Outcome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Implementation Date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Responsibility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Status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Remarks / Notes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Process, Procedure, Implementation Plan </a:t>
                      </a:r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 anchor="ctr"/>
                </a:tc>
              </a:tr>
              <a:tr h="1175998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Productivity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All Phase ( SDLC)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Improve Review Effeciency  - Requirement Review ,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Design Review 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Code Review 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Test Cases Review and this will increase productivity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Requirement Review :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     1.1. Analyze the Current Process.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    1.2 Prepare the SOP - Current Process &amp;  Revised Process ( Define Checklist , Review cooments captured ie., defect tracking sheet , Promot - option )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   1.3  Implementation Plan.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 Design Review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 2.1 Wireframe Review Process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2.2 Database  Review Process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 Code Review - Implement Code Review Checklist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4. Unit Test Cases Review - Peer Review  unit test cases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5. Test Cases Review -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This will increases the productivity by 10%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To Increase / Improve the productivity rate for coding and testing.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7-Aug-25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BA,QA,TL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Test Plan &amp; Test Case Review Checklist- JAL REKHA                                                                        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 2. Jal Rekha Code Review Checklist                      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3. Jal Rekha-DesignReview _ Defects 1.0               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4. Jal Rekha_FRS_REVIEW Ver 1.0                        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5. Mobile Code Review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</a:tr>
              <a:tr h="431220"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DRE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Improve the overall DRE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1. Align the Customer UAT Team on the Scope of Testing . ( Test Cases / Test Scenarios ) 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/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2.Analyze the Type of defects raised And accordingly decision.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This will improve the overall DRE by 5%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To decrease / reduce  total review defects and total internal testing defect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3rd Week Aug'25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QA, TL, PM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Complete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500" u="none" strike="noStrike" dirty="0">
                          <a:effectLst/>
                        </a:rPr>
                        <a:t>1) UAT Scope of defects added and analyze at both client and at development team level</a:t>
                      </a:r>
                      <a:br>
                        <a:rPr lang="en-US" sz="500" u="none" strike="noStrike" dirty="0">
                          <a:effectLst/>
                        </a:rPr>
                      </a:br>
                      <a:r>
                        <a:rPr lang="en-US" sz="500" u="none" strike="noStrike" dirty="0">
                          <a:effectLst/>
                        </a:rPr>
                        <a:t>2) PROD Scope of defects added and analyze at both client and at development team level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080" marR="3080" marT="3080" marB="0"/>
                </a:tc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235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4384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Cycle 2 – </a:t>
            </a:r>
            <a:r>
              <a:rPr lang="en-US" sz="4000" dirty="0" smtClean="0"/>
              <a:t>DRE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669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31BC614-25D2-6867-F3E7-3B1D0462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D4C4FA-C9FE-EDE6-8BBD-5E439A80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04800"/>
            <a:ext cx="8229600" cy="914400"/>
          </a:xfrm>
        </p:spPr>
        <p:txBody>
          <a:bodyPr/>
          <a:lstStyle/>
          <a:p>
            <a:r>
              <a:rPr lang="en-US" dirty="0">
                <a:latin typeface="Calibri (Body)"/>
              </a:rPr>
              <a:t>Y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ADF13D-5888-2976-756B-406471CAD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219200"/>
            <a:ext cx="8229600" cy="533400"/>
          </a:xfrm>
        </p:spPr>
        <p:txBody>
          <a:bodyPr>
            <a:normAutofit/>
          </a:bodyPr>
          <a:lstStyle/>
          <a:p>
            <a:r>
              <a:rPr lang="en-US" sz="1600" dirty="0"/>
              <a:t>DRE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440407D2-C02E-C300-1128-DD15D885FFBE}"/>
              </a:ext>
            </a:extLst>
          </p:cNvPr>
          <p:cNvSpPr txBox="1">
            <a:spLocks/>
          </p:cNvSpPr>
          <p:nvPr/>
        </p:nvSpPr>
        <p:spPr>
          <a:xfrm>
            <a:off x="1752600" y="18288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 (Body)"/>
                <a:ea typeface="+mj-ea"/>
                <a:cs typeface="+mj-cs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5pPr>
            <a:lvl6pPr marL="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6pPr>
            <a:lvl7pPr marL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7pPr>
            <a:lvl8pPr marL="10287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8pPr>
            <a:lvl9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9pPr>
          </a:lstStyle>
          <a:p>
            <a:r>
              <a:rPr lang="en-US" dirty="0"/>
              <a:t>X factors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B14D6E1D-D21C-AC92-48E6-94CAAD66581F}"/>
              </a:ext>
            </a:extLst>
          </p:cNvPr>
          <p:cNvSpPr txBox="1">
            <a:spLocks/>
          </p:cNvSpPr>
          <p:nvPr/>
        </p:nvSpPr>
        <p:spPr>
          <a:xfrm>
            <a:off x="1752600" y="2468880"/>
            <a:ext cx="8229600" cy="3779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600" dirty="0" smtClean="0"/>
              <a:t>Code Review per Size </a:t>
            </a:r>
            <a:endParaRPr lang="en-US" sz="1600" dirty="0"/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660"/>
            <a:ext cx="4113921" cy="66883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90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52401"/>
            <a:ext cx="7886700" cy="790799"/>
          </a:xfrm>
        </p:spPr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 Code Leakage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942096"/>
              </p:ext>
            </p:extLst>
          </p:nvPr>
        </p:nvGraphicFramePr>
        <p:xfrm>
          <a:off x="1879060" y="2362200"/>
          <a:ext cx="2438401" cy="525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867"/>
                <a:gridCol w="541867"/>
                <a:gridCol w="541867"/>
                <a:gridCol w="812800"/>
              </a:tblGrid>
              <a:tr h="18415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Regression Equation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DRE-1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=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0.6449 + 1.834 Code Review Per Size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61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276850" y="1509713"/>
          <a:ext cx="163830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/>
                <a:gridCol w="876300"/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DRE-1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0.080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5431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3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and Code Leakage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023" y="1326285"/>
            <a:ext cx="6455954" cy="4205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398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Chart – </a:t>
            </a:r>
            <a:r>
              <a:rPr lang="en-IN" dirty="0"/>
              <a:t>x Factors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315200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3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and Code Leakage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063" y="1384577"/>
            <a:ext cx="6269873" cy="4088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343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DRE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990600"/>
            <a:ext cx="8229600" cy="5486400"/>
          </a:xfrm>
        </p:spPr>
        <p:txBody>
          <a:bodyPr>
            <a:noAutofit/>
          </a:bodyPr>
          <a:lstStyle/>
          <a:p>
            <a:pPr fontAlgn="b"/>
            <a:r>
              <a:rPr lang="en-US" sz="2400" dirty="0"/>
              <a:t>Regression Analysis:</a:t>
            </a:r>
          </a:p>
          <a:p>
            <a:pPr fontAlgn="b"/>
            <a:endParaRPr lang="en-US" sz="2400" dirty="0"/>
          </a:p>
          <a:p>
            <a:pPr fontAlgn="b"/>
            <a:r>
              <a:rPr lang="en-US" sz="2400" dirty="0"/>
              <a:t>The regression equation is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Regression Equation			</a:t>
            </a:r>
          </a:p>
          <a:p>
            <a:r>
              <a:rPr lang="en-US" sz="2400" dirty="0"/>
              <a:t>DRE-1	=	0.6449 + 1.834 Code Review Per Size	</a:t>
            </a:r>
          </a:p>
          <a:p>
            <a:pPr fontAlgn="b"/>
            <a:endParaRPr lang="en-IN" sz="2400" dirty="0"/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7315200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3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and Code Leakage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471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1AC2D00-E0CA-D538-B75D-74BE927D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04FB4A-F664-C508-A155-DBDF268E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930275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Comparison from cycle 1</a:t>
            </a:r>
            <a:r>
              <a:rPr lang="en-US" dirty="0" smtClean="0"/>
              <a:t> </a:t>
            </a:r>
            <a:r>
              <a:rPr lang="en-US" dirty="0"/>
              <a:t>&amp; cycle 2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4DAA71A-03E4-DCB2-85B8-5385DE4B1FE4}"/>
              </a:ext>
            </a:extLst>
          </p:cNvPr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A550E01-B3D7-1B98-08C2-0735B678B450}"/>
              </a:ext>
            </a:extLst>
          </p:cNvPr>
          <p:cNvSpPr txBox="1"/>
          <p:nvPr/>
        </p:nvSpPr>
        <p:spPr>
          <a:xfrm>
            <a:off x="609600" y="1371600"/>
            <a:ext cx="1097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ptos Display" panose="020B0004020202020204" pitchFamily="34" charset="0"/>
              </a:rPr>
              <a:t>The </a:t>
            </a:r>
            <a:r>
              <a:rPr lang="en-US" sz="2400" b="1" dirty="0">
                <a:latin typeface="Aptos Display" panose="020B0004020202020204" pitchFamily="34" charset="0"/>
              </a:rPr>
              <a:t>As Is Performance and What if </a:t>
            </a:r>
            <a:r>
              <a:rPr lang="en-US" sz="2400" b="1" dirty="0" smtClean="0">
                <a:latin typeface="Aptos Display" panose="020B0004020202020204" pitchFamily="34" charset="0"/>
              </a:rPr>
              <a:t>analysis  -  DRE (Y FACTOR)</a:t>
            </a:r>
            <a:endParaRPr lang="en-IN" sz="2400" b="1" dirty="0"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114396A5-5DBA-F133-5BD3-103B6C4E4F3E}"/>
              </a:ext>
            </a:extLst>
          </p:cNvPr>
          <p:cNvSpPr/>
          <p:nvPr/>
        </p:nvSpPr>
        <p:spPr>
          <a:xfrm>
            <a:off x="838200" y="2514600"/>
            <a:ext cx="46482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1 for all Y and X Factors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2DD78494-88FC-C8EA-EA61-8BBF13FF1B32}"/>
              </a:ext>
            </a:extLst>
          </p:cNvPr>
          <p:cNvSpPr/>
          <p:nvPr/>
        </p:nvSpPr>
        <p:spPr>
          <a:xfrm>
            <a:off x="6937443" y="2743200"/>
            <a:ext cx="44196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Setting Table and What if Table 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738B8879-E240-F1CF-C5BC-2A732B326E73}"/>
              </a:ext>
            </a:extLst>
          </p:cNvPr>
          <p:cNvSpPr/>
          <p:nvPr/>
        </p:nvSpPr>
        <p:spPr>
          <a:xfrm>
            <a:off x="838200" y="5029200"/>
            <a:ext cx="46482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2 for all Y and X Factors 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648758"/>
              </p:ext>
            </p:extLst>
          </p:nvPr>
        </p:nvGraphicFramePr>
        <p:xfrm>
          <a:off x="5730943" y="5615702"/>
          <a:ext cx="2413000" cy="1078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1938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0.0723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1.1186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0.1593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0.4331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-0.0148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942015"/>
              </p:ext>
            </p:extLst>
          </p:nvPr>
        </p:nvGraphicFramePr>
        <p:xfrm>
          <a:off x="990600" y="3626053"/>
          <a:ext cx="2628900" cy="920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4097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1.295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0.646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-0.307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111189"/>
              </p:ext>
            </p:extLst>
          </p:nvPr>
        </p:nvGraphicFramePr>
        <p:xfrm>
          <a:off x="7696200" y="4191000"/>
          <a:ext cx="12192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0.10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984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183A4DA-A735-85A6-A828-3D62C856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27BD9E-C537-1133-FB5E-EB48E476E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400" b="1" dirty="0"/>
              <a:t>Cycle 3 – </a:t>
            </a:r>
            <a:r>
              <a:rPr lang="en-US" sz="5400" b="1" dirty="0" smtClean="0"/>
              <a:t>DRE </a:t>
            </a:r>
            <a:endParaRPr lang="en-US" sz="138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829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31BC614-25D2-6867-F3E7-3B1D0462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D4C4FA-C9FE-EDE6-8BBD-5E439A80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04800"/>
            <a:ext cx="8229600" cy="914400"/>
          </a:xfrm>
        </p:spPr>
        <p:txBody>
          <a:bodyPr/>
          <a:lstStyle/>
          <a:p>
            <a:r>
              <a:rPr lang="en-US" dirty="0">
                <a:latin typeface="Calibri (Body)"/>
              </a:rPr>
              <a:t>Y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ADF13D-5888-2976-756B-406471CAD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219200"/>
            <a:ext cx="8229600" cy="533400"/>
          </a:xfrm>
        </p:spPr>
        <p:txBody>
          <a:bodyPr>
            <a:normAutofit/>
          </a:bodyPr>
          <a:lstStyle/>
          <a:p>
            <a:r>
              <a:rPr lang="en-US" sz="1600" dirty="0"/>
              <a:t>DRE / QA-TDD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440407D2-C02E-C300-1128-DD15D885FFBE}"/>
              </a:ext>
            </a:extLst>
          </p:cNvPr>
          <p:cNvSpPr txBox="1">
            <a:spLocks/>
          </p:cNvSpPr>
          <p:nvPr/>
        </p:nvSpPr>
        <p:spPr>
          <a:xfrm>
            <a:off x="1752600" y="18288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 (Body)"/>
                <a:ea typeface="+mj-ea"/>
                <a:cs typeface="+mj-cs"/>
              </a:defRPr>
            </a:lvl1pPr>
            <a:lvl2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2pPr>
            <a:lvl3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3pPr>
            <a:lvl4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4pPr>
            <a:lvl5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5pPr>
            <a:lvl6pPr marL="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6pPr>
            <a:lvl7pPr marL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7pPr>
            <a:lvl8pPr marL="10287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8pPr>
            <a:lvl9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</a:defRPr>
            </a:lvl9pPr>
          </a:lstStyle>
          <a:p>
            <a:r>
              <a:rPr lang="en-US" dirty="0"/>
              <a:t>X factors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B14D6E1D-D21C-AC92-48E6-94CAAD66581F}"/>
              </a:ext>
            </a:extLst>
          </p:cNvPr>
          <p:cNvSpPr txBox="1">
            <a:spLocks/>
          </p:cNvSpPr>
          <p:nvPr/>
        </p:nvSpPr>
        <p:spPr>
          <a:xfrm>
            <a:off x="1752600" y="2468880"/>
            <a:ext cx="8229600" cy="3779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r>
              <a:rPr lang="en-US" sz="1600" dirty="0" smtClean="0"/>
              <a:t>Code Review per Size </a:t>
            </a:r>
            <a:endParaRPr lang="en-US" sz="1600" dirty="0"/>
          </a:p>
          <a:p>
            <a:pPr marL="171450" indent="-17145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>
                <a:schemeClr val="accent3"/>
              </a:buClr>
              <a:buSzPct val="95000"/>
              <a:buFont typeface="Arial" charset="0"/>
              <a:buChar char="•"/>
              <a:defRPr/>
            </a:pP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52400"/>
            <a:ext cx="5410199" cy="6383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972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52401"/>
            <a:ext cx="7886700" cy="790799"/>
          </a:xfrm>
        </p:spPr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 Code Leakage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287194"/>
              </p:ext>
            </p:extLst>
          </p:nvPr>
        </p:nvGraphicFramePr>
        <p:xfrm>
          <a:off x="1447800" y="2590800"/>
          <a:ext cx="2438400" cy="525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219200"/>
              </a:tblGrid>
              <a:tr h="18415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Regression Equation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=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0.6331 + 0.729 Code Review Per Size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68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0" y="1609725"/>
          <a:ext cx="1219200" cy="3639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6684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3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and Code Leakage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1" y="1716132"/>
            <a:ext cx="6484982" cy="4274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880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Chart – </a:t>
            </a:r>
            <a:r>
              <a:rPr lang="en-IN" dirty="0"/>
              <a:t>x Factors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315200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3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and Code Leakage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207" y="1716132"/>
            <a:ext cx="6529576" cy="4303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596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DRE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990600"/>
            <a:ext cx="8229600" cy="5486400"/>
          </a:xfrm>
        </p:spPr>
        <p:txBody>
          <a:bodyPr>
            <a:noAutofit/>
          </a:bodyPr>
          <a:lstStyle/>
          <a:p>
            <a:pPr fontAlgn="b"/>
            <a:r>
              <a:rPr lang="en-US" sz="2400" dirty="0"/>
              <a:t>Regression Analysis:</a:t>
            </a:r>
          </a:p>
          <a:p>
            <a:pPr fontAlgn="b"/>
            <a:endParaRPr lang="en-US" sz="2400" dirty="0"/>
          </a:p>
          <a:p>
            <a:pPr fontAlgn="b"/>
            <a:r>
              <a:rPr lang="en-US" sz="2400" dirty="0"/>
              <a:t>The regression equation is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Regression Equation			</a:t>
            </a:r>
          </a:p>
          <a:p>
            <a:r>
              <a:rPr lang="en-US" sz="2400" dirty="0"/>
              <a:t>DRE	=	0.6331 + 0.729 Code Review Per Size	</a:t>
            </a:r>
          </a:p>
          <a:p>
            <a:pPr fontAlgn="b"/>
            <a:endParaRPr lang="en-IN" sz="2400" dirty="0"/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7315200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3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and Code Leakage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430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1AC2D00-E0CA-D538-B75D-74BE927D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04FB4A-F664-C508-A155-DBDF268E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0820400" cy="930275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Comparison from cycle </a:t>
            </a:r>
            <a:r>
              <a:rPr lang="en-US" dirty="0" smtClean="0"/>
              <a:t>2 </a:t>
            </a:r>
            <a:r>
              <a:rPr lang="en-US" dirty="0"/>
              <a:t>&amp; cycle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4DAA71A-03E4-DCB2-85B8-5385DE4B1FE4}"/>
              </a:ext>
            </a:extLst>
          </p:cNvPr>
          <p:cNvSpPr/>
          <p:nvPr/>
        </p:nvSpPr>
        <p:spPr>
          <a:xfrm>
            <a:off x="9821787" y="6324600"/>
            <a:ext cx="845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1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A550E01-B3D7-1B98-08C2-0735B678B450}"/>
              </a:ext>
            </a:extLst>
          </p:cNvPr>
          <p:cNvSpPr txBox="1"/>
          <p:nvPr/>
        </p:nvSpPr>
        <p:spPr>
          <a:xfrm>
            <a:off x="609600" y="1371600"/>
            <a:ext cx="1097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ptos Display" panose="020B0004020202020204" pitchFamily="34" charset="0"/>
              </a:rPr>
              <a:t>The </a:t>
            </a:r>
            <a:r>
              <a:rPr lang="en-US" sz="2400" b="1" dirty="0">
                <a:latin typeface="Aptos Display" panose="020B0004020202020204" pitchFamily="34" charset="0"/>
              </a:rPr>
              <a:t>As Is Performance and What if </a:t>
            </a:r>
            <a:r>
              <a:rPr lang="en-US" sz="2400" b="1" dirty="0" smtClean="0">
                <a:latin typeface="Aptos Display" panose="020B0004020202020204" pitchFamily="34" charset="0"/>
              </a:rPr>
              <a:t>analysis  -  DRE (Y FACTOR)</a:t>
            </a:r>
            <a:endParaRPr lang="en-IN" sz="2400" b="1" dirty="0"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114396A5-5DBA-F133-5BD3-103B6C4E4F3E}"/>
              </a:ext>
            </a:extLst>
          </p:cNvPr>
          <p:cNvSpPr/>
          <p:nvPr/>
        </p:nvSpPr>
        <p:spPr>
          <a:xfrm>
            <a:off x="838200" y="2514600"/>
            <a:ext cx="46482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</a:t>
            </a:r>
            <a:r>
              <a:rPr lang="en-US" dirty="0" smtClean="0"/>
              <a:t>2 </a:t>
            </a:r>
            <a:r>
              <a:rPr lang="en-US" dirty="0"/>
              <a:t>for all Y and X Factors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2DD78494-88FC-C8EA-EA61-8BBF13FF1B32}"/>
              </a:ext>
            </a:extLst>
          </p:cNvPr>
          <p:cNvSpPr/>
          <p:nvPr/>
        </p:nvSpPr>
        <p:spPr>
          <a:xfrm>
            <a:off x="6937443" y="2743200"/>
            <a:ext cx="44196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Setting Table and What if Table 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738B8879-E240-F1CF-C5BC-2A732B326E73}"/>
              </a:ext>
            </a:extLst>
          </p:cNvPr>
          <p:cNvSpPr/>
          <p:nvPr/>
        </p:nvSpPr>
        <p:spPr>
          <a:xfrm>
            <a:off x="838200" y="5029200"/>
            <a:ext cx="46482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IS Performance Table with the performance of Cycle </a:t>
            </a:r>
            <a:r>
              <a:rPr lang="en-US" dirty="0" smtClean="0"/>
              <a:t>3 </a:t>
            </a:r>
            <a:r>
              <a:rPr lang="en-US" dirty="0"/>
              <a:t>for all Y and X Factors 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839049"/>
              </p:ext>
            </p:extLst>
          </p:nvPr>
        </p:nvGraphicFramePr>
        <p:xfrm>
          <a:off x="2362200" y="3540868"/>
          <a:ext cx="2413000" cy="1078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1938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AS-IS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Code Review Per Size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0.0723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0.114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1.1186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0.1593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0.4331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-0.0148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75941"/>
              </p:ext>
            </p:extLst>
          </p:nvPr>
        </p:nvGraphicFramePr>
        <p:xfrm>
          <a:off x="5638800" y="5615702"/>
          <a:ext cx="2438400" cy="1078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12192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AS-IS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Code Review Per Size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0.1992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0.062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UCL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1.0368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LCL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0.5197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0.0145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162609"/>
              </p:ext>
            </p:extLst>
          </p:nvPr>
        </p:nvGraphicFramePr>
        <p:xfrm>
          <a:off x="8458200" y="4114800"/>
          <a:ext cx="1219200" cy="55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DRE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Mean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0.81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  <a:tr h="18415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SD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0.10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414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0" y="6488668"/>
            <a:ext cx="3352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3 – </a:t>
            </a:r>
            <a:r>
              <a:rPr lang="en-US" b="1" dirty="0" err="1">
                <a:solidFill>
                  <a:schemeClr val="bg2">
                    <a:lumMod val="90000"/>
                  </a:schemeClr>
                </a:solidFill>
              </a:rPr>
              <a:t>Req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 and Code Leakage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185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56F220B4-9954-5908-C872-F08F9144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C762C3-465E-9BD5-CFFE-0E0F1209A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807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2 Sample t Test &amp; f Test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2 </a:t>
            </a:r>
            <a:r>
              <a:rPr lang="en-US" sz="2800" dirty="0"/>
              <a:t>sample t Test and F Test from Minitab and justification for the following </a:t>
            </a:r>
            <a:br>
              <a:rPr lang="en-US" sz="2800" dirty="0"/>
            </a:br>
            <a:r>
              <a:rPr lang="en-US" sz="2800" dirty="0"/>
              <a:t>1. Productivity All Cycle Comparison </a:t>
            </a:r>
            <a:br>
              <a:rPr lang="en-US" sz="2800" dirty="0"/>
            </a:br>
            <a:r>
              <a:rPr lang="en-US" sz="2800" dirty="0"/>
              <a:t>2. Cycle Time All Cycle Comparison</a:t>
            </a:r>
            <a:br>
              <a:rPr lang="en-US" sz="2800" dirty="0"/>
            </a:br>
            <a:r>
              <a:rPr lang="en-US" sz="2800" dirty="0"/>
              <a:t>3. DRE </a:t>
            </a:r>
            <a:r>
              <a:rPr lang="en-US" sz="2800" dirty="0" smtClean="0"/>
              <a:t> </a:t>
            </a:r>
            <a:r>
              <a:rPr lang="en-US" sz="2800" dirty="0"/>
              <a:t>All Cycle Comparison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50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2t – Productivity (cycle 1 &amp; cycle 2 &amp; Cycle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b="1" dirty="0"/>
              <a:t>Two-Sample T-Test and CI: C1_Productivity, C3_Productivity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Method</a:t>
            </a:r>
          </a:p>
          <a:p>
            <a:pPr marL="0" indent="0">
              <a:buNone/>
            </a:pPr>
            <a:r>
              <a:rPr lang="en-IN" dirty="0"/>
              <a:t>μ₁: population mean of C1_Productivity	</a:t>
            </a:r>
          </a:p>
          <a:p>
            <a:pPr marL="0" indent="0">
              <a:buNone/>
            </a:pPr>
            <a:r>
              <a:rPr lang="en-IN" dirty="0"/>
              <a:t>µ₂: population mean of C3_Productivity	</a:t>
            </a:r>
          </a:p>
          <a:p>
            <a:pPr marL="0" indent="0">
              <a:buNone/>
            </a:pPr>
            <a:r>
              <a:rPr lang="en-IN" dirty="0"/>
              <a:t>Difference: </a:t>
            </a:r>
            <a:r>
              <a:rPr lang="el-GR" dirty="0"/>
              <a:t>μ₁ - µ₂	</a:t>
            </a:r>
          </a:p>
          <a:p>
            <a:pPr marL="0" indent="0">
              <a:buNone/>
            </a:pPr>
            <a:r>
              <a:rPr lang="en-IN" i="1" dirty="0"/>
              <a:t>Equal variances are not assumed for this analysis.</a:t>
            </a:r>
          </a:p>
          <a:p>
            <a:pPr marL="0" indent="0">
              <a:buNone/>
            </a:pPr>
            <a:r>
              <a:rPr lang="en-IN" b="1" dirty="0"/>
              <a:t>Descriptive Statistics</a:t>
            </a:r>
          </a:p>
          <a:p>
            <a:pPr marL="0" indent="0">
              <a:buNone/>
            </a:pPr>
            <a:r>
              <a:rPr lang="en-IN" b="1" dirty="0"/>
              <a:t>Sample	N	Mean	</a:t>
            </a:r>
            <a:r>
              <a:rPr lang="en-IN" b="1" dirty="0" err="1"/>
              <a:t>StDev</a:t>
            </a:r>
            <a:r>
              <a:rPr lang="en-IN" b="1" dirty="0"/>
              <a:t>	SE Mean	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C1_Productivity	5	0.673	0.205	0.092	</a:t>
            </a:r>
          </a:p>
          <a:p>
            <a:pPr marL="0" indent="0">
              <a:buNone/>
            </a:pPr>
            <a:r>
              <a:rPr lang="en-IN" dirty="0"/>
              <a:t>C3_Productivity	9	0.997	0.126	0.042	</a:t>
            </a:r>
          </a:p>
          <a:p>
            <a:pPr marL="0" indent="0">
              <a:buNone/>
            </a:pPr>
            <a:r>
              <a:rPr lang="en-IN" b="1" dirty="0"/>
              <a:t>Estimation for Difference</a:t>
            </a:r>
          </a:p>
          <a:p>
            <a:pPr marL="0" indent="0">
              <a:buNone/>
            </a:pPr>
            <a:r>
              <a:rPr lang="it-IT" b="1" dirty="0"/>
              <a:t>Difference	95% CI for</a:t>
            </a:r>
            <a:br>
              <a:rPr lang="it-IT" b="1" dirty="0"/>
            </a:br>
            <a:r>
              <a:rPr lang="it-IT" b="1" dirty="0"/>
              <a:t>Difference	</a:t>
            </a:r>
            <a:endParaRPr lang="it-IT" dirty="0"/>
          </a:p>
          <a:p>
            <a:pPr marL="0" indent="0">
              <a:buNone/>
            </a:pPr>
            <a:r>
              <a:rPr lang="en-IN" dirty="0"/>
              <a:t>-0.324	(-0.584, -0.064)	</a:t>
            </a:r>
          </a:p>
          <a:p>
            <a:pPr marL="0" indent="0">
              <a:buNone/>
            </a:pPr>
            <a:r>
              <a:rPr lang="en-IN" b="1" dirty="0"/>
              <a:t>Test</a:t>
            </a:r>
          </a:p>
          <a:p>
            <a:pPr marL="0" indent="0">
              <a:buNone/>
            </a:pPr>
            <a:r>
              <a:rPr lang="en-IN" dirty="0"/>
              <a:t>Null hypothesis	H₀: </a:t>
            </a:r>
            <a:r>
              <a:rPr lang="el-GR" dirty="0"/>
              <a:t>μ₁ - µ₂ = 0	</a:t>
            </a:r>
          </a:p>
          <a:p>
            <a:pPr marL="0" indent="0">
              <a:buNone/>
            </a:pPr>
            <a:r>
              <a:rPr lang="en-IN" dirty="0"/>
              <a:t>Alternative hypothesis	H₁: </a:t>
            </a:r>
            <a:r>
              <a:rPr lang="el-GR" dirty="0"/>
              <a:t>μ₁ - µ₂ ≠ 0	</a:t>
            </a:r>
          </a:p>
          <a:p>
            <a:pPr marL="0" indent="0">
              <a:buNone/>
            </a:pPr>
            <a:r>
              <a:rPr lang="en-IN" b="1" dirty="0"/>
              <a:t>T-Value	DF	P-Value	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-3.21	5	0.024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711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0515600" cy="701675"/>
          </a:xfrm>
        </p:spPr>
        <p:txBody>
          <a:bodyPr/>
          <a:lstStyle/>
          <a:p>
            <a:r>
              <a:rPr lang="en-IN" dirty="0"/>
              <a:t>2t – Productivity (cycle 1 &amp; cycle 2 &amp; Cycle 3)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990600"/>
            <a:ext cx="4343400" cy="563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964660"/>
            <a:ext cx="4653404" cy="5744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439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0515600" cy="701675"/>
          </a:xfrm>
        </p:spPr>
        <p:txBody>
          <a:bodyPr/>
          <a:lstStyle/>
          <a:p>
            <a:r>
              <a:rPr lang="en-IN" dirty="0"/>
              <a:t>2t – </a:t>
            </a:r>
            <a:r>
              <a:rPr lang="en-IN" dirty="0" smtClean="0"/>
              <a:t>Cycle Time(cycle </a:t>
            </a:r>
            <a:r>
              <a:rPr lang="en-IN" dirty="0"/>
              <a:t>1 &amp; cycle 2 &amp; Cycle 3)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2" y="857318"/>
            <a:ext cx="5029198" cy="59131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521" y="779339"/>
            <a:ext cx="4649879" cy="5991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621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2t – Code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b="1" dirty="0"/>
              <a:t>Two-Sample T-Test and CI: C1_Code Rate, C3_Code Rate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Method</a:t>
            </a:r>
          </a:p>
          <a:p>
            <a:pPr marL="0" indent="0">
              <a:buNone/>
            </a:pPr>
            <a:r>
              <a:rPr lang="en-IN" dirty="0"/>
              <a:t>μ₁: population mean of C1_Code Rate	</a:t>
            </a:r>
          </a:p>
          <a:p>
            <a:pPr marL="0" indent="0">
              <a:buNone/>
            </a:pPr>
            <a:r>
              <a:rPr lang="en-IN" dirty="0"/>
              <a:t>µ₂: population mean of C3_Code Rate	</a:t>
            </a:r>
          </a:p>
          <a:p>
            <a:pPr marL="0" indent="0">
              <a:buNone/>
            </a:pPr>
            <a:r>
              <a:rPr lang="en-IN" dirty="0"/>
              <a:t>Difference: </a:t>
            </a:r>
            <a:r>
              <a:rPr lang="el-GR" dirty="0"/>
              <a:t>μ₁ - µ₂	</a:t>
            </a:r>
          </a:p>
          <a:p>
            <a:pPr marL="0" indent="0">
              <a:buNone/>
            </a:pPr>
            <a:r>
              <a:rPr lang="en-IN" i="1" dirty="0"/>
              <a:t>Equal variances are not assumed for this analysis.</a:t>
            </a:r>
          </a:p>
          <a:p>
            <a:pPr marL="0" indent="0">
              <a:buNone/>
            </a:pPr>
            <a:r>
              <a:rPr lang="en-IN" b="1" dirty="0"/>
              <a:t>Descriptive Statistics</a:t>
            </a:r>
          </a:p>
          <a:p>
            <a:pPr marL="0" indent="0">
              <a:buNone/>
            </a:pPr>
            <a:r>
              <a:rPr lang="en-IN" b="1" dirty="0"/>
              <a:t>Sample	N	Mean	</a:t>
            </a:r>
            <a:r>
              <a:rPr lang="en-IN" b="1" dirty="0" err="1"/>
              <a:t>StDev</a:t>
            </a:r>
            <a:r>
              <a:rPr lang="en-IN" b="1" dirty="0"/>
              <a:t>	SE Mean	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C1_Code Rate	5	1.406	0.969	0.43	</a:t>
            </a:r>
          </a:p>
          <a:p>
            <a:pPr marL="0" indent="0">
              <a:buNone/>
            </a:pPr>
            <a:r>
              <a:rPr lang="en-IN" dirty="0"/>
              <a:t>C3_Code Rate	9	2.271	0.510	0.17	</a:t>
            </a:r>
          </a:p>
          <a:p>
            <a:pPr marL="0" indent="0">
              <a:buNone/>
            </a:pPr>
            <a:r>
              <a:rPr lang="en-IN" b="1" dirty="0"/>
              <a:t>Estimation for Difference</a:t>
            </a:r>
          </a:p>
          <a:p>
            <a:pPr marL="0" indent="0">
              <a:buNone/>
            </a:pPr>
            <a:r>
              <a:rPr lang="it-IT" b="1" dirty="0"/>
              <a:t>Difference	95% CI for</a:t>
            </a:r>
            <a:br>
              <a:rPr lang="it-IT" b="1" dirty="0"/>
            </a:br>
            <a:r>
              <a:rPr lang="it-IT" b="1" dirty="0"/>
              <a:t>Difference	</a:t>
            </a:r>
            <a:endParaRPr lang="it-IT" dirty="0"/>
          </a:p>
          <a:p>
            <a:pPr marL="0" indent="0">
              <a:buNone/>
            </a:pPr>
            <a:r>
              <a:rPr lang="en-IN" dirty="0"/>
              <a:t>-0.865	(-2.062, 0.332)	</a:t>
            </a:r>
          </a:p>
          <a:p>
            <a:pPr marL="0" indent="0">
              <a:buNone/>
            </a:pPr>
            <a:r>
              <a:rPr lang="en-IN" b="1" dirty="0"/>
              <a:t>Test</a:t>
            </a:r>
          </a:p>
          <a:p>
            <a:pPr marL="0" indent="0">
              <a:buNone/>
            </a:pPr>
            <a:r>
              <a:rPr lang="en-IN" dirty="0"/>
              <a:t>Null hypothesis	H₀: </a:t>
            </a:r>
            <a:r>
              <a:rPr lang="el-GR" dirty="0"/>
              <a:t>μ₁ - µ₂ = 0	</a:t>
            </a:r>
          </a:p>
          <a:p>
            <a:pPr marL="0" indent="0">
              <a:buNone/>
            </a:pPr>
            <a:r>
              <a:rPr lang="en-IN" dirty="0"/>
              <a:t>Alternative hypothesis	H₁: </a:t>
            </a:r>
            <a:r>
              <a:rPr lang="el-GR" dirty="0"/>
              <a:t>μ₁ - µ₂ ≠ 0	</a:t>
            </a:r>
          </a:p>
          <a:p>
            <a:pPr marL="0" indent="0">
              <a:buNone/>
            </a:pPr>
            <a:r>
              <a:rPr lang="en-IN" b="1" dirty="0"/>
              <a:t>T-Value	DF	P-Value	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-1.86	5	0.122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508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2t – Code Rate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638" y="1066800"/>
            <a:ext cx="4938562" cy="5791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899" y="990600"/>
            <a:ext cx="5791200" cy="594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450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2t – Test Rate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b="1" dirty="0"/>
              <a:t>Two-Sample T-Test and CI: C1_Release </a:t>
            </a:r>
            <a:r>
              <a:rPr lang="en-IN" b="1" dirty="0" err="1"/>
              <a:t>planning+UATsupport</a:t>
            </a:r>
            <a:r>
              <a:rPr lang="en-IN" b="1" dirty="0"/>
              <a:t>, C3_Release </a:t>
            </a:r>
            <a:r>
              <a:rPr lang="en-IN" b="1" dirty="0" err="1"/>
              <a:t>planning+UATsupport</a:t>
            </a:r>
            <a:endParaRPr lang="en-IN" b="1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Method</a:t>
            </a:r>
          </a:p>
          <a:p>
            <a:pPr marL="0" indent="0">
              <a:buNone/>
            </a:pPr>
            <a:r>
              <a:rPr lang="en-IN" dirty="0"/>
              <a:t>μ₁: population mean of C1_Release </a:t>
            </a:r>
            <a:r>
              <a:rPr lang="en-IN" dirty="0" err="1"/>
              <a:t>planning+UATsupport</a:t>
            </a: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µ₂: population mean of C3_Release </a:t>
            </a:r>
            <a:r>
              <a:rPr lang="en-IN" dirty="0" err="1"/>
              <a:t>planning+UATsupport</a:t>
            </a: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Difference: </a:t>
            </a:r>
            <a:r>
              <a:rPr lang="el-GR" dirty="0"/>
              <a:t>μ₁ - µ₂	</a:t>
            </a:r>
          </a:p>
          <a:p>
            <a:pPr marL="0" indent="0">
              <a:buNone/>
            </a:pPr>
            <a:r>
              <a:rPr lang="en-IN" i="1" dirty="0"/>
              <a:t>Equal variances are not assumed for this analysis.</a:t>
            </a:r>
          </a:p>
          <a:p>
            <a:pPr marL="0" indent="0">
              <a:buNone/>
            </a:pPr>
            <a:r>
              <a:rPr lang="en-IN" b="1" dirty="0"/>
              <a:t>Descriptive Statistics</a:t>
            </a:r>
          </a:p>
          <a:p>
            <a:pPr marL="0" indent="0">
              <a:buNone/>
            </a:pPr>
            <a:r>
              <a:rPr lang="en-IN" b="1" dirty="0"/>
              <a:t>Sample	N	Mean	</a:t>
            </a:r>
            <a:r>
              <a:rPr lang="en-IN" b="1" dirty="0" err="1"/>
              <a:t>StDev</a:t>
            </a:r>
            <a:r>
              <a:rPr lang="en-IN" b="1" dirty="0"/>
              <a:t>	SE Mean	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C1_Release </a:t>
            </a:r>
            <a:r>
              <a:rPr lang="en-IN" dirty="0" err="1"/>
              <a:t>planning+UATsupport</a:t>
            </a:r>
            <a:r>
              <a:rPr lang="en-IN" dirty="0"/>
              <a:t>	5	0.265	0.184	0.082	</a:t>
            </a:r>
          </a:p>
          <a:p>
            <a:pPr marL="0" indent="0">
              <a:buNone/>
            </a:pPr>
            <a:r>
              <a:rPr lang="en-IN" dirty="0"/>
              <a:t>C3_Release </a:t>
            </a:r>
            <a:r>
              <a:rPr lang="en-IN" dirty="0" err="1"/>
              <a:t>planning+UATsupport</a:t>
            </a:r>
            <a:r>
              <a:rPr lang="en-IN" dirty="0"/>
              <a:t>	9	0.178	0.124	0.041	</a:t>
            </a:r>
          </a:p>
          <a:p>
            <a:pPr marL="0" indent="0">
              <a:buNone/>
            </a:pPr>
            <a:r>
              <a:rPr lang="en-IN" b="1" dirty="0"/>
              <a:t>Estimation for Difference</a:t>
            </a:r>
          </a:p>
          <a:p>
            <a:pPr marL="0" indent="0">
              <a:buNone/>
            </a:pPr>
            <a:r>
              <a:rPr lang="it-IT" b="1" dirty="0"/>
              <a:t>Difference	95% CI for</a:t>
            </a:r>
            <a:br>
              <a:rPr lang="it-IT" b="1" dirty="0"/>
            </a:br>
            <a:r>
              <a:rPr lang="it-IT" b="1" dirty="0"/>
              <a:t>Difference	</a:t>
            </a:r>
            <a:endParaRPr lang="it-IT" dirty="0"/>
          </a:p>
          <a:p>
            <a:pPr marL="0" indent="0">
              <a:buNone/>
            </a:pPr>
            <a:r>
              <a:rPr lang="en-IN" dirty="0"/>
              <a:t>0.0866	(-0.1387, 0.3120)	</a:t>
            </a:r>
          </a:p>
          <a:p>
            <a:pPr marL="0" indent="0">
              <a:buNone/>
            </a:pPr>
            <a:r>
              <a:rPr lang="en-IN" b="1" dirty="0"/>
              <a:t>Test</a:t>
            </a:r>
          </a:p>
          <a:p>
            <a:pPr marL="0" indent="0">
              <a:buNone/>
            </a:pPr>
            <a:r>
              <a:rPr lang="en-IN" dirty="0"/>
              <a:t>Null hypothesis	H₀: </a:t>
            </a:r>
            <a:r>
              <a:rPr lang="el-GR" dirty="0"/>
              <a:t>μ₁ - µ₂ = 0	</a:t>
            </a:r>
          </a:p>
          <a:p>
            <a:pPr marL="0" indent="0">
              <a:buNone/>
            </a:pPr>
            <a:r>
              <a:rPr lang="en-IN" dirty="0"/>
              <a:t>Alternative hypothesis	H₁: </a:t>
            </a:r>
            <a:r>
              <a:rPr lang="el-GR" dirty="0"/>
              <a:t>μ₁ - µ₂ ≠ 0	</a:t>
            </a:r>
          </a:p>
          <a:p>
            <a:pPr marL="0" indent="0">
              <a:buNone/>
            </a:pPr>
            <a:r>
              <a:rPr lang="en-IN" b="1" dirty="0"/>
              <a:t>T-Value	DF	P-Value	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0.94	6	0.383	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079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2t – Test Rate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617" y="672119"/>
            <a:ext cx="4998863" cy="60473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338" y="636024"/>
            <a:ext cx="5743261" cy="61851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740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2" y="1387930"/>
            <a:ext cx="7886700" cy="1583871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Productivity Improved</a:t>
            </a:r>
          </a:p>
          <a:p>
            <a:r>
              <a:rPr lang="en-US" sz="1800" dirty="0">
                <a:solidFill>
                  <a:srgbClr val="00B050"/>
                </a:solidFill>
              </a:rPr>
              <a:t>Code Rate Improved</a:t>
            </a:r>
          </a:p>
          <a:p>
            <a:r>
              <a:rPr lang="en-US" sz="1800" dirty="0">
                <a:solidFill>
                  <a:srgbClr val="00B050"/>
                </a:solidFill>
              </a:rPr>
              <a:t>Release planning + UAT support effort decreased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2060"/>
              </a:solidFill>
            </a:endParaRPr>
          </a:p>
          <a:p>
            <a:pPr>
              <a:buNone/>
            </a:pP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21788" y="6324600"/>
            <a:ext cx="850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686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56F220B4-9954-5908-C872-F08F9144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C762C3-465E-9BD5-CFFE-0E0F1209A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807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Sample  </a:t>
            </a:r>
            <a:r>
              <a:rPr lang="en-US" sz="4000" b="1" dirty="0"/>
              <a:t>F</a:t>
            </a:r>
            <a:r>
              <a:rPr lang="en-US" sz="4000" b="1" dirty="0" smtClean="0"/>
              <a:t> </a:t>
            </a:r>
            <a:r>
              <a:rPr lang="en-US" sz="4000" b="1" dirty="0"/>
              <a:t>Test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S</a:t>
            </a:r>
            <a:r>
              <a:rPr lang="en-US" sz="2800" dirty="0" smtClean="0"/>
              <a:t>ample </a:t>
            </a:r>
            <a:r>
              <a:rPr lang="en-US" sz="2800" dirty="0"/>
              <a:t>F Test from Minitab and justification for the following </a:t>
            </a:r>
            <a:br>
              <a:rPr lang="en-US" sz="2800" dirty="0"/>
            </a:br>
            <a:r>
              <a:rPr lang="en-US" sz="2800" dirty="0"/>
              <a:t>1. Productivity All Cycle Comparison </a:t>
            </a:r>
            <a:br>
              <a:rPr lang="en-US" sz="2800" dirty="0"/>
            </a:br>
            <a:r>
              <a:rPr lang="en-US" sz="2800" dirty="0"/>
              <a:t>2. Cycle Time All Cycle Comparison</a:t>
            </a:r>
            <a:br>
              <a:rPr lang="en-US" sz="2800" dirty="0"/>
            </a:br>
            <a:r>
              <a:rPr lang="en-US" sz="2800" dirty="0"/>
              <a:t>3. DRE </a:t>
            </a:r>
            <a:r>
              <a:rPr lang="en-US" sz="2800" dirty="0" smtClean="0"/>
              <a:t> </a:t>
            </a:r>
            <a:r>
              <a:rPr lang="en-US" sz="2800" dirty="0"/>
              <a:t>All Cycle Comparison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2322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0515600" cy="7016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F Test </a:t>
            </a:r>
            <a:r>
              <a:rPr lang="en-IN" dirty="0"/>
              <a:t>– Productivity (cycle 1 &amp; cycle 2 &amp; Cycle 3)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3600" y="733458"/>
            <a:ext cx="5029200" cy="61456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0748"/>
            <a:ext cx="5105400" cy="6108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283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0515600" cy="7016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F Test </a:t>
            </a:r>
            <a:r>
              <a:rPr lang="en-IN" dirty="0"/>
              <a:t>– </a:t>
            </a:r>
            <a:r>
              <a:rPr lang="en-IN" dirty="0" smtClean="0"/>
              <a:t>Cycle Time(cycle </a:t>
            </a:r>
            <a:r>
              <a:rPr lang="en-IN" dirty="0"/>
              <a:t>1 &amp; cycle 2 &amp; Cycle 3)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9800" y="727654"/>
            <a:ext cx="5029199" cy="61303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09600"/>
            <a:ext cx="5334000" cy="6172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42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10515600" cy="3968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F Test </a:t>
            </a:r>
            <a:r>
              <a:rPr lang="en-IN" dirty="0"/>
              <a:t>– Code Rate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549275"/>
            <a:ext cx="5181600" cy="6308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549275"/>
            <a:ext cx="5816867" cy="6345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767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10515600" cy="4730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F Test </a:t>
            </a:r>
            <a:r>
              <a:rPr lang="en-IN" dirty="0"/>
              <a:t>– Test Rate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0" y="457200"/>
            <a:ext cx="5105400" cy="6400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57200"/>
            <a:ext cx="5562600" cy="6400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818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2" y="1387930"/>
            <a:ext cx="7886700" cy="1583871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Productivity Improved</a:t>
            </a:r>
          </a:p>
          <a:p>
            <a:r>
              <a:rPr lang="en-US" sz="1800" dirty="0">
                <a:solidFill>
                  <a:srgbClr val="00B050"/>
                </a:solidFill>
              </a:rPr>
              <a:t>Code Rate Improved</a:t>
            </a:r>
          </a:p>
          <a:p>
            <a:r>
              <a:rPr lang="en-US" sz="1800" dirty="0">
                <a:solidFill>
                  <a:srgbClr val="00B050"/>
                </a:solidFill>
              </a:rPr>
              <a:t>Release planning + UAT support effort decreased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2060"/>
              </a:solidFill>
            </a:endParaRPr>
          </a:p>
          <a:p>
            <a:pPr>
              <a:buNone/>
            </a:pP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21788" y="6324600"/>
            <a:ext cx="850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279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807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Cp &amp; </a:t>
            </a:r>
            <a:r>
              <a:rPr lang="en-US" sz="2800" b="1" dirty="0" err="1"/>
              <a:t>Cpk</a:t>
            </a:r>
            <a:r>
              <a:rPr lang="en-US" sz="2800" b="1" dirty="0"/>
              <a:t> Analysis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err="1" smtClean="0"/>
              <a:t>Cp</a:t>
            </a:r>
            <a:r>
              <a:rPr lang="en-US" sz="2800" dirty="0" smtClean="0"/>
              <a:t> </a:t>
            </a:r>
            <a:r>
              <a:rPr lang="en-US" sz="2800" dirty="0"/>
              <a:t>and </a:t>
            </a:r>
            <a:r>
              <a:rPr lang="en-US" sz="2800" dirty="0" err="1"/>
              <a:t>Cpk</a:t>
            </a:r>
            <a:r>
              <a:rPr lang="en-US" sz="2800" dirty="0"/>
              <a:t> analysis from Minitab and justification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7878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854075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Cp</a:t>
            </a:r>
            <a:r>
              <a:rPr lang="en-IN" dirty="0" smtClean="0"/>
              <a:t> Test </a:t>
            </a:r>
            <a:r>
              <a:rPr lang="en-IN" dirty="0"/>
              <a:t>– Productivity (cycle 1 &amp; cycle 2 &amp; Cycle 3)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0580" y="1258094"/>
            <a:ext cx="5436375" cy="46934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58094"/>
            <a:ext cx="5524638" cy="4769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322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854075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Cp</a:t>
            </a:r>
            <a:r>
              <a:rPr lang="en-IN" dirty="0" smtClean="0"/>
              <a:t> Test </a:t>
            </a:r>
            <a:r>
              <a:rPr lang="en-IN" dirty="0"/>
              <a:t>– Productivity (cycle 1 &amp; cycle 2 &amp; Cycle 3)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172472"/>
            <a:ext cx="6553200" cy="56576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437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854075"/>
          </a:xfrm>
        </p:spPr>
        <p:txBody>
          <a:bodyPr>
            <a:normAutofit/>
          </a:bodyPr>
          <a:lstStyle/>
          <a:p>
            <a:r>
              <a:rPr lang="en-IN" dirty="0" err="1" smtClean="0"/>
              <a:t>Cp</a:t>
            </a:r>
            <a:r>
              <a:rPr lang="en-IN" dirty="0" smtClean="0"/>
              <a:t> Test </a:t>
            </a:r>
            <a:r>
              <a:rPr lang="en-IN" dirty="0"/>
              <a:t>– </a:t>
            </a:r>
            <a:r>
              <a:rPr lang="en-IN" dirty="0" smtClean="0"/>
              <a:t>Cycle Time(cycle </a:t>
            </a:r>
            <a:r>
              <a:rPr lang="en-IN" dirty="0"/>
              <a:t>1 &amp; cycle 2 &amp; Cycle 3)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15" y="1364214"/>
            <a:ext cx="5638800" cy="48190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376246"/>
            <a:ext cx="5741710" cy="49069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2378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854075"/>
          </a:xfrm>
        </p:spPr>
        <p:txBody>
          <a:bodyPr>
            <a:normAutofit/>
          </a:bodyPr>
          <a:lstStyle/>
          <a:p>
            <a:r>
              <a:rPr lang="en-IN" dirty="0" err="1" smtClean="0"/>
              <a:t>Cp</a:t>
            </a:r>
            <a:r>
              <a:rPr lang="en-IN" dirty="0" smtClean="0"/>
              <a:t> Test </a:t>
            </a:r>
            <a:r>
              <a:rPr lang="en-IN" dirty="0"/>
              <a:t>– </a:t>
            </a:r>
            <a:r>
              <a:rPr lang="en-IN" dirty="0" smtClean="0"/>
              <a:t>Cycle Time(cycle </a:t>
            </a:r>
            <a:r>
              <a:rPr lang="en-IN" dirty="0"/>
              <a:t>1 &amp; cycle 2 &amp; Cycle 3)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052728"/>
            <a:ext cx="6792836" cy="58052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810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0515600" cy="701675"/>
          </a:xfrm>
        </p:spPr>
        <p:txBody>
          <a:bodyPr>
            <a:normAutofit/>
          </a:bodyPr>
          <a:lstStyle/>
          <a:p>
            <a:r>
              <a:rPr lang="en-IN" dirty="0" err="1" smtClean="0"/>
              <a:t>Cp</a:t>
            </a:r>
            <a:r>
              <a:rPr lang="en-IN" dirty="0" smtClean="0"/>
              <a:t> </a:t>
            </a:r>
            <a:r>
              <a:rPr lang="en-IN" dirty="0" err="1" smtClean="0"/>
              <a:t>Cpk</a:t>
            </a:r>
            <a:r>
              <a:rPr lang="en-IN" dirty="0" smtClean="0"/>
              <a:t> Test </a:t>
            </a:r>
            <a:r>
              <a:rPr lang="en-IN" dirty="0"/>
              <a:t>– </a:t>
            </a:r>
            <a:r>
              <a:rPr lang="en-IN" dirty="0" smtClean="0"/>
              <a:t>DRE(cycle </a:t>
            </a:r>
            <a:r>
              <a:rPr lang="en-IN" dirty="0"/>
              <a:t>1 &amp; cycle 2 &amp; Cycle 3)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0"/>
            <a:ext cx="5617254" cy="480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384300"/>
            <a:ext cx="6124366" cy="5233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575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0515600" cy="701675"/>
          </a:xfrm>
        </p:spPr>
        <p:txBody>
          <a:bodyPr>
            <a:normAutofit/>
          </a:bodyPr>
          <a:lstStyle/>
          <a:p>
            <a:r>
              <a:rPr lang="en-IN" dirty="0" err="1" smtClean="0"/>
              <a:t>Cp</a:t>
            </a:r>
            <a:r>
              <a:rPr lang="en-IN" dirty="0" smtClean="0"/>
              <a:t> </a:t>
            </a:r>
            <a:r>
              <a:rPr lang="en-IN" dirty="0" err="1" smtClean="0"/>
              <a:t>Cpk</a:t>
            </a:r>
            <a:r>
              <a:rPr lang="en-IN" dirty="0" smtClean="0"/>
              <a:t> Test </a:t>
            </a:r>
            <a:r>
              <a:rPr lang="en-IN" dirty="0"/>
              <a:t>– </a:t>
            </a:r>
            <a:r>
              <a:rPr lang="en-IN" dirty="0" smtClean="0"/>
              <a:t>DRE(cycle </a:t>
            </a:r>
            <a:r>
              <a:rPr lang="en-IN" dirty="0"/>
              <a:t>1 &amp; cycle 2 &amp; Cycle 3)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762000"/>
            <a:ext cx="7315200" cy="62516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7211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2" y="1387930"/>
            <a:ext cx="7886700" cy="1583871"/>
          </a:xfrm>
        </p:spPr>
        <p:txBody>
          <a:bodyPr>
            <a:normAutofit/>
          </a:bodyPr>
          <a:lstStyle/>
          <a:p>
            <a:r>
              <a:rPr lang="en-US" sz="1800" dirty="0" smtClean="0">
                <a:solidFill>
                  <a:srgbClr val="00B050"/>
                </a:solidFill>
              </a:rPr>
              <a:t>Capability Model Mean is Normal Distributed</a:t>
            </a:r>
            <a:endParaRPr lang="en-US" sz="1800" dirty="0">
              <a:solidFill>
                <a:srgbClr val="00B050"/>
              </a:solidFill>
            </a:endParaRPr>
          </a:p>
          <a:p>
            <a:r>
              <a:rPr lang="en-US" sz="1800" dirty="0" smtClean="0">
                <a:solidFill>
                  <a:srgbClr val="00B050"/>
                </a:solidFill>
              </a:rPr>
              <a:t>Normal bell curve distribution is spread evenly between LSL and USL </a:t>
            </a:r>
            <a:endParaRPr lang="en-US" sz="1800" dirty="0">
              <a:solidFill>
                <a:srgbClr val="00B050"/>
              </a:solidFill>
            </a:endParaRPr>
          </a:p>
          <a:p>
            <a:r>
              <a:rPr lang="en-US" sz="1800" dirty="0" smtClean="0">
                <a:solidFill>
                  <a:srgbClr val="00B050"/>
                </a:solidFill>
              </a:rPr>
              <a:t>This show model is stable and capable follows  </a:t>
            </a:r>
            <a:r>
              <a:rPr lang="en-US" sz="1800" dirty="0" err="1" smtClean="0">
                <a:solidFill>
                  <a:srgbClr val="00B050"/>
                </a:solidFill>
              </a:rPr>
              <a:t>Cp</a:t>
            </a:r>
            <a:r>
              <a:rPr lang="en-US" sz="1800" dirty="0" smtClean="0">
                <a:solidFill>
                  <a:srgbClr val="00B050"/>
                </a:solidFill>
              </a:rPr>
              <a:t> &gt; 5 for Y factor </a:t>
            </a:r>
            <a:r>
              <a:rPr lang="en-US" sz="1800" smtClean="0">
                <a:solidFill>
                  <a:srgbClr val="00B050"/>
                </a:solidFill>
              </a:rPr>
              <a:t>of Productivity VALUE</a:t>
            </a:r>
            <a:r>
              <a:rPr lang="en-US" sz="1800" dirty="0" smtClean="0">
                <a:solidFill>
                  <a:srgbClr val="00B050"/>
                </a:solidFill>
              </a:rPr>
              <a:t>. </a:t>
            </a:r>
            <a:endParaRPr lang="en-US" sz="1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2060"/>
              </a:solidFill>
            </a:endParaRPr>
          </a:p>
          <a:p>
            <a:pPr>
              <a:buNone/>
            </a:pP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21788" y="6324600"/>
            <a:ext cx="850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Cycle 2</a:t>
            </a: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400-000003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152400"/>
            <a:ext cx="1008375" cy="710119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CMMI L5 - Jal Rekha Project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6B14-326D-4E41-8FC5-373F2C5EFE28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106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Standard.pptx" id="{660989F5-8FB0-4F8C-9FFB-40E22D23629C}" vid="{19F2A467-6065-4C1B-A7EB-672C8CE9CD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Show and Tell for OB_Mobile</Template>
  <TotalTime>65433</TotalTime>
  <Words>6637</Words>
  <Application>Microsoft Office PowerPoint</Application>
  <PresentationFormat>Widescreen</PresentationFormat>
  <Paragraphs>2618</Paragraphs>
  <Slides>96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96</vt:i4>
      </vt:variant>
    </vt:vector>
  </HeadingPairs>
  <TitlesOfParts>
    <vt:vector size="110" baseType="lpstr">
      <vt:lpstr>Aptos</vt:lpstr>
      <vt:lpstr>Aptos Display</vt:lpstr>
      <vt:lpstr>Aptos Narrow</vt:lpstr>
      <vt:lpstr>Arial</vt:lpstr>
      <vt:lpstr>Calibri</vt:lpstr>
      <vt:lpstr>Calibri (Body)</vt:lpstr>
      <vt:lpstr>Calibri Light</vt:lpstr>
      <vt:lpstr>Georgia</vt:lpstr>
      <vt:lpstr>Mangal</vt:lpstr>
      <vt:lpstr>Segoe UI</vt:lpstr>
      <vt:lpstr>Times New Roman</vt:lpstr>
      <vt:lpstr>1_Office Theme</vt:lpstr>
      <vt:lpstr>Office Theme</vt:lpstr>
      <vt:lpstr>2_Office Theme</vt:lpstr>
      <vt:lpstr>CMMi ML 5 Presentation</vt:lpstr>
      <vt:lpstr>Cycle 1 (Productivity)</vt:lpstr>
      <vt:lpstr>Y Factors </vt:lpstr>
      <vt:lpstr>Data</vt:lpstr>
      <vt:lpstr>Control Chart – Productivity</vt:lpstr>
      <vt:lpstr>Control Chart – Code Rate</vt:lpstr>
      <vt:lpstr>Control Chart – Testing Rate </vt:lpstr>
      <vt:lpstr>Regression Equation</vt:lpstr>
      <vt:lpstr>Performance and Targets</vt:lpstr>
      <vt:lpstr>Action Plan to achieve targets</vt:lpstr>
      <vt:lpstr>Cycle 2 – (Productivity)</vt:lpstr>
      <vt:lpstr>Y Factors </vt:lpstr>
      <vt:lpstr>Data</vt:lpstr>
      <vt:lpstr>Control Chart – Productivity</vt:lpstr>
      <vt:lpstr>Control Chart – Code Rate</vt:lpstr>
      <vt:lpstr>Control Chart – Testing Rate </vt:lpstr>
      <vt:lpstr>Performance Comparison from cycle 1 &amp; cycle 2 </vt:lpstr>
      <vt:lpstr>Improvement </vt:lpstr>
      <vt:lpstr>Improvement</vt:lpstr>
      <vt:lpstr>Action Plan to achieve targets for Next Cycle </vt:lpstr>
      <vt:lpstr>Cycle 3 – (Productivity)</vt:lpstr>
      <vt:lpstr>Y Factors </vt:lpstr>
      <vt:lpstr>Data</vt:lpstr>
      <vt:lpstr>Control Chart – Productivity</vt:lpstr>
      <vt:lpstr>Control Chart – Code Rate</vt:lpstr>
      <vt:lpstr>Control Chart – Testing Rate </vt:lpstr>
      <vt:lpstr>Performance Comparison from cycle 2 &amp; cycle 3</vt:lpstr>
      <vt:lpstr>Improvement </vt:lpstr>
      <vt:lpstr>Cycle 1- Cycle Time</vt:lpstr>
      <vt:lpstr>Y Factors</vt:lpstr>
      <vt:lpstr>Data</vt:lpstr>
      <vt:lpstr>Control Chart – cycle Time </vt:lpstr>
      <vt:lpstr>Control Chart – X Factor of cycle Time  </vt:lpstr>
      <vt:lpstr>Regression Equation – Cycle Time </vt:lpstr>
      <vt:lpstr>Performance and Targets – cycle time</vt:lpstr>
      <vt:lpstr>Action Plan to achieve targets of Cycle time </vt:lpstr>
      <vt:lpstr>Cycle 2 (Cycle Time)</vt:lpstr>
      <vt:lpstr>Y Factors</vt:lpstr>
      <vt:lpstr>Data for Cycle 2 Cycle time(data from the Data Collection Sheet )</vt:lpstr>
      <vt:lpstr>Control Chart – cycle time</vt:lpstr>
      <vt:lpstr>Control Chart – X Factors of cycle Time   </vt:lpstr>
      <vt:lpstr>Performance Comparison from cycle 1 &amp; cycle 2 </vt:lpstr>
      <vt:lpstr>Action Plan to achieve targets</vt:lpstr>
      <vt:lpstr>Cycle 3 – (Cycle Time)</vt:lpstr>
      <vt:lpstr>Y Factors</vt:lpstr>
      <vt:lpstr>Data for Cycle 2 Cycle time(data from the Data Collection Sheet )</vt:lpstr>
      <vt:lpstr>Control Chart – cycle time</vt:lpstr>
      <vt:lpstr>Control Chart – X Factors of cycle Time   </vt:lpstr>
      <vt:lpstr>Performance Comparison from cycle 2 &amp; cycle 3</vt:lpstr>
      <vt:lpstr>Action Plan to achieve targets Cycle 3 to Next</vt:lpstr>
      <vt:lpstr>Cycle 1 (DRE)</vt:lpstr>
      <vt:lpstr>Y Factors</vt:lpstr>
      <vt:lpstr>Data</vt:lpstr>
      <vt:lpstr>Control Chart – DRE</vt:lpstr>
      <vt:lpstr>Control Chart – x Factors </vt:lpstr>
      <vt:lpstr>DRE</vt:lpstr>
      <vt:lpstr>Performance and Targets – DRE / QA-TDD</vt:lpstr>
      <vt:lpstr>Action Plan to achieve targets</vt:lpstr>
      <vt:lpstr>Cycle 2 – DRE</vt:lpstr>
      <vt:lpstr>Y Factors</vt:lpstr>
      <vt:lpstr>Data</vt:lpstr>
      <vt:lpstr>Control Charts</vt:lpstr>
      <vt:lpstr>Control Chart – x Factors </vt:lpstr>
      <vt:lpstr>DRE</vt:lpstr>
      <vt:lpstr>Performance Comparison from cycle 1 &amp; cycle 2 </vt:lpstr>
      <vt:lpstr>Cycle 3 – DRE </vt:lpstr>
      <vt:lpstr>Y Factors</vt:lpstr>
      <vt:lpstr>Data</vt:lpstr>
      <vt:lpstr>Control Charts</vt:lpstr>
      <vt:lpstr>Control Chart – x Factors </vt:lpstr>
      <vt:lpstr>DRE</vt:lpstr>
      <vt:lpstr>Performance Comparison from cycle 2 &amp; cycle 3</vt:lpstr>
      <vt:lpstr>Results</vt:lpstr>
      <vt:lpstr>2 Sample t Test &amp; f Test 2 sample t Test and F Test from Minitab and justification for the following  1. Productivity All Cycle Comparison  2. Cycle Time All Cycle Comparison 3. DRE  All Cycle Comparison </vt:lpstr>
      <vt:lpstr>2t – Productivity (cycle 1 &amp; cycle 2 &amp; Cycle 3)</vt:lpstr>
      <vt:lpstr>2t – Productivity (cycle 1 &amp; cycle 2 &amp; Cycle 3)</vt:lpstr>
      <vt:lpstr>2t – Cycle Time(cycle 1 &amp; cycle 2 &amp; Cycle 3)</vt:lpstr>
      <vt:lpstr>2t – Code Rate</vt:lpstr>
      <vt:lpstr>2t – Code Rate</vt:lpstr>
      <vt:lpstr>2t – Test Rate </vt:lpstr>
      <vt:lpstr>2t – Test Rate </vt:lpstr>
      <vt:lpstr>Results</vt:lpstr>
      <vt:lpstr>Sample  F Test Sample F Test from Minitab and justification for the following  1. Productivity All Cycle Comparison  2. Cycle Time All Cycle Comparison 3. DRE  All Cycle Comparison </vt:lpstr>
      <vt:lpstr>F Test – Productivity (cycle 1 &amp; cycle 2 &amp; Cycle 3)</vt:lpstr>
      <vt:lpstr>F Test – Cycle Time(cycle 1 &amp; cycle 2 &amp; Cycle 3)</vt:lpstr>
      <vt:lpstr>F Test – Code Rate</vt:lpstr>
      <vt:lpstr>F Test – Test Rate </vt:lpstr>
      <vt:lpstr>Results</vt:lpstr>
      <vt:lpstr>Cp &amp; Cpk Analysis  Cp and Cpk analysis from Minitab and justification</vt:lpstr>
      <vt:lpstr>Cp Test – Productivity (cycle 1 &amp; cycle 2 &amp; Cycle 3)</vt:lpstr>
      <vt:lpstr>Cp Test – Productivity (cycle 1 &amp; cycle 2 &amp; Cycle 3)</vt:lpstr>
      <vt:lpstr>Cp Test – Cycle Time(cycle 1 &amp; cycle 2 &amp; Cycle 3)</vt:lpstr>
      <vt:lpstr>Cp Test – Cycle Time(cycle 1 &amp; cycle 2 &amp; Cycle 3)</vt:lpstr>
      <vt:lpstr>Cp Cpk Test – DRE(cycle 1 &amp; cycle 2 &amp; Cycle 3)</vt:lpstr>
      <vt:lpstr>Cp Cpk Test – DRE(cycle 1 &amp; cycle 2 &amp; Cycle 3)</vt:lpstr>
      <vt:lpstr>Results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M_4</dc:creator>
  <cp:lastModifiedBy>Microsoft account</cp:lastModifiedBy>
  <cp:revision>634</cp:revision>
  <cp:lastPrinted>2017-04-01T05:07:28Z</cp:lastPrinted>
  <dcterms:created xsi:type="dcterms:W3CDTF">2006-08-16T00:00:00Z</dcterms:created>
  <dcterms:modified xsi:type="dcterms:W3CDTF">2026-02-23T10:18:29Z</dcterms:modified>
</cp:coreProperties>
</file>