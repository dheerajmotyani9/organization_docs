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72247"/>
            <a:ext cx="11426810" cy="47705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defRPr sz="2500" b="1">
                <a:solidFill>
                  <a:srgbClr val="113054"/>
                </a:solidFill>
                <a:latin typeface="Aptos"/>
              </a:defRPr>
            </a:pPr>
            <a:r>
              <a:rPr lang="en-IN" sz="2500" b="1" u="sng" dirty="0">
                <a:solidFill>
                  <a:srgbClr val="FF0000"/>
                </a:solidFill>
                <a:latin typeface="Aptos"/>
              </a:rPr>
              <a:t>Division-Level Inspection Monitoring through District GIS Parakh by </a:t>
            </a:r>
            <a:r>
              <a:rPr lang="en-IN" sz="2500" b="1" u="sng" dirty="0" err="1">
                <a:solidFill>
                  <a:srgbClr val="FF0000"/>
                </a:solidFill>
                <a:latin typeface="Aptos"/>
              </a:rPr>
              <a:t>MPSeDC</a:t>
            </a:r>
            <a:r>
              <a:rPr lang="en-IN" sz="2500" b="1" u="sng" dirty="0">
                <a:solidFill>
                  <a:srgbClr val="FF0000"/>
                </a:solidFill>
                <a:latin typeface="Aptos"/>
              </a:rPr>
              <a:t> 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4186" y="1643492"/>
            <a:ext cx="10716203" cy="338554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1080" b="1">
                <a:solidFill>
                  <a:srgbClr val="187E67"/>
                </a:solidFill>
                <a:latin typeface="Aptos"/>
              </a:defRPr>
            </a:pPr>
            <a:r>
              <a:rPr sz="1600" dirty="0"/>
              <a:t>End-to-End Inspection Workflow: Field Capture → Review &amp; Action → Collectorate Monitoring → Divisional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186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24186" y="1965759"/>
            <a:ext cx="2633472" cy="64008"/>
          </a:xfrm>
          <a:prstGeom prst="rect">
            <a:avLst/>
          </a:prstGeom>
          <a:solidFill>
            <a:srgbClr val="2D6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3914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2D67A0"/>
                </a:solidFill>
                <a:latin typeface="Aptos"/>
              </a:defRPr>
            </a:pPr>
            <a:r>
              <a:t>1  FIELD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202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Department-specific checklist</a:t>
            </a:r>
            <a:br/>
            <a:r>
              <a:t>Remarks • Photos/Documents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1394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1394" y="1965759"/>
            <a:ext cx="2633472" cy="64008"/>
          </a:xfrm>
          <a:prstGeom prst="rect">
            <a:avLst/>
          </a:prstGeom>
          <a:solidFill>
            <a:srgbClr val="2C8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41122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2C8263"/>
                </a:solidFill>
                <a:latin typeface="Aptos"/>
              </a:defRPr>
            </a:pPr>
            <a:r>
              <a:t>2  REVIEW &amp;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10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Reporting Officer reviews</a:t>
            </a:r>
            <a:br/>
            <a:r>
              <a:t>Verifies / Rejects with remarks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8602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38602" y="1965759"/>
            <a:ext cx="2633472" cy="64008"/>
          </a:xfrm>
          <a:prstGeom prst="rect">
            <a:avLst/>
          </a:prstGeom>
          <a:solidFill>
            <a:srgbClr val="C67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8330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C67526"/>
                </a:solidFill>
                <a:latin typeface="Aptos"/>
              </a:defRPr>
            </a:pPr>
            <a:r>
              <a:t>3  COLLECTORATE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6617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State Admin / Nodal Officer</a:t>
            </a:r>
            <a:br/>
            <a:r>
              <a:t>Consolidated district-level oversight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5810" y="1965759"/>
            <a:ext cx="2633472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45810" y="1965759"/>
            <a:ext cx="2633472" cy="64008"/>
          </a:xfrm>
          <a:prstGeom prst="rect">
            <a:avLst/>
          </a:prstGeom>
          <a:solidFill>
            <a:srgbClr val="67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5538" y="2115041"/>
            <a:ext cx="2414015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50" b="1">
                <a:solidFill>
                  <a:srgbClr val="674E96"/>
                </a:solidFill>
                <a:latin typeface="Aptos"/>
              </a:defRPr>
            </a:pPr>
            <a:r>
              <a:t>4  DIVISIONAL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3826" y="2425937"/>
            <a:ext cx="2377439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19" b="0">
                <a:solidFill>
                  <a:srgbClr val="2D3744"/>
                </a:solidFill>
                <a:latin typeface="Aptos"/>
              </a:defRPr>
            </a:pPr>
            <a:r>
              <a:t>8 districts + departments</a:t>
            </a:r>
            <a:br/>
            <a:r>
              <a:t>Division-level report &amp; analytics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4186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626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2D67A0"/>
                </a:solidFill>
                <a:latin typeface="Aptos"/>
              </a:defRPr>
            </a:pPr>
            <a:r>
              <a:t>INSPECTION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626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Published department inspection form / checklist</a:t>
            </a:r>
          </a:p>
        </p:txBody>
      </p:sp>
      <p:pic>
        <p:nvPicPr>
          <p:cNvPr id="24" name="Picture 23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26" y="3675899"/>
            <a:ext cx="2450592" cy="2103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5626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2D67A0"/>
                </a:solidFill>
                <a:latin typeface="Aptos"/>
              </a:defRPr>
            </a:pPr>
            <a:r>
              <a:t>Form / Checklist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1394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22834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2C8263"/>
                </a:solidFill>
                <a:latin typeface="Aptos"/>
              </a:defRPr>
            </a:pPr>
            <a:r>
              <a:t>REPORTING OFFICER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2834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Verify Inspection: status + remarks</a:t>
            </a:r>
          </a:p>
        </p:txBody>
      </p:sp>
      <p:pic>
        <p:nvPicPr>
          <p:cNvPr id="29" name="Picture 28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834" y="3675899"/>
            <a:ext cx="2450592" cy="2103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422834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2C8263"/>
                </a:solidFill>
                <a:latin typeface="Aptos"/>
              </a:defRPr>
            </a:pPr>
            <a:r>
              <a:t>RO Action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8602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30041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C67526"/>
                </a:solidFill>
                <a:latin typeface="Aptos"/>
              </a:defRPr>
            </a:pPr>
            <a:r>
              <a:t>COLLECTORATE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0041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State Admin view: Verified / Accept status</a:t>
            </a:r>
          </a:p>
        </p:txBody>
      </p:sp>
      <p:pic>
        <p:nvPicPr>
          <p:cNvPr id="34" name="Picture 33" descr="image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041" y="3675899"/>
            <a:ext cx="2450592" cy="21031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230041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C67526"/>
                </a:solidFill>
                <a:latin typeface="Aptos"/>
              </a:defRPr>
            </a:pPr>
            <a:r>
              <a:t>District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45810" y="2907803"/>
            <a:ext cx="2633472" cy="3401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37250" y="3017531"/>
            <a:ext cx="2450592" cy="21945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019" b="1">
                <a:solidFill>
                  <a:srgbClr val="674E96"/>
                </a:solidFill>
                <a:latin typeface="Aptos"/>
              </a:defRPr>
            </a:pPr>
            <a:r>
              <a:t>DIVISIONAL MONITORING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37250" y="3264419"/>
            <a:ext cx="2450592" cy="34747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19" b="0">
                <a:solidFill>
                  <a:srgbClr val="2D3744"/>
                </a:solidFill>
                <a:latin typeface="Aptos"/>
              </a:defRPr>
            </a:pPr>
            <a:r>
              <a:t>Division-level Department General Report</a:t>
            </a:r>
          </a:p>
        </p:txBody>
      </p:sp>
      <p:pic>
        <p:nvPicPr>
          <p:cNvPr id="39" name="Picture 38" descr="image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250" y="3675899"/>
            <a:ext cx="2450592" cy="21031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037250" y="5888747"/>
            <a:ext cx="2450592" cy="22860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880" b="1">
                <a:solidFill>
                  <a:srgbClr val="674E96"/>
                </a:solidFill>
                <a:latin typeface="Aptos"/>
              </a:defRPr>
            </a:pPr>
            <a:r>
              <a:t>Division Monitoring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393584"/>
            <a:ext cx="11183112" cy="457200"/>
          </a:xfrm>
          <a:prstGeom prst="roundRect">
            <a:avLst/>
          </a:prstGeom>
          <a:solidFill>
            <a:srgbClr val="113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6469924"/>
            <a:ext cx="10771632" cy="1828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dirty="0"/>
              <a:t>ONE PLATFORM  •  MULTIPLE DEPARTMENTS  •  8 DISTRICTS  •  UNIFIED MONITORING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B1A66E-EECF-93A3-2EF4-7205EEF2D775}"/>
              </a:ext>
            </a:extLst>
          </p:cNvPr>
          <p:cNvSpPr txBox="1"/>
          <p:nvPr/>
        </p:nvSpPr>
        <p:spPr>
          <a:xfrm>
            <a:off x="410524" y="605049"/>
            <a:ext cx="111687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solidFill>
                  <a:schemeClr val="accent1"/>
                </a:solidFill>
              </a:rPr>
              <a:t>Use Cases- </a:t>
            </a:r>
            <a:r>
              <a:rPr lang="en-IN" b="1" dirty="0"/>
              <a:t>District GIS Parakh enables centralized inspection monitoring across all 8 districts of Indore Division through a unified divisional hierarchy.</a:t>
            </a:r>
            <a:r>
              <a:rPr lang="en-IN" dirty="0"/>
              <a:t> It provides </a:t>
            </a:r>
            <a:r>
              <a:rPr lang="en-IN" b="1" dirty="0"/>
              <a:t>district- and department-wise visibility, division-scoped user management, and consolidated inspection reports</a:t>
            </a:r>
            <a:r>
              <a:rPr lang="en-IN" dirty="0"/>
              <a:t> for effective review and administrative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155680" cy="411480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2500" b="1">
                <a:solidFill>
                  <a:srgbClr val="113054"/>
                </a:solidFill>
                <a:latin typeface="Aptos"/>
              </a:defRPr>
            </a:pPr>
            <a:r>
              <a:t>Official Letters | Inspection Management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21792"/>
            <a:ext cx="10972800" cy="246888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l">
              <a:defRPr sz="1100" b="1">
                <a:solidFill>
                  <a:srgbClr val="187E67"/>
                </a:solidFill>
                <a:latin typeface="Aptos"/>
              </a:defRPr>
            </a:pPr>
            <a:r>
              <a:t>Official communication supporting the Inspection Management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78992"/>
            <a:ext cx="5504688" cy="5413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16152"/>
            <a:ext cx="5138928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150" b="1">
                <a:solidFill>
                  <a:srgbClr val="674E96"/>
                </a:solidFill>
                <a:latin typeface="Aptos"/>
              </a:defRPr>
            </a:pPr>
            <a:r>
              <a:t>LETTER FROM COMMISSIONER, INDORE DIVISION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17621" y="1207008"/>
            <a:ext cx="5495544" cy="5413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73368" y="1216152"/>
            <a:ext cx="5129784" cy="310896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ctr">
              <a:defRPr sz="1150" b="1">
                <a:solidFill>
                  <a:srgbClr val="2D67A0"/>
                </a:solidFill>
                <a:latin typeface="Aptos"/>
              </a:defRPr>
            </a:pPr>
            <a:r>
              <a:rPr dirty="0"/>
              <a:t>LETTER FROM </a:t>
            </a:r>
            <a:r>
              <a:rPr dirty="0" err="1"/>
              <a:t>MPSeDC</a:t>
            </a:r>
            <a:endParaRPr dirty="0"/>
          </a:p>
        </p:txBody>
      </p:sp>
      <p:pic>
        <p:nvPicPr>
          <p:cNvPr id="9" name="Picture 8" descr="WhatsApp Image 2026-09-10 at 12.44.2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41" y="1527048"/>
            <a:ext cx="3461046" cy="4800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37960"/>
            <a:ext cx="11064240" cy="164592"/>
          </a:xfrm>
          <a:prstGeom prst="rect">
            <a:avLst/>
          </a:prstGeom>
          <a:noFill/>
        </p:spPr>
        <p:txBody>
          <a:bodyPr wrap="none" lIns="27432" rIns="27432">
            <a:spAutoFit/>
          </a:bodyPr>
          <a:lstStyle/>
          <a:p>
            <a:pPr algn="r">
              <a:defRPr sz="750" b="0">
                <a:solidFill>
                  <a:srgbClr val="697380"/>
                </a:solidFill>
                <a:latin typeface="Aptos"/>
              </a:defRPr>
            </a:pPr>
            <a:r>
              <a:t>Official documents provided with the District GIS Parakh project materials</a:t>
            </a:r>
          </a:p>
        </p:txBody>
      </p:sp>
      <p:pic>
        <p:nvPicPr>
          <p:cNvPr id="12" name="Picture 11" descr="letter_mpsedc_highres.png">
            <a:extLst>
              <a:ext uri="{FF2B5EF4-FFF2-40B4-BE49-F238E27FC236}">
                <a16:creationId xmlns:a16="http://schemas.microsoft.com/office/drawing/2014/main" id="{A5408EE4-9D82-0992-4CB3-43A39D53E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562" y="1536192"/>
            <a:ext cx="3573395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201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Chauhan</cp:lastModifiedBy>
  <cp:revision>2</cp:revision>
  <dcterms:created xsi:type="dcterms:W3CDTF">2013-01-27T09:14:16Z</dcterms:created>
  <dcterms:modified xsi:type="dcterms:W3CDTF">2026-09-10T07:32:14Z</dcterms:modified>
  <cp:category/>
</cp:coreProperties>
</file>