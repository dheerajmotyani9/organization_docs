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B8B88-BD86-9BBB-2282-ECAA77728B46}" v="6" dt="2026-02-05T09:54:34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ar, Roshan - Ext" userId="S::rogurjar.ext@deloitte.com::a44e0eb4-9b4a-4afe-887c-7727ed0153fc" providerId="AD" clId="Web-{3B0B8B88-BD86-9BBB-2282-ECAA77728B46}"/>
    <pc:docChg chg="modSld">
      <pc:chgData name="Gurjar, Roshan - Ext" userId="S::rogurjar.ext@deloitte.com::a44e0eb4-9b4a-4afe-887c-7727ed0153fc" providerId="AD" clId="Web-{3B0B8B88-BD86-9BBB-2282-ECAA77728B46}" dt="2026-02-05T09:54:34.905" v="5" actId="1076"/>
      <pc:docMkLst>
        <pc:docMk/>
      </pc:docMkLst>
      <pc:sldChg chg="addSp delSp modSp">
        <pc:chgData name="Gurjar, Roshan - Ext" userId="S::rogurjar.ext@deloitte.com::a44e0eb4-9b4a-4afe-887c-7727ed0153fc" providerId="AD" clId="Web-{3B0B8B88-BD86-9BBB-2282-ECAA77728B46}" dt="2026-02-05T09:54:34.905" v="5" actId="1076"/>
        <pc:sldMkLst>
          <pc:docMk/>
          <pc:sldMk cId="2588295978" sldId="286"/>
        </pc:sldMkLst>
        <pc:spChg chg="del">
          <ac:chgData name="Gurjar, Roshan - Ext" userId="S::rogurjar.ext@deloitte.com::a44e0eb4-9b4a-4afe-887c-7727ed0153fc" providerId="AD" clId="Web-{3B0B8B88-BD86-9BBB-2282-ECAA77728B46}" dt="2026-02-05T09:54:10.529" v="0"/>
          <ac:spMkLst>
            <pc:docMk/>
            <pc:sldMk cId="2588295978" sldId="286"/>
            <ac:spMk id="2" creationId="{727A21D4-43C2-F585-5F04-BBBB5E8E38AA}"/>
          </ac:spMkLst>
        </pc:spChg>
        <pc:spChg chg="add del mod">
          <ac:chgData name="Gurjar, Roshan - Ext" userId="S::rogurjar.ext@deloitte.com::a44e0eb4-9b4a-4afe-887c-7727ed0153fc" providerId="AD" clId="Web-{3B0B8B88-BD86-9BBB-2282-ECAA77728B46}" dt="2026-02-05T09:54:16.826" v="1"/>
          <ac:spMkLst>
            <pc:docMk/>
            <pc:sldMk cId="2588295978" sldId="286"/>
            <ac:spMk id="5" creationId="{F1FC78D6-2D4C-4D91-C588-72BE8E257B57}"/>
          </ac:spMkLst>
        </pc:spChg>
        <pc:graphicFrameChg chg="mod modGraphic">
          <ac:chgData name="Gurjar, Roshan - Ext" userId="S::rogurjar.ext@deloitte.com::a44e0eb4-9b4a-4afe-887c-7727ed0153fc" providerId="AD" clId="Web-{3B0B8B88-BD86-9BBB-2282-ECAA77728B46}" dt="2026-02-05T09:54:34.905" v="5" actId="1076"/>
          <ac:graphicFrameMkLst>
            <pc:docMk/>
            <pc:sldMk cId="2588295978" sldId="286"/>
            <ac:graphicFrameMk id="4" creationId="{955361FC-9D66-0183-C744-996D49ABB9E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6BB7-4CB7-ED60-D5A8-F8E635678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5E18B-721D-EE7C-E67B-0ABFA2BA2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2298-D0F2-7C19-1560-561C20B1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6C98-9D48-2D12-2089-AD4424D3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8EFA0-0122-0AA9-4636-FCD8EDCC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3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9082-15D2-742C-582B-02052639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69910-3C3C-D5AA-BE53-06F7AA00D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84A4-F9A3-63D3-7719-412D0845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8FDD3-C6D6-FDCF-E7A5-61A279E6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B1AB-0F38-F968-2EB2-D87887EF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20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B62C-2B8C-1C30-2269-2009FF97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A411E-C471-6EBE-1795-68E4283F4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B5C7-C2C8-03E0-9E1E-04C044A9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17DED-4BD9-9BAF-5F3B-68E7F4F3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A65BF-262D-2755-C8B7-5A15F80C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5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5257-7537-A663-044C-A41E03EE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87557-AA45-BAAB-324E-72215F4FC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905F5-57CA-64E7-59CD-48A4DE2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1E152-9E58-760F-3726-0157AA037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BD26A-0D76-14EC-D487-45CE12A7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A1811-3E8E-6653-7A4E-06B007E7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45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6074-E1E8-C9EE-1C9C-8D0D8C33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5E52F-A8E0-3045-8AAC-B94C250AF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A61F8-37DE-B517-953C-014F3582D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A314F4-4E32-EC60-3DC1-589436DAC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F9CB0-064C-A548-A4B2-F1388F969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EF430-FE1D-7525-81D4-E602E3D0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6D595-9535-E0BF-4E6A-C1181E50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29099-326F-47C0-B2E1-82EC3E2F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89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7FA1A-C9E4-1DC5-4204-3B00AE75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737FE-83ED-67F5-231D-0E7B1915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2B8D-8D31-284C-2ABB-C99C66C7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99BA8-29DB-4F55-D223-50960C05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9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DD4C5-F610-0161-789B-271C13DF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84FD0-EB52-EA1D-28FA-2736A6D1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6C16E-EFA8-DAE2-C5D5-2794DD97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75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BC62-3371-E010-2AE2-8EC59107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EDF4F-F4BC-0C3E-7798-9ED8EF90E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9A4FD-7C35-55CB-326A-2C2638AF8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5C482-EB2C-960B-D63F-6BC97F7D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5380A-D60F-2FCC-4AB0-8AD3D303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5F9C8-5BB5-B2C8-F0AC-0591446E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0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08E7-ADB2-871E-E062-CD1F6138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B5192-946E-7FC1-CCC8-564F3D7B8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FD820-866E-28A6-8FCF-6CD6E2D37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6865D-F957-F12A-830D-59098E1C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8F86C-15C3-2713-EB7D-987C7EC4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037E5-7C50-4170-EE5F-8C340292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47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5AEA-3AE5-1C80-C3DA-78E74763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8B61D-75E4-6B91-B87B-AD6DF8F3B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96B91-456E-5554-94C6-926AE6CF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02780-C849-04AC-77A9-8A8DB195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D2AF1-4D5A-9E23-2E2D-DF0E2B01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4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7C94F-C7BF-A5CF-5789-4FEE9AA82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BCFD6-1558-A5DE-5E70-D9A937537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FA34C-7A54-9ED0-43FB-B47C776C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9272-D29C-FAD8-5353-391C30849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5F916-C162-DF62-2F72-53720E63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03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D7150-4F48-9E13-7091-81A4A105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0E0B0-A462-417C-7216-D916BC6E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998C8-1524-CF5A-7344-E27909083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C0794-CDD2-4DDE-8D21-92AC9E2848C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9887-E73A-E7B8-F140-1ECDE35C2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C64B8-E7AC-513A-6258-84C2E598F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89D6B-523D-4CD6-B9C1-C8CAA1B11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94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5361FC-9D66-0183-C744-996D49ABB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53878"/>
              </p:ext>
            </p:extLst>
          </p:nvPr>
        </p:nvGraphicFramePr>
        <p:xfrm>
          <a:off x="681789" y="494631"/>
          <a:ext cx="10838271" cy="5875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384">
                  <a:extLst>
                    <a:ext uri="{9D8B030D-6E8A-4147-A177-3AD203B41FA5}">
                      <a16:colId xmlns:a16="http://schemas.microsoft.com/office/drawing/2014/main" val="3770161633"/>
                    </a:ext>
                  </a:extLst>
                </a:gridCol>
                <a:gridCol w="3734269">
                  <a:extLst>
                    <a:ext uri="{9D8B030D-6E8A-4147-A177-3AD203B41FA5}">
                      <a16:colId xmlns:a16="http://schemas.microsoft.com/office/drawing/2014/main" val="4226701465"/>
                    </a:ext>
                  </a:extLst>
                </a:gridCol>
                <a:gridCol w="6473618">
                  <a:extLst>
                    <a:ext uri="{9D8B030D-6E8A-4147-A177-3AD203B41FA5}">
                      <a16:colId xmlns:a16="http://schemas.microsoft.com/office/drawing/2014/main" val="2716925031"/>
                    </a:ext>
                  </a:extLst>
                </a:gridCol>
              </a:tblGrid>
              <a:tr h="553064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Sr. No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 of Mineral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Radicals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1065006255"/>
                  </a:ext>
                </a:extLst>
              </a:tr>
              <a:tr h="46210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Bauxite / Laterite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Fe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</a:t>
                      </a:r>
                      <a:r>
                        <a:rPr lang="en-US" sz="1600"/>
                        <a:t> ; Al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</a:t>
                      </a:r>
                      <a:r>
                        <a:rPr lang="en-US" sz="1600"/>
                        <a:t> ; TiO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P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5</a:t>
                      </a:r>
                      <a:r>
                        <a:rPr lang="en-US" sz="1600"/>
                        <a:t> ; Na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 ; K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 ; Li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O, </a:t>
                      </a:r>
                      <a:r>
                        <a:rPr lang="en-US" sz="1600" err="1"/>
                        <a:t>CaO</a:t>
                      </a:r>
                      <a:r>
                        <a:rPr lang="en-US" sz="1600"/>
                        <a:t>, LOI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2589391177"/>
                  </a:ext>
                </a:extLst>
              </a:tr>
              <a:tr h="46210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Limestone / Dolomite / Marble / Calcite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Fe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</a:t>
                      </a:r>
                      <a:r>
                        <a:rPr lang="en-US" sz="1600"/>
                        <a:t> ; Al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</a:t>
                      </a:r>
                      <a:r>
                        <a:rPr lang="en-US" sz="1600"/>
                        <a:t> ; </a:t>
                      </a:r>
                      <a:r>
                        <a:rPr lang="en-US" sz="1600" err="1"/>
                        <a:t>CaO</a:t>
                      </a:r>
                      <a:r>
                        <a:rPr lang="en-US" sz="1600"/>
                        <a:t>; MgO ; P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5</a:t>
                      </a:r>
                      <a:r>
                        <a:rPr lang="en-US" sz="1600"/>
                        <a:t>; LOI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1531311487"/>
                  </a:ext>
                </a:extLst>
              </a:tr>
              <a:tr h="46210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Iron Ore 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SiO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Fe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</a:t>
                      </a:r>
                      <a:r>
                        <a:rPr lang="en-US" sz="1600"/>
                        <a:t> ; Al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 </a:t>
                      </a:r>
                      <a:r>
                        <a:rPr lang="en-US" sz="1600"/>
                        <a:t>; MnO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TiO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P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5</a:t>
                      </a:r>
                      <a:r>
                        <a:rPr lang="en-US" sz="1600"/>
                        <a:t>; LOI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644488966"/>
                  </a:ext>
                </a:extLst>
              </a:tr>
              <a:tr h="46210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Manganese Ore 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SiO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Fe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</a:t>
                      </a:r>
                      <a:r>
                        <a:rPr lang="en-US" sz="1600"/>
                        <a:t> ; Al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3 </a:t>
                      </a:r>
                      <a:r>
                        <a:rPr lang="en-US" sz="1600"/>
                        <a:t> ; TiO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 ; P</a:t>
                      </a:r>
                      <a:r>
                        <a:rPr lang="en-US" sz="1600" baseline="-25000"/>
                        <a:t>2</a:t>
                      </a:r>
                      <a:r>
                        <a:rPr lang="en-US" sz="1600"/>
                        <a:t>O</a:t>
                      </a:r>
                      <a:r>
                        <a:rPr lang="en-US" sz="1600" baseline="-25000"/>
                        <a:t>5</a:t>
                      </a:r>
                      <a:r>
                        <a:rPr lang="en-US" sz="1600"/>
                        <a:t>; LOI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3541448878"/>
                  </a:ext>
                </a:extLst>
              </a:tr>
              <a:tr h="1078232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Clay / Quartz / Silica Sand/ Quartzite / Ochre / Pyrophyllite / Diaspore / Mica / Shale / Soap stone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SiO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 ; Fe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US" sz="1600" dirty="0"/>
                        <a:t> ; Al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US" sz="1600" dirty="0"/>
                        <a:t> ; TiO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 ; P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</a:t>
                      </a:r>
                      <a:r>
                        <a:rPr lang="en-US" sz="1600" baseline="-25000" dirty="0"/>
                        <a:t>5</a:t>
                      </a:r>
                      <a:r>
                        <a:rPr lang="en-US" sz="1600" dirty="0"/>
                        <a:t> ; Na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 ; K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 ; Li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O, CaO, MgO, LOI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938399146"/>
                  </a:ext>
                </a:extLst>
              </a:tr>
              <a:tr h="46210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Rock Phosphate 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SiO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 ; Fe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US" sz="1600" dirty="0"/>
                        <a:t> ; Al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</a:t>
                      </a:r>
                      <a:r>
                        <a:rPr lang="en-US" sz="1600" baseline="-25000" dirty="0"/>
                        <a:t>3 </a:t>
                      </a:r>
                      <a:r>
                        <a:rPr lang="en-US" sz="1600" dirty="0"/>
                        <a:t> ; P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US" sz="1600" dirty="0"/>
                        <a:t>O</a:t>
                      </a:r>
                      <a:r>
                        <a:rPr lang="en-US" sz="1600" baseline="-25000" dirty="0"/>
                        <a:t>5</a:t>
                      </a:r>
                      <a:r>
                        <a:rPr lang="en-US" sz="1600" dirty="0"/>
                        <a:t>; LOI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1495337619"/>
                  </a:ext>
                </a:extLst>
              </a:tr>
              <a:tr h="42359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Graphite (through AAS)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Moisture, Fixed Carbon, Volatile Matter, Ash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505868323"/>
                  </a:ext>
                </a:extLst>
              </a:tr>
              <a:tr h="75091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Other Critical Minerals (through  AAS)</a:t>
                      </a:r>
                      <a:endParaRPr lang="en-IN" sz="160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Copper, Nickel, Zinc, Cobalt, Gold, Silver, Lead, Vanadium, Chromium, Antimony, Arsenic, </a:t>
                      </a:r>
                      <a:r>
                        <a:rPr lang="en-US" sz="1600" dirty="0" err="1"/>
                        <a:t>etc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4012976398"/>
                  </a:ext>
                </a:extLst>
              </a:tr>
              <a:tr h="7509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Coal/ Lignite </a:t>
                      </a:r>
                    </a:p>
                    <a:p>
                      <a:pPr algn="ctr"/>
                      <a:r>
                        <a:rPr lang="en-US" sz="1600" dirty="0"/>
                        <a:t>Proximate Analysis 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Surface Moisture (SM), Inherent Moisture (IM), Ash. Volatile Moisture (VM),  Fixed Carbon (F.C),  Gross Calorific Value (GCV)</a:t>
                      </a:r>
                      <a:endParaRPr lang="en-IN" sz="1600" dirty="0"/>
                    </a:p>
                  </a:txBody>
                  <a:tcPr marL="73356" marR="73356" marT="36678" marB="36678" anchor="ctr"/>
                </a:tc>
                <a:extLst>
                  <a:ext uri="{0D108BD9-81ED-4DB2-BD59-A6C34878D82A}">
                    <a16:rowId xmlns:a16="http://schemas.microsoft.com/office/drawing/2014/main" val="1968137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29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221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Rajput, Akashsingh - Ext</dc:creator>
  <cp:lastModifiedBy>Rajput, Akashsingh - Ext</cp:lastModifiedBy>
  <cp:revision>6</cp:revision>
  <dcterms:created xsi:type="dcterms:W3CDTF">2026-02-05T09:20:56Z</dcterms:created>
  <dcterms:modified xsi:type="dcterms:W3CDTF">2026-02-05T09:54:40Z</dcterms:modified>
</cp:coreProperties>
</file>