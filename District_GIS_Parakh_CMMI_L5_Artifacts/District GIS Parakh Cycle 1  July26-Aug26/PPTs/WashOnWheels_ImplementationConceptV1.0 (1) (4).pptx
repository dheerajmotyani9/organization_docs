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70" r:id="rId2"/>
    <p:sldId id="256" r:id="rId3"/>
    <p:sldId id="290" r:id="rId4"/>
    <p:sldId id="296" r:id="rId5"/>
    <p:sldId id="291" r:id="rId6"/>
    <p:sldId id="292" r:id="rId7"/>
    <p:sldId id="293" r:id="rId8"/>
    <p:sldId id="294" r:id="rId9"/>
    <p:sldId id="29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77" autoAdjust="0"/>
    <p:restoredTop sz="94660"/>
  </p:normalViewPr>
  <p:slideViewPr>
    <p:cSldViewPr snapToGrid="0">
      <p:cViewPr varScale="1">
        <p:scale>
          <a:sx n="70" d="100"/>
          <a:sy n="70" d="100"/>
        </p:scale>
        <p:origin x="77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7FD305-531B-4CE7-B8DB-97AC233B0611}" type="datetimeFigureOut">
              <a:rPr lang="en-IN" smtClean="0"/>
              <a:t>20-08-2025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1E7232-CC04-46FA-96C7-044E5D8622E6}" type="slidenum">
              <a:rPr lang="en-IN" smtClean="0"/>
              <a:t>‹#›</a:t>
            </a:fld>
            <a:endParaRPr lang="en-IN"/>
          </a:p>
        </p:txBody>
      </p:sp>
    </p:spTree>
    <p:extLst>
      <p:ext uri="{BB962C8B-B14F-4D97-AF65-F5344CB8AC3E}">
        <p14:creationId xmlns:p14="http://schemas.microsoft.com/office/powerpoint/2010/main" val="2867878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E2F2807-927D-4930-950F-E44328B4C6ED}" type="slidenum">
              <a:rPr lang="en-IN" smtClean="0"/>
              <a:t>1</a:t>
            </a:fld>
            <a:endParaRPr lang="en-IN"/>
          </a:p>
        </p:txBody>
      </p:sp>
    </p:spTree>
    <p:extLst>
      <p:ext uri="{BB962C8B-B14F-4D97-AF65-F5344CB8AC3E}">
        <p14:creationId xmlns:p14="http://schemas.microsoft.com/office/powerpoint/2010/main" val="314815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AB7DD-305A-960A-CB3D-BAC45D8C3F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8447735-B0B8-0BBF-14FF-8687AA89F3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5CDEE11-9B91-2226-35B2-D9CA052B5F9A}"/>
              </a:ext>
            </a:extLst>
          </p:cNvPr>
          <p:cNvSpPr>
            <a:spLocks noGrp="1"/>
          </p:cNvSpPr>
          <p:nvPr>
            <p:ph type="dt" sz="half" idx="10"/>
          </p:nvPr>
        </p:nvSpPr>
        <p:spPr/>
        <p:txBody>
          <a:bodyPr/>
          <a:lstStyle/>
          <a:p>
            <a:fld id="{FFDCC91D-5421-49F5-A4DD-C9C9F8FC153B}" type="datetimeFigureOut">
              <a:rPr lang="en-IN" smtClean="0"/>
              <a:t>20-08-2025</a:t>
            </a:fld>
            <a:endParaRPr lang="en-IN"/>
          </a:p>
        </p:txBody>
      </p:sp>
      <p:sp>
        <p:nvSpPr>
          <p:cNvPr id="5" name="Footer Placeholder 4">
            <a:extLst>
              <a:ext uri="{FF2B5EF4-FFF2-40B4-BE49-F238E27FC236}">
                <a16:creationId xmlns:a16="http://schemas.microsoft.com/office/drawing/2014/main" id="{C1C267DA-0FDF-A26A-AFCA-0A74910177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95F9A9-92EA-9A01-0694-16A0470910CE}"/>
              </a:ext>
            </a:extLst>
          </p:cNvPr>
          <p:cNvSpPr>
            <a:spLocks noGrp="1"/>
          </p:cNvSpPr>
          <p:nvPr>
            <p:ph type="sldNum" sz="quarter" idx="12"/>
          </p:nvPr>
        </p:nvSpPr>
        <p:spPr/>
        <p:txBody>
          <a:bodyPr/>
          <a:lstStyle/>
          <a:p>
            <a:fld id="{3386C5FB-760C-49E4-96E6-36968E38C440}" type="slidenum">
              <a:rPr lang="en-IN" smtClean="0"/>
              <a:t>‹#›</a:t>
            </a:fld>
            <a:endParaRPr lang="en-IN"/>
          </a:p>
        </p:txBody>
      </p:sp>
    </p:spTree>
    <p:extLst>
      <p:ext uri="{BB962C8B-B14F-4D97-AF65-F5344CB8AC3E}">
        <p14:creationId xmlns:p14="http://schemas.microsoft.com/office/powerpoint/2010/main" val="1056183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C7088-8C3F-86E1-964B-8D058FDA14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D590865-4B35-28D4-3FB0-A09E1E9A69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F5592B-6A6F-AEEB-E751-8203E6D462D7}"/>
              </a:ext>
            </a:extLst>
          </p:cNvPr>
          <p:cNvSpPr>
            <a:spLocks noGrp="1"/>
          </p:cNvSpPr>
          <p:nvPr>
            <p:ph type="dt" sz="half" idx="10"/>
          </p:nvPr>
        </p:nvSpPr>
        <p:spPr/>
        <p:txBody>
          <a:bodyPr/>
          <a:lstStyle/>
          <a:p>
            <a:fld id="{FFDCC91D-5421-49F5-A4DD-C9C9F8FC153B}" type="datetimeFigureOut">
              <a:rPr lang="en-IN" smtClean="0"/>
              <a:t>20-08-2025</a:t>
            </a:fld>
            <a:endParaRPr lang="en-IN"/>
          </a:p>
        </p:txBody>
      </p:sp>
      <p:sp>
        <p:nvSpPr>
          <p:cNvPr id="5" name="Footer Placeholder 4">
            <a:extLst>
              <a:ext uri="{FF2B5EF4-FFF2-40B4-BE49-F238E27FC236}">
                <a16:creationId xmlns:a16="http://schemas.microsoft.com/office/drawing/2014/main" id="{99B211AC-65B8-506F-37BB-D2CB7FFAB6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9D29EA-29B1-82AB-25E7-64A63CF2FB23}"/>
              </a:ext>
            </a:extLst>
          </p:cNvPr>
          <p:cNvSpPr>
            <a:spLocks noGrp="1"/>
          </p:cNvSpPr>
          <p:nvPr>
            <p:ph type="sldNum" sz="quarter" idx="12"/>
          </p:nvPr>
        </p:nvSpPr>
        <p:spPr/>
        <p:txBody>
          <a:bodyPr/>
          <a:lstStyle/>
          <a:p>
            <a:fld id="{3386C5FB-760C-49E4-96E6-36968E38C440}" type="slidenum">
              <a:rPr lang="en-IN" smtClean="0"/>
              <a:t>‹#›</a:t>
            </a:fld>
            <a:endParaRPr lang="en-IN"/>
          </a:p>
        </p:txBody>
      </p:sp>
    </p:spTree>
    <p:extLst>
      <p:ext uri="{BB962C8B-B14F-4D97-AF65-F5344CB8AC3E}">
        <p14:creationId xmlns:p14="http://schemas.microsoft.com/office/powerpoint/2010/main" val="1209687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1607E-0CD7-805B-9ACF-CE5C45346B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3C22E57-DC0F-9EC5-A910-8780E9F334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C0F004-82FE-C8E4-6D19-3CB896C6F390}"/>
              </a:ext>
            </a:extLst>
          </p:cNvPr>
          <p:cNvSpPr>
            <a:spLocks noGrp="1"/>
          </p:cNvSpPr>
          <p:nvPr>
            <p:ph type="dt" sz="half" idx="10"/>
          </p:nvPr>
        </p:nvSpPr>
        <p:spPr/>
        <p:txBody>
          <a:bodyPr/>
          <a:lstStyle/>
          <a:p>
            <a:fld id="{FFDCC91D-5421-49F5-A4DD-C9C9F8FC153B}" type="datetimeFigureOut">
              <a:rPr lang="en-IN" smtClean="0"/>
              <a:t>20-08-2025</a:t>
            </a:fld>
            <a:endParaRPr lang="en-IN"/>
          </a:p>
        </p:txBody>
      </p:sp>
      <p:sp>
        <p:nvSpPr>
          <p:cNvPr id="5" name="Footer Placeholder 4">
            <a:extLst>
              <a:ext uri="{FF2B5EF4-FFF2-40B4-BE49-F238E27FC236}">
                <a16:creationId xmlns:a16="http://schemas.microsoft.com/office/drawing/2014/main" id="{94273825-1E21-847F-B7E5-2551410EF8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DBF3CD-BB97-9DCB-4F14-3D79215DD00C}"/>
              </a:ext>
            </a:extLst>
          </p:cNvPr>
          <p:cNvSpPr>
            <a:spLocks noGrp="1"/>
          </p:cNvSpPr>
          <p:nvPr>
            <p:ph type="sldNum" sz="quarter" idx="12"/>
          </p:nvPr>
        </p:nvSpPr>
        <p:spPr/>
        <p:txBody>
          <a:bodyPr/>
          <a:lstStyle/>
          <a:p>
            <a:fld id="{3386C5FB-760C-49E4-96E6-36968E38C440}" type="slidenum">
              <a:rPr lang="en-IN" smtClean="0"/>
              <a:t>‹#›</a:t>
            </a:fld>
            <a:endParaRPr lang="en-IN"/>
          </a:p>
        </p:txBody>
      </p:sp>
    </p:spTree>
    <p:extLst>
      <p:ext uri="{BB962C8B-B14F-4D97-AF65-F5344CB8AC3E}">
        <p14:creationId xmlns:p14="http://schemas.microsoft.com/office/powerpoint/2010/main" val="3413345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797E6-6F0E-624C-E91F-856D9578B1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F0FB72-31D4-883E-6264-5DCC5F11A8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ED15B63-4730-CC9D-0E83-E2E492F2F5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3B27C7D-79E9-D362-F88F-80F7E2D26B8F}"/>
              </a:ext>
            </a:extLst>
          </p:cNvPr>
          <p:cNvSpPr>
            <a:spLocks noGrp="1"/>
          </p:cNvSpPr>
          <p:nvPr>
            <p:ph type="dt" sz="half" idx="10"/>
          </p:nvPr>
        </p:nvSpPr>
        <p:spPr/>
        <p:txBody>
          <a:bodyPr/>
          <a:lstStyle/>
          <a:p>
            <a:fld id="{FFDCC91D-5421-49F5-A4DD-C9C9F8FC153B}" type="datetimeFigureOut">
              <a:rPr lang="en-IN" smtClean="0"/>
              <a:t>20-08-2025</a:t>
            </a:fld>
            <a:endParaRPr lang="en-IN"/>
          </a:p>
        </p:txBody>
      </p:sp>
      <p:sp>
        <p:nvSpPr>
          <p:cNvPr id="6" name="Footer Placeholder 5">
            <a:extLst>
              <a:ext uri="{FF2B5EF4-FFF2-40B4-BE49-F238E27FC236}">
                <a16:creationId xmlns:a16="http://schemas.microsoft.com/office/drawing/2014/main" id="{DE94E683-A516-9B6B-5D11-C06A080CD5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35D356-1AA2-0B87-1228-8E1A63D3EA95}"/>
              </a:ext>
            </a:extLst>
          </p:cNvPr>
          <p:cNvSpPr>
            <a:spLocks noGrp="1"/>
          </p:cNvSpPr>
          <p:nvPr>
            <p:ph type="sldNum" sz="quarter" idx="12"/>
          </p:nvPr>
        </p:nvSpPr>
        <p:spPr/>
        <p:txBody>
          <a:bodyPr/>
          <a:lstStyle/>
          <a:p>
            <a:fld id="{3386C5FB-760C-49E4-96E6-36968E38C440}" type="slidenum">
              <a:rPr lang="en-IN" smtClean="0"/>
              <a:t>‹#›</a:t>
            </a:fld>
            <a:endParaRPr lang="en-IN"/>
          </a:p>
        </p:txBody>
      </p:sp>
    </p:spTree>
    <p:extLst>
      <p:ext uri="{BB962C8B-B14F-4D97-AF65-F5344CB8AC3E}">
        <p14:creationId xmlns:p14="http://schemas.microsoft.com/office/powerpoint/2010/main" val="186592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A3533-574A-7BCA-82AC-01D21F3B6D9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258ACF-206A-7666-09F2-6A4D8056B0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C37016-BAFA-159C-DDF6-516A510911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D00482-6C9E-47A5-7F18-0027C94238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E68D93-8F6E-6DDE-B26D-36E099427A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AC1626-A21A-F962-45B3-4831130E676F}"/>
              </a:ext>
            </a:extLst>
          </p:cNvPr>
          <p:cNvSpPr>
            <a:spLocks noGrp="1"/>
          </p:cNvSpPr>
          <p:nvPr>
            <p:ph type="dt" sz="half" idx="10"/>
          </p:nvPr>
        </p:nvSpPr>
        <p:spPr/>
        <p:txBody>
          <a:bodyPr/>
          <a:lstStyle/>
          <a:p>
            <a:fld id="{FFDCC91D-5421-49F5-A4DD-C9C9F8FC153B}" type="datetimeFigureOut">
              <a:rPr lang="en-IN" smtClean="0"/>
              <a:t>20-08-2025</a:t>
            </a:fld>
            <a:endParaRPr lang="en-IN"/>
          </a:p>
        </p:txBody>
      </p:sp>
      <p:sp>
        <p:nvSpPr>
          <p:cNvPr id="8" name="Footer Placeholder 7">
            <a:extLst>
              <a:ext uri="{FF2B5EF4-FFF2-40B4-BE49-F238E27FC236}">
                <a16:creationId xmlns:a16="http://schemas.microsoft.com/office/drawing/2014/main" id="{CD6331BC-962E-5E8B-6D47-7819E2FA98C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7F3D25C-306A-5218-B254-676C8C3343FA}"/>
              </a:ext>
            </a:extLst>
          </p:cNvPr>
          <p:cNvSpPr>
            <a:spLocks noGrp="1"/>
          </p:cNvSpPr>
          <p:nvPr>
            <p:ph type="sldNum" sz="quarter" idx="12"/>
          </p:nvPr>
        </p:nvSpPr>
        <p:spPr/>
        <p:txBody>
          <a:bodyPr/>
          <a:lstStyle/>
          <a:p>
            <a:fld id="{3386C5FB-760C-49E4-96E6-36968E38C440}" type="slidenum">
              <a:rPr lang="en-IN" smtClean="0"/>
              <a:t>‹#›</a:t>
            </a:fld>
            <a:endParaRPr lang="en-IN"/>
          </a:p>
        </p:txBody>
      </p:sp>
    </p:spTree>
    <p:extLst>
      <p:ext uri="{BB962C8B-B14F-4D97-AF65-F5344CB8AC3E}">
        <p14:creationId xmlns:p14="http://schemas.microsoft.com/office/powerpoint/2010/main" val="1131925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EF0FA-BCCE-6BE7-32E3-FEB72108A2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215493C-6026-FDA2-D5E5-53435BE98E86}"/>
              </a:ext>
            </a:extLst>
          </p:cNvPr>
          <p:cNvSpPr>
            <a:spLocks noGrp="1"/>
          </p:cNvSpPr>
          <p:nvPr>
            <p:ph type="dt" sz="half" idx="10"/>
          </p:nvPr>
        </p:nvSpPr>
        <p:spPr/>
        <p:txBody>
          <a:bodyPr/>
          <a:lstStyle/>
          <a:p>
            <a:fld id="{FFDCC91D-5421-49F5-A4DD-C9C9F8FC153B}" type="datetimeFigureOut">
              <a:rPr lang="en-IN" smtClean="0"/>
              <a:t>20-08-2025</a:t>
            </a:fld>
            <a:endParaRPr lang="en-IN"/>
          </a:p>
        </p:txBody>
      </p:sp>
      <p:sp>
        <p:nvSpPr>
          <p:cNvPr id="4" name="Footer Placeholder 3">
            <a:extLst>
              <a:ext uri="{FF2B5EF4-FFF2-40B4-BE49-F238E27FC236}">
                <a16:creationId xmlns:a16="http://schemas.microsoft.com/office/drawing/2014/main" id="{441F9192-648F-3813-5C60-AA27E166534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76B70B6-A771-E099-99C8-87464D54583D}"/>
              </a:ext>
            </a:extLst>
          </p:cNvPr>
          <p:cNvSpPr>
            <a:spLocks noGrp="1"/>
          </p:cNvSpPr>
          <p:nvPr>
            <p:ph type="sldNum" sz="quarter" idx="12"/>
          </p:nvPr>
        </p:nvSpPr>
        <p:spPr/>
        <p:txBody>
          <a:bodyPr/>
          <a:lstStyle/>
          <a:p>
            <a:fld id="{3386C5FB-760C-49E4-96E6-36968E38C440}" type="slidenum">
              <a:rPr lang="en-IN" smtClean="0"/>
              <a:t>‹#›</a:t>
            </a:fld>
            <a:endParaRPr lang="en-IN"/>
          </a:p>
        </p:txBody>
      </p:sp>
    </p:spTree>
    <p:extLst>
      <p:ext uri="{BB962C8B-B14F-4D97-AF65-F5344CB8AC3E}">
        <p14:creationId xmlns:p14="http://schemas.microsoft.com/office/powerpoint/2010/main" val="500953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F235C4-B686-1ABC-833B-1650304B4CCC}"/>
              </a:ext>
            </a:extLst>
          </p:cNvPr>
          <p:cNvSpPr>
            <a:spLocks noGrp="1"/>
          </p:cNvSpPr>
          <p:nvPr>
            <p:ph type="dt" sz="half" idx="10"/>
          </p:nvPr>
        </p:nvSpPr>
        <p:spPr/>
        <p:txBody>
          <a:bodyPr/>
          <a:lstStyle/>
          <a:p>
            <a:fld id="{FFDCC91D-5421-49F5-A4DD-C9C9F8FC153B}" type="datetimeFigureOut">
              <a:rPr lang="en-IN" smtClean="0"/>
              <a:t>20-08-2025</a:t>
            </a:fld>
            <a:endParaRPr lang="en-IN"/>
          </a:p>
        </p:txBody>
      </p:sp>
      <p:sp>
        <p:nvSpPr>
          <p:cNvPr id="3" name="Footer Placeholder 2">
            <a:extLst>
              <a:ext uri="{FF2B5EF4-FFF2-40B4-BE49-F238E27FC236}">
                <a16:creationId xmlns:a16="http://schemas.microsoft.com/office/drawing/2014/main" id="{37788E5C-48B4-2627-2CCC-6F5B56815C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D5783C0-886E-A895-820E-D08C89F953CB}"/>
              </a:ext>
            </a:extLst>
          </p:cNvPr>
          <p:cNvSpPr>
            <a:spLocks noGrp="1"/>
          </p:cNvSpPr>
          <p:nvPr>
            <p:ph type="sldNum" sz="quarter" idx="12"/>
          </p:nvPr>
        </p:nvSpPr>
        <p:spPr/>
        <p:txBody>
          <a:bodyPr/>
          <a:lstStyle/>
          <a:p>
            <a:fld id="{3386C5FB-760C-49E4-96E6-36968E38C440}" type="slidenum">
              <a:rPr lang="en-IN" smtClean="0"/>
              <a:t>‹#›</a:t>
            </a:fld>
            <a:endParaRPr lang="en-IN"/>
          </a:p>
        </p:txBody>
      </p:sp>
    </p:spTree>
    <p:extLst>
      <p:ext uri="{BB962C8B-B14F-4D97-AF65-F5344CB8AC3E}">
        <p14:creationId xmlns:p14="http://schemas.microsoft.com/office/powerpoint/2010/main" val="4277658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19C15-1030-DCAF-9C4E-59C0BC9090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471DA6-C948-FF49-EBE6-65403C03F7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3D0346D-DE93-C414-A19F-0332E3C2CF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BD4C42-6047-2EFD-4D20-8047D890F0D3}"/>
              </a:ext>
            </a:extLst>
          </p:cNvPr>
          <p:cNvSpPr>
            <a:spLocks noGrp="1"/>
          </p:cNvSpPr>
          <p:nvPr>
            <p:ph type="dt" sz="half" idx="10"/>
          </p:nvPr>
        </p:nvSpPr>
        <p:spPr/>
        <p:txBody>
          <a:bodyPr/>
          <a:lstStyle/>
          <a:p>
            <a:fld id="{FFDCC91D-5421-49F5-A4DD-C9C9F8FC153B}" type="datetimeFigureOut">
              <a:rPr lang="en-IN" smtClean="0"/>
              <a:t>20-08-2025</a:t>
            </a:fld>
            <a:endParaRPr lang="en-IN"/>
          </a:p>
        </p:txBody>
      </p:sp>
      <p:sp>
        <p:nvSpPr>
          <p:cNvPr id="6" name="Footer Placeholder 5">
            <a:extLst>
              <a:ext uri="{FF2B5EF4-FFF2-40B4-BE49-F238E27FC236}">
                <a16:creationId xmlns:a16="http://schemas.microsoft.com/office/drawing/2014/main" id="{1D66A0B4-9314-B5BC-CB5F-EF685E5356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04BCDA-6951-4FC4-2A2E-5C33AB69DA23}"/>
              </a:ext>
            </a:extLst>
          </p:cNvPr>
          <p:cNvSpPr>
            <a:spLocks noGrp="1"/>
          </p:cNvSpPr>
          <p:nvPr>
            <p:ph type="sldNum" sz="quarter" idx="12"/>
          </p:nvPr>
        </p:nvSpPr>
        <p:spPr/>
        <p:txBody>
          <a:bodyPr/>
          <a:lstStyle/>
          <a:p>
            <a:fld id="{3386C5FB-760C-49E4-96E6-36968E38C440}" type="slidenum">
              <a:rPr lang="en-IN" smtClean="0"/>
              <a:t>‹#›</a:t>
            </a:fld>
            <a:endParaRPr lang="en-IN"/>
          </a:p>
        </p:txBody>
      </p:sp>
    </p:spTree>
    <p:extLst>
      <p:ext uri="{BB962C8B-B14F-4D97-AF65-F5344CB8AC3E}">
        <p14:creationId xmlns:p14="http://schemas.microsoft.com/office/powerpoint/2010/main" val="2044636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C77D8-5EBA-1B66-04EF-FFA2E96B9E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F59BED-47D3-AC15-F361-0A49B0655F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051E88E-3486-E962-FF9F-6E830A59C2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6791F0-F501-9CC4-A824-B783EDEF3A49}"/>
              </a:ext>
            </a:extLst>
          </p:cNvPr>
          <p:cNvSpPr>
            <a:spLocks noGrp="1"/>
          </p:cNvSpPr>
          <p:nvPr>
            <p:ph type="dt" sz="half" idx="10"/>
          </p:nvPr>
        </p:nvSpPr>
        <p:spPr/>
        <p:txBody>
          <a:bodyPr/>
          <a:lstStyle/>
          <a:p>
            <a:fld id="{FFDCC91D-5421-49F5-A4DD-C9C9F8FC153B}" type="datetimeFigureOut">
              <a:rPr lang="en-IN" smtClean="0"/>
              <a:t>20-08-2025</a:t>
            </a:fld>
            <a:endParaRPr lang="en-IN"/>
          </a:p>
        </p:txBody>
      </p:sp>
      <p:sp>
        <p:nvSpPr>
          <p:cNvPr id="6" name="Footer Placeholder 5">
            <a:extLst>
              <a:ext uri="{FF2B5EF4-FFF2-40B4-BE49-F238E27FC236}">
                <a16:creationId xmlns:a16="http://schemas.microsoft.com/office/drawing/2014/main" id="{2048C26D-CEE6-61F2-87C9-6205DDC8EE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6D31A0-653B-FA72-C805-23A41C7704FC}"/>
              </a:ext>
            </a:extLst>
          </p:cNvPr>
          <p:cNvSpPr>
            <a:spLocks noGrp="1"/>
          </p:cNvSpPr>
          <p:nvPr>
            <p:ph type="sldNum" sz="quarter" idx="12"/>
          </p:nvPr>
        </p:nvSpPr>
        <p:spPr/>
        <p:txBody>
          <a:bodyPr/>
          <a:lstStyle/>
          <a:p>
            <a:fld id="{3386C5FB-760C-49E4-96E6-36968E38C440}" type="slidenum">
              <a:rPr lang="en-IN" smtClean="0"/>
              <a:t>‹#›</a:t>
            </a:fld>
            <a:endParaRPr lang="en-IN"/>
          </a:p>
        </p:txBody>
      </p:sp>
    </p:spTree>
    <p:extLst>
      <p:ext uri="{BB962C8B-B14F-4D97-AF65-F5344CB8AC3E}">
        <p14:creationId xmlns:p14="http://schemas.microsoft.com/office/powerpoint/2010/main" val="3639424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23619-99C1-E09B-DF27-C970476121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78DC6F-5CF0-9E37-68C9-5F96015BB1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D82D08-A304-27F8-FDB2-C684EFFFFAE3}"/>
              </a:ext>
            </a:extLst>
          </p:cNvPr>
          <p:cNvSpPr>
            <a:spLocks noGrp="1"/>
          </p:cNvSpPr>
          <p:nvPr>
            <p:ph type="dt" sz="half" idx="10"/>
          </p:nvPr>
        </p:nvSpPr>
        <p:spPr/>
        <p:txBody>
          <a:bodyPr/>
          <a:lstStyle/>
          <a:p>
            <a:fld id="{FFDCC91D-5421-49F5-A4DD-C9C9F8FC153B}" type="datetimeFigureOut">
              <a:rPr lang="en-IN" smtClean="0"/>
              <a:t>20-08-2025</a:t>
            </a:fld>
            <a:endParaRPr lang="en-IN"/>
          </a:p>
        </p:txBody>
      </p:sp>
      <p:sp>
        <p:nvSpPr>
          <p:cNvPr id="5" name="Footer Placeholder 4">
            <a:extLst>
              <a:ext uri="{FF2B5EF4-FFF2-40B4-BE49-F238E27FC236}">
                <a16:creationId xmlns:a16="http://schemas.microsoft.com/office/drawing/2014/main" id="{4CB1FA21-5046-4927-5BFA-0ED1FCB280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94F986-37C1-AD06-FFC6-53A0C01228B3}"/>
              </a:ext>
            </a:extLst>
          </p:cNvPr>
          <p:cNvSpPr>
            <a:spLocks noGrp="1"/>
          </p:cNvSpPr>
          <p:nvPr>
            <p:ph type="sldNum" sz="quarter" idx="12"/>
          </p:nvPr>
        </p:nvSpPr>
        <p:spPr/>
        <p:txBody>
          <a:bodyPr/>
          <a:lstStyle/>
          <a:p>
            <a:fld id="{3386C5FB-760C-49E4-96E6-36968E38C440}" type="slidenum">
              <a:rPr lang="en-IN" smtClean="0"/>
              <a:t>‹#›</a:t>
            </a:fld>
            <a:endParaRPr lang="en-IN"/>
          </a:p>
        </p:txBody>
      </p:sp>
    </p:spTree>
    <p:extLst>
      <p:ext uri="{BB962C8B-B14F-4D97-AF65-F5344CB8AC3E}">
        <p14:creationId xmlns:p14="http://schemas.microsoft.com/office/powerpoint/2010/main" val="2145456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8AED93-1AA6-68B3-8121-606C6C79FA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8987B4-8112-9ED4-9619-E8E63D5FE5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DB2E24-587D-4D6B-FD45-0BFACDD457C5}"/>
              </a:ext>
            </a:extLst>
          </p:cNvPr>
          <p:cNvSpPr>
            <a:spLocks noGrp="1"/>
          </p:cNvSpPr>
          <p:nvPr>
            <p:ph type="dt" sz="half" idx="10"/>
          </p:nvPr>
        </p:nvSpPr>
        <p:spPr/>
        <p:txBody>
          <a:bodyPr/>
          <a:lstStyle/>
          <a:p>
            <a:fld id="{FFDCC91D-5421-49F5-A4DD-C9C9F8FC153B}" type="datetimeFigureOut">
              <a:rPr lang="en-IN" smtClean="0"/>
              <a:t>20-08-2025</a:t>
            </a:fld>
            <a:endParaRPr lang="en-IN"/>
          </a:p>
        </p:txBody>
      </p:sp>
      <p:sp>
        <p:nvSpPr>
          <p:cNvPr id="5" name="Footer Placeholder 4">
            <a:extLst>
              <a:ext uri="{FF2B5EF4-FFF2-40B4-BE49-F238E27FC236}">
                <a16:creationId xmlns:a16="http://schemas.microsoft.com/office/drawing/2014/main" id="{A3A313DB-6A15-8751-12E2-D3FF9E5C05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CD4948-568C-D135-4290-F4A7C5E31B23}"/>
              </a:ext>
            </a:extLst>
          </p:cNvPr>
          <p:cNvSpPr>
            <a:spLocks noGrp="1"/>
          </p:cNvSpPr>
          <p:nvPr>
            <p:ph type="sldNum" sz="quarter" idx="12"/>
          </p:nvPr>
        </p:nvSpPr>
        <p:spPr/>
        <p:txBody>
          <a:bodyPr/>
          <a:lstStyle/>
          <a:p>
            <a:fld id="{3386C5FB-760C-49E4-96E6-36968E38C440}" type="slidenum">
              <a:rPr lang="en-IN" smtClean="0"/>
              <a:t>‹#›</a:t>
            </a:fld>
            <a:endParaRPr lang="en-IN"/>
          </a:p>
        </p:txBody>
      </p:sp>
    </p:spTree>
    <p:extLst>
      <p:ext uri="{BB962C8B-B14F-4D97-AF65-F5344CB8AC3E}">
        <p14:creationId xmlns:p14="http://schemas.microsoft.com/office/powerpoint/2010/main" val="386011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C385FA-8667-AB0D-274C-7069ACFB33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AECBF2-DC49-D6FC-C331-1B2C7978B0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4BBEFB-DCAE-51F9-A44D-CF146013DC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DCC91D-5421-49F5-A4DD-C9C9F8FC153B}" type="datetimeFigureOut">
              <a:rPr lang="en-IN" smtClean="0"/>
              <a:t>20-08-2025</a:t>
            </a:fld>
            <a:endParaRPr lang="en-IN"/>
          </a:p>
        </p:txBody>
      </p:sp>
      <p:sp>
        <p:nvSpPr>
          <p:cNvPr id="5" name="Footer Placeholder 4">
            <a:extLst>
              <a:ext uri="{FF2B5EF4-FFF2-40B4-BE49-F238E27FC236}">
                <a16:creationId xmlns:a16="http://schemas.microsoft.com/office/drawing/2014/main" id="{6267C7BD-18C9-0439-FBFE-6DEB8E960A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E5382F6-1D4C-5974-D0BE-BF0A735A07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86C5FB-760C-49E4-96E6-36968E38C440}" type="slidenum">
              <a:rPr lang="en-IN" smtClean="0"/>
              <a:t>‹#›</a:t>
            </a:fld>
            <a:endParaRPr lang="en-IN"/>
          </a:p>
        </p:txBody>
      </p:sp>
    </p:spTree>
    <p:extLst>
      <p:ext uri="{BB962C8B-B14F-4D97-AF65-F5344CB8AC3E}">
        <p14:creationId xmlns:p14="http://schemas.microsoft.com/office/powerpoint/2010/main" val="6085762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665B44B-47F0-119D-002B-62D820A117AA}"/>
              </a:ext>
            </a:extLst>
          </p:cNvPr>
          <p:cNvSpPr txBox="1"/>
          <p:nvPr/>
        </p:nvSpPr>
        <p:spPr>
          <a:xfrm>
            <a:off x="2714007" y="145097"/>
            <a:ext cx="9282380" cy="1897892"/>
          </a:xfrm>
          <a:prstGeom prst="rect">
            <a:avLst/>
          </a:prstGeom>
          <a:noFill/>
        </p:spPr>
        <p:txBody>
          <a:bodyPr wrap="square" rtlCol="0" anchor="b">
            <a:spAutoFit/>
          </a:bodyPr>
          <a:lstStyle/>
          <a:p>
            <a:pPr algn="ctr"/>
            <a:r>
              <a:rPr lang="en-US" sz="2933" b="1" spc="-97" dirty="0">
                <a:solidFill>
                  <a:schemeClr val="tx2"/>
                </a:solidFill>
                <a:latin typeface="Poppins" pitchFamily="2" charset="77"/>
                <a:cs typeface="Poppins" pitchFamily="2" charset="77"/>
              </a:rPr>
              <a:t>Wash on Wheel Application </a:t>
            </a:r>
          </a:p>
          <a:p>
            <a:pPr algn="ctr"/>
            <a:r>
              <a:rPr lang="en-IN" sz="2400" b="1" spc="-97" dirty="0" err="1">
                <a:solidFill>
                  <a:schemeClr val="tx2"/>
                </a:solidFill>
                <a:latin typeface="Poppins" pitchFamily="2" charset="77"/>
                <a:cs typeface="Poppins" pitchFamily="2" charset="77"/>
              </a:rPr>
              <a:t>Chhindwada</a:t>
            </a:r>
            <a:r>
              <a:rPr lang="en-IN" sz="2400" b="1" spc="-97" dirty="0">
                <a:solidFill>
                  <a:schemeClr val="tx2"/>
                </a:solidFill>
                <a:latin typeface="Poppins" pitchFamily="2" charset="77"/>
                <a:cs typeface="Poppins" pitchFamily="2" charset="77"/>
              </a:rPr>
              <a:t> Collectorate, MP</a:t>
            </a:r>
          </a:p>
          <a:p>
            <a:endParaRPr lang="en-IN" sz="1200" b="1" spc="-97" dirty="0">
              <a:solidFill>
                <a:schemeClr val="tx2"/>
              </a:solidFill>
              <a:latin typeface="Poppins" pitchFamily="2" charset="77"/>
              <a:cs typeface="Poppins" pitchFamily="2" charset="77"/>
            </a:endParaRPr>
          </a:p>
          <a:p>
            <a:endParaRPr lang="en-IN" sz="1200" b="1" spc="-97" dirty="0">
              <a:solidFill>
                <a:schemeClr val="tx2"/>
              </a:solidFill>
              <a:latin typeface="Poppins" pitchFamily="2" charset="77"/>
              <a:cs typeface="Poppins" pitchFamily="2" charset="77"/>
            </a:endParaRPr>
          </a:p>
          <a:p>
            <a:pPr algn="ctr"/>
            <a:r>
              <a:rPr lang="en-IN" sz="2400" b="1" spc="-97" dirty="0">
                <a:solidFill>
                  <a:srgbClr val="00B88E"/>
                </a:solidFill>
                <a:latin typeface="Poppins" pitchFamily="2" charset="77"/>
                <a:cs typeface="Poppins" pitchFamily="2" charset="77"/>
              </a:rPr>
              <a:t>Features &amp; Usage</a:t>
            </a:r>
            <a:endParaRPr lang="en-US" sz="2400" b="1" spc="-97" dirty="0">
              <a:solidFill>
                <a:srgbClr val="00B88E"/>
              </a:solidFill>
              <a:latin typeface="Poppins" pitchFamily="2" charset="77"/>
              <a:cs typeface="Poppins" pitchFamily="2" charset="77"/>
            </a:endParaRPr>
          </a:p>
          <a:p>
            <a:endParaRPr lang="en-US" sz="1600" b="1" spc="-97" dirty="0">
              <a:solidFill>
                <a:srgbClr val="00B88E"/>
              </a:solidFill>
              <a:latin typeface="Poppins" pitchFamily="2" charset="77"/>
              <a:cs typeface="Poppins" pitchFamily="2" charset="77"/>
            </a:endParaRPr>
          </a:p>
        </p:txBody>
      </p:sp>
      <p:sp>
        <p:nvSpPr>
          <p:cNvPr id="2" name="Slide Number Placeholder 1">
            <a:extLst>
              <a:ext uri="{FF2B5EF4-FFF2-40B4-BE49-F238E27FC236}">
                <a16:creationId xmlns:a16="http://schemas.microsoft.com/office/drawing/2014/main" id="{C227EDEC-7DF9-9D3A-6B7C-0AB9CDAB34B4}"/>
              </a:ext>
            </a:extLst>
          </p:cNvPr>
          <p:cNvSpPr>
            <a:spLocks noGrp="1"/>
          </p:cNvSpPr>
          <p:nvPr>
            <p:ph type="sldNum" sz="quarter" idx="12"/>
          </p:nvPr>
        </p:nvSpPr>
        <p:spPr>
          <a:xfrm>
            <a:off x="10573987" y="6543414"/>
            <a:ext cx="1422400" cy="243417"/>
          </a:xfrm>
        </p:spPr>
        <p:txBody>
          <a:bodyPr/>
          <a:lstStyle/>
          <a:p>
            <a:fld id="{B6F15528-21DE-4FAA-801E-634DDDAF4B2B}" type="slidenum">
              <a:rPr lang="en-US" smtClean="0"/>
              <a:pPr/>
              <a:t>1</a:t>
            </a:fld>
            <a:endParaRPr lang="en-US" dirty="0"/>
          </a:p>
        </p:txBody>
      </p:sp>
      <p:pic>
        <p:nvPicPr>
          <p:cNvPr id="9" name="Picture 8">
            <a:extLst>
              <a:ext uri="{FF2B5EF4-FFF2-40B4-BE49-F238E27FC236}">
                <a16:creationId xmlns:a16="http://schemas.microsoft.com/office/drawing/2014/main" id="{320A7975-C858-A922-2266-8056245CE618}"/>
              </a:ext>
            </a:extLst>
          </p:cNvPr>
          <p:cNvPicPr>
            <a:picLocks noChangeAspect="1"/>
          </p:cNvPicPr>
          <p:nvPr/>
        </p:nvPicPr>
        <p:blipFill>
          <a:blip r:embed="rId3">
            <a:extLst>
              <a:ext uri="{28A0092B-C50C-407E-A947-70E740481C1C}">
                <a14:useLocalDpi xmlns:a14="http://schemas.microsoft.com/office/drawing/2010/main" val="0"/>
              </a:ext>
            </a:extLst>
          </a:blip>
          <a:srcRect l="4150" t="4720" r="64769"/>
          <a:stretch/>
        </p:blipFill>
        <p:spPr>
          <a:xfrm>
            <a:off x="166914" y="170543"/>
            <a:ext cx="1168400" cy="2050977"/>
          </a:xfrm>
          <a:prstGeom prst="rect">
            <a:avLst/>
          </a:prstGeom>
          <a:effectLst>
            <a:glow rad="127000">
              <a:schemeClr val="accent1"/>
            </a:glow>
          </a:effectLst>
        </p:spPr>
      </p:pic>
      <p:sp>
        <p:nvSpPr>
          <p:cNvPr id="11" name="TextBox 6">
            <a:extLst>
              <a:ext uri="{FF2B5EF4-FFF2-40B4-BE49-F238E27FC236}">
                <a16:creationId xmlns:a16="http://schemas.microsoft.com/office/drawing/2014/main" id="{B107EC03-078C-F02F-DF97-1849371630E1}"/>
              </a:ext>
            </a:extLst>
          </p:cNvPr>
          <p:cNvSpPr txBox="1"/>
          <p:nvPr/>
        </p:nvSpPr>
        <p:spPr>
          <a:xfrm>
            <a:off x="148772" y="2420640"/>
            <a:ext cx="9655629" cy="4515019"/>
          </a:xfrm>
          <a:prstGeom prst="rect">
            <a:avLst/>
          </a:prstGeom>
        </p:spPr>
        <p:txBody>
          <a:bodyPr wrap="square" lIns="0" tIns="0" rIns="0" bIns="0" rtlCol="0" anchor="t">
            <a:spAutoFit/>
          </a:bodyPr>
          <a:lstStyle/>
          <a:p>
            <a:pPr marL="304815" indent="-304815">
              <a:spcBef>
                <a:spcPts val="400"/>
              </a:spcBef>
              <a:buFont typeface="Wingdings" panose="05000000000000000000" pitchFamily="2" charset="2"/>
              <a:buChar char="Ø"/>
            </a:pPr>
            <a:r>
              <a:rPr lang="en-US" sz="1867" dirty="0" err="1">
                <a:solidFill>
                  <a:srgbClr val="000000"/>
                </a:solidFill>
                <a:latin typeface="Calibri" panose="020F0502020204030204" pitchFamily="34" charset="0"/>
                <a:ea typeface="Times New Roman" panose="02020603050405020304" pitchFamily="18" charset="0"/>
              </a:rPr>
              <a:t>Parakh’s</a:t>
            </a:r>
            <a:r>
              <a:rPr lang="en-US" sz="1867" dirty="0">
                <a:solidFill>
                  <a:srgbClr val="000000"/>
                </a:solidFill>
                <a:latin typeface="Calibri" panose="020F0502020204030204" pitchFamily="34" charset="0"/>
                <a:ea typeface="Times New Roman" panose="02020603050405020304" pitchFamily="18" charset="0"/>
              </a:rPr>
              <a:t> framework having Geo-Tagged &amp; Geo-Fenced features is proposed to build solution for Wash on Wheel Application for </a:t>
            </a:r>
            <a:r>
              <a:rPr lang="en-US" sz="1867" dirty="0" err="1">
                <a:solidFill>
                  <a:srgbClr val="000000"/>
                </a:solidFill>
                <a:latin typeface="Calibri" panose="020F0502020204030204" pitchFamily="34" charset="0"/>
                <a:ea typeface="Times New Roman" panose="02020603050405020304" pitchFamily="18" charset="0"/>
              </a:rPr>
              <a:t>Chhindwada</a:t>
            </a:r>
            <a:r>
              <a:rPr lang="en-US" sz="1867" dirty="0">
                <a:solidFill>
                  <a:srgbClr val="000000"/>
                </a:solidFill>
                <a:latin typeface="Calibri" panose="020F0502020204030204" pitchFamily="34" charset="0"/>
                <a:ea typeface="Times New Roman" panose="02020603050405020304" pitchFamily="18" charset="0"/>
              </a:rPr>
              <a:t> district.</a:t>
            </a:r>
            <a:br>
              <a:rPr lang="en-US" sz="1867" dirty="0">
                <a:solidFill>
                  <a:srgbClr val="000000"/>
                </a:solidFill>
                <a:latin typeface="Calibri" panose="020F0502020204030204" pitchFamily="34" charset="0"/>
                <a:ea typeface="Times New Roman" panose="02020603050405020304" pitchFamily="18" charset="0"/>
              </a:rPr>
            </a:br>
            <a:r>
              <a:rPr lang="en-US" sz="1867" dirty="0">
                <a:solidFill>
                  <a:srgbClr val="000000"/>
                </a:solidFill>
                <a:latin typeface="Calibri" panose="020F0502020204030204" pitchFamily="34" charset="0"/>
                <a:ea typeface="Times New Roman" panose="02020603050405020304" pitchFamily="18" charset="0"/>
              </a:rPr>
              <a:t> </a:t>
            </a:r>
          </a:p>
          <a:p>
            <a:pPr marL="304815" indent="-304815" algn="just">
              <a:spcBef>
                <a:spcPts val="400"/>
              </a:spcBef>
              <a:buFont typeface="Wingdings" panose="05000000000000000000" pitchFamily="2" charset="2"/>
              <a:buChar char="Ø"/>
            </a:pPr>
            <a:r>
              <a:rPr lang="en-US" sz="1867" dirty="0">
                <a:solidFill>
                  <a:srgbClr val="000000"/>
                </a:solidFill>
                <a:latin typeface="Calibri" panose="020F0502020204030204" pitchFamily="34" charset="0"/>
                <a:ea typeface="Times New Roman" panose="02020603050405020304" pitchFamily="18" charset="0"/>
              </a:rPr>
              <a:t>Wash on Wheel application will enable </a:t>
            </a:r>
          </a:p>
          <a:p>
            <a:pPr marL="1257300" lvl="2" indent="-342900">
              <a:spcBef>
                <a:spcPts val="400"/>
              </a:spcBef>
              <a:buFont typeface="Arial" panose="020B0604020202020204" pitchFamily="34" charset="0"/>
              <a:buChar char="•"/>
            </a:pPr>
            <a:r>
              <a:rPr lang="en-US" sz="1867" dirty="0">
                <a:solidFill>
                  <a:srgbClr val="000000"/>
                </a:solidFill>
                <a:latin typeface="Calibri" panose="020F0502020204030204" pitchFamily="34" charset="0"/>
                <a:ea typeface="Times New Roman" panose="02020603050405020304" pitchFamily="18" charset="0"/>
              </a:rPr>
              <a:t>The asset in-charge for Anganwadi, School, </a:t>
            </a:r>
            <a:r>
              <a:rPr lang="en-US" sz="1867" dirty="0" err="1">
                <a:solidFill>
                  <a:srgbClr val="000000"/>
                </a:solidFill>
                <a:latin typeface="Calibri" panose="020F0502020204030204" pitchFamily="34" charset="0"/>
                <a:ea typeface="Times New Roman" panose="02020603050405020304" pitchFamily="18" charset="0"/>
              </a:rPr>
              <a:t>Sulabh</a:t>
            </a:r>
            <a:r>
              <a:rPr lang="en-US" sz="1867" dirty="0">
                <a:solidFill>
                  <a:srgbClr val="000000"/>
                </a:solidFill>
                <a:latin typeface="Calibri" panose="020F0502020204030204" pitchFamily="34" charset="0"/>
                <a:ea typeface="Times New Roman" panose="02020603050405020304" pitchFamily="18" charset="0"/>
              </a:rPr>
              <a:t> </a:t>
            </a:r>
            <a:r>
              <a:rPr lang="en-US" sz="1867" dirty="0" err="1">
                <a:solidFill>
                  <a:srgbClr val="000000"/>
                </a:solidFill>
                <a:latin typeface="Calibri" panose="020F0502020204030204" pitchFamily="34" charset="0"/>
                <a:ea typeface="Times New Roman" panose="02020603050405020304" pitchFamily="18" charset="0"/>
              </a:rPr>
              <a:t>Shochalay</a:t>
            </a:r>
            <a:r>
              <a:rPr lang="en-US" sz="1867" dirty="0">
                <a:solidFill>
                  <a:srgbClr val="000000"/>
                </a:solidFill>
                <a:latin typeface="Calibri" panose="020F0502020204030204" pitchFamily="34" charset="0"/>
                <a:ea typeface="Times New Roman" panose="02020603050405020304" pitchFamily="18" charset="0"/>
              </a:rPr>
              <a:t>, Panchayat, Hospitals, Hostels </a:t>
            </a:r>
            <a:r>
              <a:rPr lang="en-US" sz="1867" dirty="0" err="1">
                <a:solidFill>
                  <a:srgbClr val="000000"/>
                </a:solidFill>
                <a:latin typeface="Calibri" panose="020F0502020204030204" pitchFamily="34" charset="0"/>
                <a:ea typeface="Times New Roman" panose="02020603050405020304" pitchFamily="18" charset="0"/>
              </a:rPr>
              <a:t>etc</a:t>
            </a:r>
            <a:r>
              <a:rPr lang="en-US" sz="1867" dirty="0">
                <a:solidFill>
                  <a:srgbClr val="000000"/>
                </a:solidFill>
                <a:latin typeface="Calibri" panose="020F0502020204030204" pitchFamily="34" charset="0"/>
                <a:ea typeface="Times New Roman" panose="02020603050405020304" pitchFamily="18" charset="0"/>
              </a:rPr>
              <a:t> shall fill a cleaning request form to raise the cleaning request.  GEO Location of the requested site will be captured. The cleaning request will be raised from the cleaning site along with a captured photo, via the Mobile App. </a:t>
            </a:r>
            <a:br>
              <a:rPr lang="en-US" sz="1867" dirty="0">
                <a:solidFill>
                  <a:srgbClr val="000000"/>
                </a:solidFill>
                <a:latin typeface="Calibri" panose="020F0502020204030204" pitchFamily="34" charset="0"/>
                <a:ea typeface="Times New Roman" panose="02020603050405020304" pitchFamily="18" charset="0"/>
              </a:rPr>
            </a:br>
            <a:endParaRPr lang="en-US" sz="1867" dirty="0">
              <a:solidFill>
                <a:srgbClr val="000000"/>
              </a:solidFill>
              <a:latin typeface="Calibri" panose="020F0502020204030204" pitchFamily="34" charset="0"/>
              <a:ea typeface="Times New Roman" panose="02020603050405020304" pitchFamily="18" charset="0"/>
            </a:endParaRPr>
          </a:p>
          <a:p>
            <a:pPr marL="1257300" lvl="2" indent="-342900">
              <a:spcBef>
                <a:spcPts val="400"/>
              </a:spcBef>
              <a:buFont typeface="Arial" panose="020B0604020202020204" pitchFamily="34" charset="0"/>
              <a:buChar char="•"/>
            </a:pPr>
            <a:r>
              <a:rPr lang="en-US" sz="1867" dirty="0">
                <a:solidFill>
                  <a:srgbClr val="000000"/>
                </a:solidFill>
                <a:latin typeface="Calibri" panose="020F0502020204030204" pitchFamily="34" charset="0"/>
                <a:ea typeface="Times New Roman" panose="02020603050405020304" pitchFamily="18" charset="0"/>
              </a:rPr>
              <a:t>Allocation of the cleaning work to the available vehicle for cleaning will be done by the cluster </a:t>
            </a:r>
            <a:r>
              <a:rPr lang="en-US" sz="1867" dirty="0" err="1">
                <a:solidFill>
                  <a:srgbClr val="000000"/>
                </a:solidFill>
                <a:latin typeface="Calibri" panose="020F0502020204030204" pitchFamily="34" charset="0"/>
                <a:ea typeface="Times New Roman" panose="02020603050405020304" pitchFamily="18" charset="0"/>
              </a:rPr>
              <a:t>incharge</a:t>
            </a:r>
            <a:r>
              <a:rPr lang="en-US" sz="1867" dirty="0">
                <a:solidFill>
                  <a:srgbClr val="000000"/>
                </a:solidFill>
                <a:latin typeface="Calibri" panose="020F0502020204030204" pitchFamily="34" charset="0"/>
                <a:ea typeface="Times New Roman" panose="02020603050405020304" pitchFamily="18" charset="0"/>
              </a:rPr>
              <a:t> via the WEB Panel. </a:t>
            </a:r>
            <a:br>
              <a:rPr lang="en-US" sz="1867" dirty="0">
                <a:solidFill>
                  <a:srgbClr val="000000"/>
                </a:solidFill>
                <a:latin typeface="Calibri" panose="020F0502020204030204" pitchFamily="34" charset="0"/>
                <a:ea typeface="Times New Roman" panose="02020603050405020304" pitchFamily="18" charset="0"/>
              </a:rPr>
            </a:br>
            <a:endParaRPr lang="en-US" sz="1867" dirty="0">
              <a:solidFill>
                <a:srgbClr val="000000"/>
              </a:solidFill>
              <a:latin typeface="Calibri" panose="020F0502020204030204" pitchFamily="34" charset="0"/>
              <a:ea typeface="Times New Roman" panose="02020603050405020304" pitchFamily="18" charset="0"/>
            </a:endParaRPr>
          </a:p>
          <a:p>
            <a:pPr marL="1257300" lvl="2" indent="-342900">
              <a:spcBef>
                <a:spcPts val="400"/>
              </a:spcBef>
              <a:buFont typeface="Arial" panose="020B0604020202020204" pitchFamily="34" charset="0"/>
              <a:buChar char="•"/>
            </a:pPr>
            <a:r>
              <a:rPr lang="en-US" sz="1867" dirty="0">
                <a:solidFill>
                  <a:srgbClr val="000000"/>
                </a:solidFill>
                <a:latin typeface="Calibri" panose="020F0502020204030204" pitchFamily="34" charset="0"/>
                <a:ea typeface="Times New Roman" panose="02020603050405020304" pitchFamily="18" charset="0"/>
              </a:rPr>
              <a:t>The allocated cleaning work, will be visible to the cleaning vehicle on their Mobile App., they will perform the cleaning work and fill the compliance form and submit. The task will be considered completed/closed, and the vehicle will be available for next service.  </a:t>
            </a:r>
          </a:p>
        </p:txBody>
      </p:sp>
      <p:pic>
        <p:nvPicPr>
          <p:cNvPr id="12" name="Picture 11">
            <a:extLst>
              <a:ext uri="{FF2B5EF4-FFF2-40B4-BE49-F238E27FC236}">
                <a16:creationId xmlns:a16="http://schemas.microsoft.com/office/drawing/2014/main" id="{9DBEE969-09DC-3C70-196B-4A4A898962A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4783" y="175811"/>
            <a:ext cx="975183" cy="2059791"/>
          </a:xfrm>
          <a:prstGeom prst="rect">
            <a:avLst/>
          </a:prstGeom>
          <a:ln>
            <a:solidFill>
              <a:schemeClr val="tx1"/>
            </a:solidFill>
          </a:ln>
        </p:spPr>
      </p:pic>
      <p:pic>
        <p:nvPicPr>
          <p:cNvPr id="4" name="Picture 3">
            <a:extLst>
              <a:ext uri="{FF2B5EF4-FFF2-40B4-BE49-F238E27FC236}">
                <a16:creationId xmlns:a16="http://schemas.microsoft.com/office/drawing/2014/main" id="{0D35FF4D-A468-B19D-132A-90533C856D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67204" y="1691640"/>
            <a:ext cx="2029183" cy="4745736"/>
          </a:xfrm>
          <a:prstGeom prst="rect">
            <a:avLst/>
          </a:prstGeom>
        </p:spPr>
      </p:pic>
    </p:spTree>
    <p:extLst>
      <p:ext uri="{BB962C8B-B14F-4D97-AF65-F5344CB8AC3E}">
        <p14:creationId xmlns:p14="http://schemas.microsoft.com/office/powerpoint/2010/main" val="330367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9170A955-969F-5FD9-87E5-2139B5714767}"/>
              </a:ext>
            </a:extLst>
          </p:cNvPr>
          <p:cNvGrpSpPr/>
          <p:nvPr/>
        </p:nvGrpSpPr>
        <p:grpSpPr>
          <a:xfrm>
            <a:off x="472996" y="517510"/>
            <a:ext cx="11032309" cy="4187003"/>
            <a:chOff x="718978" y="3991180"/>
            <a:chExt cx="17204364" cy="6716926"/>
          </a:xfrm>
        </p:grpSpPr>
        <p:sp>
          <p:nvSpPr>
            <p:cNvPr id="24" name="TextBox 7">
              <a:extLst>
                <a:ext uri="{FF2B5EF4-FFF2-40B4-BE49-F238E27FC236}">
                  <a16:creationId xmlns:a16="http://schemas.microsoft.com/office/drawing/2014/main" id="{4D214E1C-D7A9-FAE3-FA30-57E6058AE2D7}"/>
                </a:ext>
              </a:extLst>
            </p:cNvPr>
            <p:cNvSpPr txBox="1"/>
            <p:nvPr/>
          </p:nvSpPr>
          <p:spPr>
            <a:xfrm>
              <a:off x="980429" y="3991180"/>
              <a:ext cx="16564624" cy="469400"/>
            </a:xfrm>
            <a:prstGeom prst="rect">
              <a:avLst/>
            </a:prstGeom>
          </p:spPr>
          <p:txBody>
            <a:bodyPr wrap="square" lIns="0" tIns="0" rIns="0" bIns="0" rtlCol="0" anchor="ctr">
              <a:spAutoFit/>
            </a:bodyPr>
            <a:lstStyle/>
            <a:p>
              <a:pPr algn="just">
                <a:spcBef>
                  <a:spcPct val="0"/>
                </a:spcBef>
              </a:pPr>
              <a:r>
                <a:rPr lang="en-US" b="1" u="sng" spc="200" dirty="0">
                  <a:solidFill>
                    <a:schemeClr val="tx2"/>
                  </a:solidFill>
                  <a:latin typeface="Microsoft Sans Serif" panose="020B0604020202020204" pitchFamily="34" charset="0"/>
                  <a:ea typeface="Microsoft Sans Serif" panose="020B0604020202020204" pitchFamily="34" charset="0"/>
                  <a:cs typeface="Microsoft Sans Serif" panose="020B0604020202020204" pitchFamily="34" charset="0"/>
                </a:rPr>
                <a:t>Wash on Wheel Workflow</a:t>
              </a:r>
            </a:p>
          </p:txBody>
        </p:sp>
        <p:pic>
          <p:nvPicPr>
            <p:cNvPr id="25" name="Picture 24">
              <a:extLst>
                <a:ext uri="{FF2B5EF4-FFF2-40B4-BE49-F238E27FC236}">
                  <a16:creationId xmlns:a16="http://schemas.microsoft.com/office/drawing/2014/main" id="{D55F3579-0BCF-2CE7-5300-49BD0BEFF7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1139" y="4558710"/>
              <a:ext cx="2175561" cy="2175561"/>
            </a:xfrm>
            <a:prstGeom prst="rect">
              <a:avLst/>
            </a:prstGeom>
          </p:spPr>
        </p:pic>
        <p:sp>
          <p:nvSpPr>
            <p:cNvPr id="26" name="TextBox 25">
              <a:extLst>
                <a:ext uri="{FF2B5EF4-FFF2-40B4-BE49-F238E27FC236}">
                  <a16:creationId xmlns:a16="http://schemas.microsoft.com/office/drawing/2014/main" id="{FF80588F-EEC2-9EDC-D9F6-B6DB818A2621}"/>
                </a:ext>
              </a:extLst>
            </p:cNvPr>
            <p:cNvSpPr txBox="1"/>
            <p:nvPr/>
          </p:nvSpPr>
          <p:spPr>
            <a:xfrm>
              <a:off x="980430" y="6962793"/>
              <a:ext cx="2605030" cy="1607624"/>
            </a:xfrm>
            <a:prstGeom prst="rect">
              <a:avLst/>
            </a:prstGeom>
            <a:noFill/>
          </p:spPr>
          <p:txBody>
            <a:bodyPr wrap="square" rtlCol="0">
              <a:spAutoFit/>
            </a:bodyPr>
            <a:lstStyle/>
            <a:p>
              <a:r>
                <a:rPr lang="en-IN" sz="1400" dirty="0"/>
                <a:t>Request for cleaning is raised by Asset In-charge via Mobile Application.</a:t>
              </a:r>
            </a:p>
          </p:txBody>
        </p:sp>
        <p:pic>
          <p:nvPicPr>
            <p:cNvPr id="27" name="Picture 26">
              <a:extLst>
                <a:ext uri="{FF2B5EF4-FFF2-40B4-BE49-F238E27FC236}">
                  <a16:creationId xmlns:a16="http://schemas.microsoft.com/office/drawing/2014/main" id="{1133B6EE-38DD-78DD-B014-43803808D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025679" y="4636443"/>
              <a:ext cx="1690629" cy="1767475"/>
            </a:xfrm>
            <a:prstGeom prst="rect">
              <a:avLst/>
            </a:prstGeom>
          </p:spPr>
        </p:pic>
        <p:sp>
          <p:nvSpPr>
            <p:cNvPr id="28" name="TextBox 27">
              <a:extLst>
                <a:ext uri="{FF2B5EF4-FFF2-40B4-BE49-F238E27FC236}">
                  <a16:creationId xmlns:a16="http://schemas.microsoft.com/office/drawing/2014/main" id="{6D9F2099-9110-6709-A1ED-89932E92CCEB}"/>
                </a:ext>
              </a:extLst>
            </p:cNvPr>
            <p:cNvSpPr txBox="1"/>
            <p:nvPr/>
          </p:nvSpPr>
          <p:spPr>
            <a:xfrm>
              <a:off x="4847251" y="6932042"/>
              <a:ext cx="3157806" cy="2366318"/>
            </a:xfrm>
            <a:prstGeom prst="rect">
              <a:avLst/>
            </a:prstGeom>
            <a:noFill/>
          </p:spPr>
          <p:txBody>
            <a:bodyPr wrap="square" rtlCol="0">
              <a:spAutoFit/>
            </a:bodyPr>
            <a:lstStyle/>
            <a:p>
              <a:r>
                <a:rPr lang="en-IN" sz="1400" dirty="0"/>
                <a:t>Officer at Cluster/District Level sees the cleaning request.  Officer assigns the cleaning work to the available vehicle.</a:t>
              </a:r>
            </a:p>
          </p:txBody>
        </p:sp>
        <p:pic>
          <p:nvPicPr>
            <p:cNvPr id="29" name="Picture 28">
              <a:extLst>
                <a:ext uri="{FF2B5EF4-FFF2-40B4-BE49-F238E27FC236}">
                  <a16:creationId xmlns:a16="http://schemas.microsoft.com/office/drawing/2014/main" id="{096A7218-104F-BC05-8C70-B78FB23EF5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8978" y="4746738"/>
              <a:ext cx="1838972" cy="1838971"/>
            </a:xfrm>
            <a:prstGeom prst="rect">
              <a:avLst/>
            </a:prstGeom>
          </p:spPr>
        </p:pic>
        <p:sp>
          <p:nvSpPr>
            <p:cNvPr id="30" name="TextBox 29">
              <a:extLst>
                <a:ext uri="{FF2B5EF4-FFF2-40B4-BE49-F238E27FC236}">
                  <a16:creationId xmlns:a16="http://schemas.microsoft.com/office/drawing/2014/main" id="{AC84AAEC-A328-C4FB-D9AD-93BDD5D4E420}"/>
                </a:ext>
              </a:extLst>
            </p:cNvPr>
            <p:cNvSpPr txBox="1"/>
            <p:nvPr/>
          </p:nvSpPr>
          <p:spPr>
            <a:xfrm>
              <a:off x="8924979" y="6758144"/>
              <a:ext cx="4752770" cy="3949962"/>
            </a:xfrm>
            <a:prstGeom prst="rect">
              <a:avLst/>
            </a:prstGeom>
            <a:noFill/>
          </p:spPr>
          <p:txBody>
            <a:bodyPr wrap="square" rtlCol="0">
              <a:spAutoFit/>
            </a:bodyPr>
            <a:lstStyle/>
            <a:p>
              <a:pPr marL="285750" indent="-285750">
                <a:buFontTx/>
                <a:buChar char="-"/>
              </a:pPr>
              <a:r>
                <a:rPr lang="en-US" sz="1400" dirty="0"/>
                <a:t>Notification is received to the Field Vehicle for the assigned cleaning work. </a:t>
              </a:r>
            </a:p>
            <a:p>
              <a:pPr marL="285750" indent="-285750">
                <a:buFontTx/>
                <a:buChar char="-"/>
              </a:pPr>
              <a:r>
                <a:rPr lang="en-US" sz="1400" dirty="0"/>
                <a:t>Cleaning Vehicle  visualize the cleaning request and can also see the GIS map view of the path. </a:t>
              </a:r>
            </a:p>
            <a:p>
              <a:pPr marL="285750" indent="-285750">
                <a:buFontTx/>
                <a:buChar char="-"/>
              </a:pPr>
              <a:r>
                <a:rPr lang="en-US" sz="1400" dirty="0"/>
                <a:t>Conducts the cleaning work and submits the form along with the GEO tagged photo in the mobile application</a:t>
              </a:r>
            </a:p>
            <a:p>
              <a:pPr marL="285750" indent="-285750">
                <a:buFontTx/>
                <a:buChar char="-"/>
              </a:pPr>
              <a:endParaRPr lang="en-US" sz="1400" dirty="0"/>
            </a:p>
          </p:txBody>
        </p:sp>
        <p:pic>
          <p:nvPicPr>
            <p:cNvPr id="31" name="Picture 30">
              <a:extLst>
                <a:ext uri="{FF2B5EF4-FFF2-40B4-BE49-F238E27FC236}">
                  <a16:creationId xmlns:a16="http://schemas.microsoft.com/office/drawing/2014/main" id="{F11BB37E-B1E3-87DF-2D9F-7C3609D303F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043809" y="4561180"/>
              <a:ext cx="1881563" cy="1881562"/>
            </a:xfrm>
            <a:prstGeom prst="rect">
              <a:avLst/>
            </a:prstGeom>
          </p:spPr>
        </p:pic>
        <p:sp>
          <p:nvSpPr>
            <p:cNvPr id="32" name="TextBox 31">
              <a:extLst>
                <a:ext uri="{FF2B5EF4-FFF2-40B4-BE49-F238E27FC236}">
                  <a16:creationId xmlns:a16="http://schemas.microsoft.com/office/drawing/2014/main" id="{9AD6658E-8395-60F3-BC7F-13340780A55E}"/>
                </a:ext>
              </a:extLst>
            </p:cNvPr>
            <p:cNvSpPr txBox="1"/>
            <p:nvPr/>
          </p:nvSpPr>
          <p:spPr>
            <a:xfrm>
              <a:off x="14273058" y="6758144"/>
              <a:ext cx="3650284" cy="1262037"/>
            </a:xfrm>
            <a:prstGeom prst="rect">
              <a:avLst/>
            </a:prstGeom>
            <a:noFill/>
          </p:spPr>
          <p:txBody>
            <a:bodyPr wrap="square" rtlCol="0">
              <a:spAutoFit/>
            </a:bodyPr>
            <a:lstStyle>
              <a:defPPr>
                <a:defRPr lang="en-US"/>
              </a:defPPr>
            </a:lstStyle>
            <a:p>
              <a:r>
                <a:rPr lang="en-IN" sz="1400" dirty="0"/>
                <a:t>Officer at Cluster/District Level sees the cleaning work completed.</a:t>
              </a:r>
              <a:endParaRPr lang="en-US" sz="1400" dirty="0"/>
            </a:p>
          </p:txBody>
        </p:sp>
        <p:pic>
          <p:nvPicPr>
            <p:cNvPr id="33" name="Picture 32">
              <a:extLst>
                <a:ext uri="{FF2B5EF4-FFF2-40B4-BE49-F238E27FC236}">
                  <a16:creationId xmlns:a16="http://schemas.microsoft.com/office/drawing/2014/main" id="{44518E3D-6F5F-B1BB-64CC-A996DCA6BBC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3363909">
              <a:off x="3660317" y="5096553"/>
              <a:ext cx="1099876" cy="1099875"/>
            </a:xfrm>
            <a:prstGeom prst="rect">
              <a:avLst/>
            </a:prstGeom>
          </p:spPr>
        </p:pic>
        <p:pic>
          <p:nvPicPr>
            <p:cNvPr id="34" name="Picture 33">
              <a:extLst>
                <a:ext uri="{FF2B5EF4-FFF2-40B4-BE49-F238E27FC236}">
                  <a16:creationId xmlns:a16="http://schemas.microsoft.com/office/drawing/2014/main" id="{3370653C-3F97-67B4-5809-154B7CCC3A7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3363909">
              <a:off x="13014170" y="4980735"/>
              <a:ext cx="1331509" cy="1331508"/>
            </a:xfrm>
            <a:prstGeom prst="rect">
              <a:avLst/>
            </a:prstGeom>
          </p:spPr>
        </p:pic>
        <p:pic>
          <p:nvPicPr>
            <p:cNvPr id="35" name="Picture 34">
              <a:extLst>
                <a:ext uri="{FF2B5EF4-FFF2-40B4-BE49-F238E27FC236}">
                  <a16:creationId xmlns:a16="http://schemas.microsoft.com/office/drawing/2014/main" id="{E04B7867-2043-8297-9D09-C239541E870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3363909">
              <a:off x="8204869" y="5115682"/>
              <a:ext cx="1099876" cy="1099875"/>
            </a:xfrm>
            <a:prstGeom prst="rect">
              <a:avLst/>
            </a:prstGeom>
          </p:spPr>
        </p:pic>
      </p:grpSp>
      <p:sp>
        <p:nvSpPr>
          <p:cNvPr id="36" name="Slide Number Placeholder 1">
            <a:extLst>
              <a:ext uri="{FF2B5EF4-FFF2-40B4-BE49-F238E27FC236}">
                <a16:creationId xmlns:a16="http://schemas.microsoft.com/office/drawing/2014/main" id="{27EEEB92-4E02-DE77-80D8-27761CFB5AAC}"/>
              </a:ext>
            </a:extLst>
          </p:cNvPr>
          <p:cNvSpPr>
            <a:spLocks noGrp="1"/>
          </p:cNvSpPr>
          <p:nvPr>
            <p:ph type="sldNum" sz="quarter" idx="12"/>
          </p:nvPr>
        </p:nvSpPr>
        <p:spPr>
          <a:xfrm>
            <a:off x="12278196" y="9765879"/>
            <a:ext cx="2133600" cy="365125"/>
          </a:xfrm>
        </p:spPr>
        <p:txBody>
          <a:bodyPr/>
          <a:lstStyle/>
          <a:p>
            <a:fld id="{B6F15528-21DE-4FAA-801E-634DDDAF4B2B}" type="slidenum">
              <a:rPr lang="en-US" smtClean="0"/>
              <a:pPr/>
              <a:t>2</a:t>
            </a:fld>
            <a:endParaRPr lang="en-US"/>
          </a:p>
        </p:txBody>
      </p:sp>
      <p:sp>
        <p:nvSpPr>
          <p:cNvPr id="42" name="TextBox 41">
            <a:extLst>
              <a:ext uri="{FF2B5EF4-FFF2-40B4-BE49-F238E27FC236}">
                <a16:creationId xmlns:a16="http://schemas.microsoft.com/office/drawing/2014/main" id="{B5E93766-FA4F-53AB-5BAF-82E810EC9334}"/>
              </a:ext>
            </a:extLst>
          </p:cNvPr>
          <p:cNvSpPr txBox="1"/>
          <p:nvPr/>
        </p:nvSpPr>
        <p:spPr>
          <a:xfrm>
            <a:off x="331367" y="4353856"/>
            <a:ext cx="3172992" cy="369332"/>
          </a:xfrm>
          <a:prstGeom prst="rect">
            <a:avLst/>
          </a:prstGeom>
          <a:noFill/>
        </p:spPr>
        <p:txBody>
          <a:bodyPr wrap="square" rtlCol="0">
            <a:spAutoFit/>
          </a:bodyPr>
          <a:lstStyle/>
          <a:p>
            <a:r>
              <a:rPr lang="en-IN" dirty="0"/>
              <a:t>Actors of the Application</a:t>
            </a:r>
          </a:p>
        </p:txBody>
      </p:sp>
      <p:sp>
        <p:nvSpPr>
          <p:cNvPr id="44" name="TextBox 43">
            <a:extLst>
              <a:ext uri="{FF2B5EF4-FFF2-40B4-BE49-F238E27FC236}">
                <a16:creationId xmlns:a16="http://schemas.microsoft.com/office/drawing/2014/main" id="{07A5B3A7-6BE7-A655-DF1C-4E8B32841836}"/>
              </a:ext>
            </a:extLst>
          </p:cNvPr>
          <p:cNvSpPr txBox="1"/>
          <p:nvPr/>
        </p:nvSpPr>
        <p:spPr>
          <a:xfrm>
            <a:off x="406090" y="3305076"/>
            <a:ext cx="1747133" cy="584775"/>
          </a:xfrm>
          <a:prstGeom prst="rect">
            <a:avLst/>
          </a:prstGeom>
          <a:noFill/>
        </p:spPr>
        <p:txBody>
          <a:bodyPr wrap="square" rtlCol="0">
            <a:spAutoFit/>
          </a:bodyPr>
          <a:lstStyle/>
          <a:p>
            <a:pPr algn="ctr"/>
            <a:r>
              <a:rPr lang="en-IN" sz="1600" b="1" i="1" dirty="0"/>
              <a:t>Login as Citizen</a:t>
            </a:r>
          </a:p>
          <a:p>
            <a:pPr algn="ctr"/>
            <a:r>
              <a:rPr lang="en-IN" sz="1600" b="1" i="1" dirty="0"/>
              <a:t>Mobile App</a:t>
            </a:r>
          </a:p>
        </p:txBody>
      </p:sp>
      <p:sp>
        <p:nvSpPr>
          <p:cNvPr id="45" name="TextBox 44">
            <a:extLst>
              <a:ext uri="{FF2B5EF4-FFF2-40B4-BE49-F238E27FC236}">
                <a16:creationId xmlns:a16="http://schemas.microsoft.com/office/drawing/2014/main" id="{4EDD6A5D-DD97-A59D-365F-571007451EC4}"/>
              </a:ext>
            </a:extLst>
          </p:cNvPr>
          <p:cNvSpPr txBox="1"/>
          <p:nvPr/>
        </p:nvSpPr>
        <p:spPr>
          <a:xfrm>
            <a:off x="3161857" y="3478982"/>
            <a:ext cx="2191500" cy="584775"/>
          </a:xfrm>
          <a:prstGeom prst="rect">
            <a:avLst/>
          </a:prstGeom>
          <a:noFill/>
        </p:spPr>
        <p:txBody>
          <a:bodyPr wrap="square" rtlCol="0">
            <a:spAutoFit/>
          </a:bodyPr>
          <a:lstStyle/>
          <a:p>
            <a:pPr algn="ctr"/>
            <a:r>
              <a:rPr lang="en-IN" sz="1600" b="1" i="1" dirty="0"/>
              <a:t>Login as Department (Web Portal)</a:t>
            </a:r>
          </a:p>
        </p:txBody>
      </p:sp>
      <p:sp>
        <p:nvSpPr>
          <p:cNvPr id="46" name="TextBox 45">
            <a:extLst>
              <a:ext uri="{FF2B5EF4-FFF2-40B4-BE49-F238E27FC236}">
                <a16:creationId xmlns:a16="http://schemas.microsoft.com/office/drawing/2014/main" id="{865ACBBA-70B7-FFCA-5D89-AEC8FD29574D}"/>
              </a:ext>
            </a:extLst>
          </p:cNvPr>
          <p:cNvSpPr txBox="1"/>
          <p:nvPr/>
        </p:nvSpPr>
        <p:spPr>
          <a:xfrm>
            <a:off x="6096000" y="4353856"/>
            <a:ext cx="2191500" cy="830997"/>
          </a:xfrm>
          <a:prstGeom prst="rect">
            <a:avLst/>
          </a:prstGeom>
          <a:noFill/>
        </p:spPr>
        <p:txBody>
          <a:bodyPr wrap="square" rtlCol="0">
            <a:spAutoFit/>
          </a:bodyPr>
          <a:lstStyle/>
          <a:p>
            <a:pPr algn="ctr"/>
            <a:r>
              <a:rPr lang="en-IN" sz="1600" b="1" i="1" dirty="0"/>
              <a:t>Login as Agency/Vendor (Mobile App)</a:t>
            </a:r>
          </a:p>
        </p:txBody>
      </p:sp>
      <p:sp>
        <p:nvSpPr>
          <p:cNvPr id="47" name="TextBox 46">
            <a:extLst>
              <a:ext uri="{FF2B5EF4-FFF2-40B4-BE49-F238E27FC236}">
                <a16:creationId xmlns:a16="http://schemas.microsoft.com/office/drawing/2014/main" id="{46F97D9B-F535-EBC2-7D0E-98C53AD7E9D9}"/>
              </a:ext>
            </a:extLst>
          </p:cNvPr>
          <p:cNvSpPr txBox="1"/>
          <p:nvPr/>
        </p:nvSpPr>
        <p:spPr>
          <a:xfrm>
            <a:off x="9089298" y="3028992"/>
            <a:ext cx="2615251" cy="338554"/>
          </a:xfrm>
          <a:prstGeom prst="rect">
            <a:avLst/>
          </a:prstGeom>
          <a:noFill/>
        </p:spPr>
        <p:txBody>
          <a:bodyPr wrap="square" rtlCol="0">
            <a:spAutoFit/>
          </a:bodyPr>
          <a:lstStyle/>
          <a:p>
            <a:pPr algn="ctr"/>
            <a:r>
              <a:rPr lang="en-IN" sz="1600" b="1" i="1" dirty="0"/>
              <a:t>As Department (Web Portal)</a:t>
            </a:r>
          </a:p>
        </p:txBody>
      </p:sp>
      <p:pic>
        <p:nvPicPr>
          <p:cNvPr id="2" name="Picture 1">
            <a:extLst>
              <a:ext uri="{FF2B5EF4-FFF2-40B4-BE49-F238E27FC236}">
                <a16:creationId xmlns:a16="http://schemas.microsoft.com/office/drawing/2014/main" id="{E7513E29-6CC0-4573-C7A7-9CB5C428D2E8}"/>
              </a:ext>
            </a:extLst>
          </p:cNvPr>
          <p:cNvPicPr>
            <a:picLocks noChangeAspect="1"/>
          </p:cNvPicPr>
          <p:nvPr/>
        </p:nvPicPr>
        <p:blipFill>
          <a:blip r:embed="rId7"/>
          <a:stretch>
            <a:fillRect/>
          </a:stretch>
        </p:blipFill>
        <p:spPr>
          <a:xfrm>
            <a:off x="331367" y="4954029"/>
            <a:ext cx="5068063" cy="1653600"/>
          </a:xfrm>
          <a:prstGeom prst="rect">
            <a:avLst/>
          </a:prstGeom>
        </p:spPr>
      </p:pic>
    </p:spTree>
    <p:extLst>
      <p:ext uri="{BB962C8B-B14F-4D97-AF65-F5344CB8AC3E}">
        <p14:creationId xmlns:p14="http://schemas.microsoft.com/office/powerpoint/2010/main" val="201434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39C0F-12A6-FA6A-ECCB-7FA5A2330077}"/>
              </a:ext>
            </a:extLst>
          </p:cNvPr>
          <p:cNvSpPr>
            <a:spLocks noGrp="1"/>
          </p:cNvSpPr>
          <p:nvPr>
            <p:ph type="title"/>
          </p:nvPr>
        </p:nvSpPr>
        <p:spPr>
          <a:xfrm>
            <a:off x="225552" y="227965"/>
            <a:ext cx="10515600" cy="558419"/>
          </a:xfrm>
        </p:spPr>
        <p:txBody>
          <a:bodyPr>
            <a:normAutofit/>
          </a:bodyPr>
          <a:lstStyle/>
          <a:p>
            <a:r>
              <a:rPr lang="en-IN" sz="3200" dirty="0"/>
              <a:t>Citizen – Mobile Work-flow</a:t>
            </a:r>
          </a:p>
        </p:txBody>
      </p:sp>
      <p:pic>
        <p:nvPicPr>
          <p:cNvPr id="5" name="Picture 4">
            <a:extLst>
              <a:ext uri="{FF2B5EF4-FFF2-40B4-BE49-F238E27FC236}">
                <a16:creationId xmlns:a16="http://schemas.microsoft.com/office/drawing/2014/main" id="{11832697-B831-DDE6-5AFD-11904566E8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628" y="1069213"/>
            <a:ext cx="2687731" cy="5679059"/>
          </a:xfrm>
          <a:prstGeom prst="rect">
            <a:avLst/>
          </a:prstGeom>
          <a:ln>
            <a:noFill/>
          </a:ln>
          <a:effectLst>
            <a:outerShdw blurRad="190500" algn="tl" rotWithShape="0">
              <a:srgbClr val="000000">
                <a:alpha val="70000"/>
              </a:srgbClr>
            </a:outerShdw>
          </a:effectLst>
        </p:spPr>
      </p:pic>
      <p:pic>
        <p:nvPicPr>
          <p:cNvPr id="9" name="Picture 8">
            <a:extLst>
              <a:ext uri="{FF2B5EF4-FFF2-40B4-BE49-F238E27FC236}">
                <a16:creationId xmlns:a16="http://schemas.microsoft.com/office/drawing/2014/main" id="{52BDBECE-90DF-3DD7-EC2F-65C2117946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2728" y="1069213"/>
            <a:ext cx="2687731" cy="5679058"/>
          </a:xfrm>
          <a:prstGeom prst="rect">
            <a:avLst/>
          </a:prstGeom>
          <a:ln>
            <a:noFill/>
          </a:ln>
          <a:effectLst>
            <a:outerShdw blurRad="190500" algn="tl" rotWithShape="0">
              <a:srgbClr val="000000">
                <a:alpha val="70000"/>
              </a:srgbClr>
            </a:outerShdw>
          </a:effectLst>
        </p:spPr>
      </p:pic>
      <p:cxnSp>
        <p:nvCxnSpPr>
          <p:cNvPr id="15" name="Straight Arrow Connector 14">
            <a:extLst>
              <a:ext uri="{FF2B5EF4-FFF2-40B4-BE49-F238E27FC236}">
                <a16:creationId xmlns:a16="http://schemas.microsoft.com/office/drawing/2014/main" id="{00D4C21C-75D9-4FD2-54A9-F4F909E5DC9B}"/>
              </a:ext>
            </a:extLst>
          </p:cNvPr>
          <p:cNvCxnSpPr>
            <a:cxnSpLocks/>
          </p:cNvCxnSpPr>
          <p:nvPr/>
        </p:nvCxnSpPr>
        <p:spPr>
          <a:xfrm>
            <a:off x="1188720" y="3081528"/>
            <a:ext cx="2248511" cy="827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D9B5904-9D3D-DF82-543D-FB06236E78D2}"/>
              </a:ext>
            </a:extLst>
          </p:cNvPr>
          <p:cNvSpPr txBox="1"/>
          <p:nvPr/>
        </p:nvSpPr>
        <p:spPr>
          <a:xfrm>
            <a:off x="3172968" y="3908742"/>
            <a:ext cx="2532888" cy="1384995"/>
          </a:xfrm>
          <a:prstGeom prst="rect">
            <a:avLst/>
          </a:prstGeom>
          <a:noFill/>
        </p:spPr>
        <p:txBody>
          <a:bodyPr wrap="square" rtlCol="0">
            <a:spAutoFit/>
          </a:bodyPr>
          <a:lstStyle/>
          <a:p>
            <a:pPr algn="just"/>
            <a:r>
              <a:rPr lang="en-US" sz="1400" dirty="0"/>
              <a:t>Once the citizens log in successfully, they will see a "New Forms" button. By selecting this button, a list of available forms will be displayed.</a:t>
            </a:r>
            <a:endParaRPr lang="en-IN" sz="1400" dirty="0"/>
          </a:p>
        </p:txBody>
      </p:sp>
      <p:cxnSp>
        <p:nvCxnSpPr>
          <p:cNvPr id="19" name="Straight Arrow Connector 18">
            <a:extLst>
              <a:ext uri="{FF2B5EF4-FFF2-40B4-BE49-F238E27FC236}">
                <a16:creationId xmlns:a16="http://schemas.microsoft.com/office/drawing/2014/main" id="{5257167B-BE29-F817-4CF6-27782B454DFF}"/>
              </a:ext>
            </a:extLst>
          </p:cNvPr>
          <p:cNvCxnSpPr>
            <a:cxnSpLocks/>
          </p:cNvCxnSpPr>
          <p:nvPr/>
        </p:nvCxnSpPr>
        <p:spPr>
          <a:xfrm>
            <a:off x="7915656" y="2816352"/>
            <a:ext cx="1984248" cy="5303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17C9513-008E-06BC-7734-338DFAD59987}"/>
              </a:ext>
            </a:extLst>
          </p:cNvPr>
          <p:cNvSpPr txBox="1"/>
          <p:nvPr/>
        </p:nvSpPr>
        <p:spPr>
          <a:xfrm>
            <a:off x="9195816" y="3346704"/>
            <a:ext cx="2532888" cy="738664"/>
          </a:xfrm>
          <a:prstGeom prst="rect">
            <a:avLst/>
          </a:prstGeom>
          <a:noFill/>
        </p:spPr>
        <p:txBody>
          <a:bodyPr wrap="square" rtlCol="0">
            <a:spAutoFit/>
          </a:bodyPr>
          <a:lstStyle/>
          <a:p>
            <a:pPr algn="just"/>
            <a:r>
              <a:rPr lang="en-US" sz="1400" dirty="0"/>
              <a:t>Citizens can choose a form from the list and proceed to fill in the required details.</a:t>
            </a:r>
            <a:endParaRPr lang="en-IN" sz="1400" dirty="0"/>
          </a:p>
        </p:txBody>
      </p:sp>
      <p:pic>
        <p:nvPicPr>
          <p:cNvPr id="21" name="Picture 20">
            <a:extLst>
              <a:ext uri="{FF2B5EF4-FFF2-40B4-BE49-F238E27FC236}">
                <a16:creationId xmlns:a16="http://schemas.microsoft.com/office/drawing/2014/main" id="{6EB384C7-7597-F348-9D51-D8660F244BC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3363909">
            <a:off x="4199090" y="2863846"/>
            <a:ext cx="705296" cy="685608"/>
          </a:xfrm>
          <a:prstGeom prst="rect">
            <a:avLst/>
          </a:prstGeom>
        </p:spPr>
      </p:pic>
    </p:spTree>
    <p:extLst>
      <p:ext uri="{BB962C8B-B14F-4D97-AF65-F5344CB8AC3E}">
        <p14:creationId xmlns:p14="http://schemas.microsoft.com/office/powerpoint/2010/main" val="2151316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54D676F-C25F-4AC7-281D-F24A92DFDD86}"/>
              </a:ext>
            </a:extLst>
          </p:cNvPr>
          <p:cNvSpPr>
            <a:spLocks noGrp="1"/>
          </p:cNvSpPr>
          <p:nvPr>
            <p:ph type="title"/>
          </p:nvPr>
        </p:nvSpPr>
        <p:spPr>
          <a:xfrm>
            <a:off x="225552" y="227965"/>
            <a:ext cx="10515600" cy="558419"/>
          </a:xfrm>
        </p:spPr>
        <p:txBody>
          <a:bodyPr>
            <a:normAutofit/>
          </a:bodyPr>
          <a:lstStyle/>
          <a:p>
            <a:r>
              <a:rPr lang="en-IN" sz="3200" dirty="0"/>
              <a:t>Citizen – Mobile Work-flow</a:t>
            </a:r>
          </a:p>
        </p:txBody>
      </p:sp>
      <p:pic>
        <p:nvPicPr>
          <p:cNvPr id="6" name="Picture 5">
            <a:extLst>
              <a:ext uri="{FF2B5EF4-FFF2-40B4-BE49-F238E27FC236}">
                <a16:creationId xmlns:a16="http://schemas.microsoft.com/office/drawing/2014/main" id="{094E558A-D4CB-EB60-4761-F2BCCFA3BD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598" y="1014982"/>
            <a:ext cx="2561846" cy="5504349"/>
          </a:xfrm>
          <a:prstGeom prst="rect">
            <a:avLst/>
          </a:prstGeom>
        </p:spPr>
      </p:pic>
      <p:pic>
        <p:nvPicPr>
          <p:cNvPr id="8" name="Picture 7">
            <a:extLst>
              <a:ext uri="{FF2B5EF4-FFF2-40B4-BE49-F238E27FC236}">
                <a16:creationId xmlns:a16="http://schemas.microsoft.com/office/drawing/2014/main" id="{898DBE39-0DC6-7E88-8CB5-EF41EF17A0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4958" y="1014983"/>
            <a:ext cx="2695092" cy="5504349"/>
          </a:xfrm>
          <a:prstGeom prst="rect">
            <a:avLst/>
          </a:prstGeom>
        </p:spPr>
      </p:pic>
      <p:cxnSp>
        <p:nvCxnSpPr>
          <p:cNvPr id="12" name="Straight Arrow Connector 11">
            <a:extLst>
              <a:ext uri="{FF2B5EF4-FFF2-40B4-BE49-F238E27FC236}">
                <a16:creationId xmlns:a16="http://schemas.microsoft.com/office/drawing/2014/main" id="{3D4FF4F0-27F3-2611-1274-5E352013393C}"/>
              </a:ext>
            </a:extLst>
          </p:cNvPr>
          <p:cNvCxnSpPr>
            <a:cxnSpLocks/>
          </p:cNvCxnSpPr>
          <p:nvPr/>
        </p:nvCxnSpPr>
        <p:spPr>
          <a:xfrm flipV="1">
            <a:off x="2689304" y="4817533"/>
            <a:ext cx="1044496" cy="15240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A61AA3D-805E-760C-CE4B-AD0593E7A021}"/>
              </a:ext>
            </a:extLst>
          </p:cNvPr>
          <p:cNvSpPr txBox="1"/>
          <p:nvPr/>
        </p:nvSpPr>
        <p:spPr>
          <a:xfrm>
            <a:off x="3474592" y="4150156"/>
            <a:ext cx="1776558" cy="954107"/>
          </a:xfrm>
          <a:prstGeom prst="rect">
            <a:avLst/>
          </a:prstGeom>
          <a:noFill/>
        </p:spPr>
        <p:txBody>
          <a:bodyPr wrap="square" rtlCol="0">
            <a:spAutoFit/>
          </a:bodyPr>
          <a:lstStyle/>
          <a:p>
            <a:pPr algn="just"/>
            <a:r>
              <a:rPr lang="en-US" sz="1400" dirty="0"/>
              <a:t>Citizen first selects the location where they want to take service</a:t>
            </a:r>
            <a:endParaRPr lang="en-IN" sz="1400" dirty="0"/>
          </a:p>
        </p:txBody>
      </p:sp>
      <p:cxnSp>
        <p:nvCxnSpPr>
          <p:cNvPr id="19" name="Straight Arrow Connector 18">
            <a:extLst>
              <a:ext uri="{FF2B5EF4-FFF2-40B4-BE49-F238E27FC236}">
                <a16:creationId xmlns:a16="http://schemas.microsoft.com/office/drawing/2014/main" id="{8C6F851D-4982-52AB-4070-3FA69534AA26}"/>
              </a:ext>
            </a:extLst>
          </p:cNvPr>
          <p:cNvCxnSpPr>
            <a:cxnSpLocks/>
          </p:cNvCxnSpPr>
          <p:nvPr/>
        </p:nvCxnSpPr>
        <p:spPr>
          <a:xfrm flipV="1">
            <a:off x="9271000" y="4817533"/>
            <a:ext cx="913787" cy="14393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DE3A32D-CC29-84E6-7ABF-3805E2AFADB6}"/>
              </a:ext>
            </a:extLst>
          </p:cNvPr>
          <p:cNvSpPr txBox="1"/>
          <p:nvPr/>
        </p:nvSpPr>
        <p:spPr>
          <a:xfrm>
            <a:off x="9925579" y="4150156"/>
            <a:ext cx="1776558" cy="523220"/>
          </a:xfrm>
          <a:prstGeom prst="rect">
            <a:avLst/>
          </a:prstGeom>
          <a:noFill/>
        </p:spPr>
        <p:txBody>
          <a:bodyPr wrap="square" rtlCol="0">
            <a:spAutoFit/>
          </a:bodyPr>
          <a:lstStyle/>
          <a:p>
            <a:pPr algn="just"/>
            <a:r>
              <a:rPr lang="en-US" sz="1400" dirty="0"/>
              <a:t>Citizens fill in the required details</a:t>
            </a:r>
            <a:endParaRPr lang="en-IN" sz="1400" dirty="0"/>
          </a:p>
        </p:txBody>
      </p:sp>
      <p:pic>
        <p:nvPicPr>
          <p:cNvPr id="22" name="Picture 21">
            <a:extLst>
              <a:ext uri="{FF2B5EF4-FFF2-40B4-BE49-F238E27FC236}">
                <a16:creationId xmlns:a16="http://schemas.microsoft.com/office/drawing/2014/main" id="{CAE78CBB-4E14-85C6-5F52-9BECD69422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3363909">
            <a:off x="4406853" y="2933253"/>
            <a:ext cx="705296" cy="685608"/>
          </a:xfrm>
          <a:prstGeom prst="rect">
            <a:avLst/>
          </a:prstGeom>
        </p:spPr>
      </p:pic>
    </p:spTree>
    <p:extLst>
      <p:ext uri="{BB962C8B-B14F-4D97-AF65-F5344CB8AC3E}">
        <p14:creationId xmlns:p14="http://schemas.microsoft.com/office/powerpoint/2010/main" val="2561216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D876D-F2F1-C782-F9DE-C11E96A829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8F42FF-A529-D662-970E-385BC9A01D33}"/>
              </a:ext>
            </a:extLst>
          </p:cNvPr>
          <p:cNvSpPr>
            <a:spLocks noGrp="1"/>
          </p:cNvSpPr>
          <p:nvPr>
            <p:ph type="title"/>
          </p:nvPr>
        </p:nvSpPr>
        <p:spPr>
          <a:xfrm>
            <a:off x="225552" y="227965"/>
            <a:ext cx="10515600" cy="558419"/>
          </a:xfrm>
        </p:spPr>
        <p:txBody>
          <a:bodyPr>
            <a:normAutofit/>
          </a:bodyPr>
          <a:lstStyle/>
          <a:p>
            <a:r>
              <a:rPr lang="en-IN" sz="3200" dirty="0"/>
              <a:t>Citizen – Mobile Work-flow</a:t>
            </a:r>
          </a:p>
        </p:txBody>
      </p:sp>
      <p:pic>
        <p:nvPicPr>
          <p:cNvPr id="13" name="Picture 12">
            <a:extLst>
              <a:ext uri="{FF2B5EF4-FFF2-40B4-BE49-F238E27FC236}">
                <a16:creationId xmlns:a16="http://schemas.microsoft.com/office/drawing/2014/main" id="{589DA905-1019-3B07-B72E-CC06280D0B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554" y="1069213"/>
            <a:ext cx="2687732" cy="5679058"/>
          </a:xfrm>
          <a:prstGeom prst="rect">
            <a:avLst/>
          </a:prstGeom>
          <a:ln>
            <a:noFill/>
          </a:ln>
          <a:effectLst>
            <a:outerShdw blurRad="190500" algn="tl" rotWithShape="0">
              <a:srgbClr val="000000">
                <a:alpha val="70000"/>
              </a:srgbClr>
            </a:outerShdw>
          </a:effectLst>
        </p:spPr>
      </p:pic>
      <p:cxnSp>
        <p:nvCxnSpPr>
          <p:cNvPr id="10" name="Straight Arrow Connector 9">
            <a:extLst>
              <a:ext uri="{FF2B5EF4-FFF2-40B4-BE49-F238E27FC236}">
                <a16:creationId xmlns:a16="http://schemas.microsoft.com/office/drawing/2014/main" id="{343A8C5C-5886-2614-568E-2D0AF8A51D48}"/>
              </a:ext>
            </a:extLst>
          </p:cNvPr>
          <p:cNvCxnSpPr>
            <a:cxnSpLocks/>
          </p:cNvCxnSpPr>
          <p:nvPr/>
        </p:nvCxnSpPr>
        <p:spPr>
          <a:xfrm>
            <a:off x="3357286" y="3040698"/>
            <a:ext cx="693620" cy="278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AAD4772-F623-98D4-1EDD-ED13762D2536}"/>
              </a:ext>
            </a:extLst>
          </p:cNvPr>
          <p:cNvSpPr txBox="1"/>
          <p:nvPr/>
        </p:nvSpPr>
        <p:spPr>
          <a:xfrm>
            <a:off x="3665136" y="3346704"/>
            <a:ext cx="2532888" cy="2677656"/>
          </a:xfrm>
          <a:prstGeom prst="rect">
            <a:avLst/>
          </a:prstGeom>
          <a:noFill/>
        </p:spPr>
        <p:txBody>
          <a:bodyPr wrap="square" rtlCol="0">
            <a:spAutoFit/>
          </a:bodyPr>
          <a:lstStyle/>
          <a:p>
            <a:pPr algn="just"/>
            <a:r>
              <a:rPr lang="en-US" sz="1400" dirty="0"/>
              <a:t>The system Calculates the distance between the location where the citizen submitted the request and the cluster office. </a:t>
            </a:r>
          </a:p>
          <a:p>
            <a:pPr algn="just"/>
            <a:r>
              <a:rPr lang="en-US" sz="1400" dirty="0"/>
              <a:t>Based on this distance, the amount is automatically calculated.</a:t>
            </a:r>
          </a:p>
          <a:p>
            <a:pPr algn="just"/>
            <a:endParaRPr lang="en-US" sz="1400" dirty="0"/>
          </a:p>
          <a:p>
            <a:pPr algn="just"/>
            <a:r>
              <a:rPr lang="en-IN" sz="1400" dirty="0">
                <a:solidFill>
                  <a:srgbClr val="002060"/>
                </a:solidFill>
              </a:rPr>
              <a:t>After submitting the request the request will shown on the department cluster officer on the web panel. </a:t>
            </a:r>
          </a:p>
        </p:txBody>
      </p:sp>
      <p:pic>
        <p:nvPicPr>
          <p:cNvPr id="8" name="Picture 7">
            <a:extLst>
              <a:ext uri="{FF2B5EF4-FFF2-40B4-BE49-F238E27FC236}">
                <a16:creationId xmlns:a16="http://schemas.microsoft.com/office/drawing/2014/main" id="{262FF975-93CF-ADF2-7732-12FBD7F9D7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8638" y="1069213"/>
            <a:ext cx="2687732" cy="5673775"/>
          </a:xfrm>
          <a:prstGeom prst="rect">
            <a:avLst/>
          </a:prstGeom>
          <a:ln>
            <a:noFill/>
          </a:ln>
          <a:effectLst>
            <a:outerShdw blurRad="190500" algn="tl" rotWithShape="0">
              <a:srgbClr val="000000">
                <a:alpha val="70000"/>
              </a:srgbClr>
            </a:outerShdw>
          </a:effectLst>
        </p:spPr>
      </p:pic>
      <p:cxnSp>
        <p:nvCxnSpPr>
          <p:cNvPr id="9" name="Straight Arrow Connector 8">
            <a:extLst>
              <a:ext uri="{FF2B5EF4-FFF2-40B4-BE49-F238E27FC236}">
                <a16:creationId xmlns:a16="http://schemas.microsoft.com/office/drawing/2014/main" id="{B48D83FC-CAA7-9BBE-3723-A4F6BF9881E5}"/>
              </a:ext>
            </a:extLst>
          </p:cNvPr>
          <p:cNvCxnSpPr>
            <a:cxnSpLocks/>
          </p:cNvCxnSpPr>
          <p:nvPr/>
        </p:nvCxnSpPr>
        <p:spPr>
          <a:xfrm>
            <a:off x="9273364" y="2734692"/>
            <a:ext cx="693620" cy="278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E8155DF-B0EF-75E9-31A4-1713166FC108}"/>
              </a:ext>
            </a:extLst>
          </p:cNvPr>
          <p:cNvSpPr txBox="1"/>
          <p:nvPr/>
        </p:nvSpPr>
        <p:spPr>
          <a:xfrm>
            <a:off x="9581214" y="3040698"/>
            <a:ext cx="2532888" cy="523220"/>
          </a:xfrm>
          <a:prstGeom prst="rect">
            <a:avLst/>
          </a:prstGeom>
          <a:noFill/>
        </p:spPr>
        <p:txBody>
          <a:bodyPr wrap="square" rtlCol="0">
            <a:spAutoFit/>
          </a:bodyPr>
          <a:lstStyle/>
          <a:p>
            <a:pPr algn="just"/>
            <a:r>
              <a:rPr lang="en-IN" sz="1400" dirty="0"/>
              <a:t>Citizens can see their submitted request</a:t>
            </a:r>
            <a:endParaRPr lang="en-IN" sz="1400" dirty="0">
              <a:solidFill>
                <a:srgbClr val="002060"/>
              </a:solidFill>
            </a:endParaRPr>
          </a:p>
        </p:txBody>
      </p:sp>
      <p:pic>
        <p:nvPicPr>
          <p:cNvPr id="16" name="Picture 15">
            <a:extLst>
              <a:ext uri="{FF2B5EF4-FFF2-40B4-BE49-F238E27FC236}">
                <a16:creationId xmlns:a16="http://schemas.microsoft.com/office/drawing/2014/main" id="{17FABD76-AFB1-61B3-CFA1-C0C12F3E2F3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3363909">
            <a:off x="4695315" y="2595098"/>
            <a:ext cx="705296" cy="685608"/>
          </a:xfrm>
          <a:prstGeom prst="rect">
            <a:avLst/>
          </a:prstGeom>
        </p:spPr>
      </p:pic>
    </p:spTree>
    <p:extLst>
      <p:ext uri="{BB962C8B-B14F-4D97-AF65-F5344CB8AC3E}">
        <p14:creationId xmlns:p14="http://schemas.microsoft.com/office/powerpoint/2010/main" val="4056517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1D2EA0D-2653-2F3E-A2B7-F7010726DCAE}"/>
              </a:ext>
            </a:extLst>
          </p:cNvPr>
          <p:cNvSpPr>
            <a:spLocks noGrp="1"/>
          </p:cNvSpPr>
          <p:nvPr>
            <p:ph type="title"/>
          </p:nvPr>
        </p:nvSpPr>
        <p:spPr>
          <a:xfrm>
            <a:off x="115824" y="81661"/>
            <a:ext cx="10515600" cy="659003"/>
          </a:xfrm>
        </p:spPr>
        <p:txBody>
          <a:bodyPr>
            <a:normAutofit/>
          </a:bodyPr>
          <a:lstStyle/>
          <a:p>
            <a:r>
              <a:rPr lang="en-IN" sz="3200" dirty="0"/>
              <a:t>Web Panel for Cluster officer assigns the request</a:t>
            </a:r>
          </a:p>
        </p:txBody>
      </p:sp>
      <p:sp>
        <p:nvSpPr>
          <p:cNvPr id="8" name="TextBox 7">
            <a:extLst>
              <a:ext uri="{FF2B5EF4-FFF2-40B4-BE49-F238E27FC236}">
                <a16:creationId xmlns:a16="http://schemas.microsoft.com/office/drawing/2014/main" id="{0ECB19CA-5CF1-507E-E4DB-A667E9C16F9E}"/>
              </a:ext>
            </a:extLst>
          </p:cNvPr>
          <p:cNvSpPr txBox="1"/>
          <p:nvPr/>
        </p:nvSpPr>
        <p:spPr>
          <a:xfrm>
            <a:off x="161976" y="846903"/>
            <a:ext cx="10919244" cy="369332"/>
          </a:xfrm>
          <a:prstGeom prst="rect">
            <a:avLst/>
          </a:prstGeom>
          <a:noFill/>
        </p:spPr>
        <p:txBody>
          <a:bodyPr wrap="square">
            <a:spAutoFit/>
          </a:bodyPr>
          <a:lstStyle/>
          <a:p>
            <a:pPr defTabSz="609630"/>
            <a:r>
              <a:rPr lang="en-IN" sz="1800" b="1" dirty="0">
                <a:solidFill>
                  <a:prstClr val="black"/>
                </a:solidFill>
                <a:latin typeface="Calibri"/>
              </a:rPr>
              <a:t>Cluster Admin/Supervisor will assign the sites/assets to the Vehicle-</a:t>
            </a:r>
            <a:r>
              <a:rPr lang="en-IN" sz="1800" b="1" dirty="0" err="1">
                <a:solidFill>
                  <a:prstClr val="black"/>
                </a:solidFill>
                <a:latin typeface="Calibri"/>
              </a:rPr>
              <a:t>Incharge</a:t>
            </a:r>
            <a:r>
              <a:rPr lang="en-IN" sz="1800" b="1" dirty="0">
                <a:solidFill>
                  <a:prstClr val="black"/>
                </a:solidFill>
                <a:latin typeface="Calibri"/>
              </a:rPr>
              <a:t> to conduct the cleaning</a:t>
            </a:r>
          </a:p>
        </p:txBody>
      </p:sp>
      <p:pic>
        <p:nvPicPr>
          <p:cNvPr id="7" name="Picture 6">
            <a:extLst>
              <a:ext uri="{FF2B5EF4-FFF2-40B4-BE49-F238E27FC236}">
                <a16:creationId xmlns:a16="http://schemas.microsoft.com/office/drawing/2014/main" id="{4F54473E-F2C5-8A10-D7E0-34F0849F7E51}"/>
              </a:ext>
            </a:extLst>
          </p:cNvPr>
          <p:cNvPicPr>
            <a:picLocks noChangeAspect="1"/>
          </p:cNvPicPr>
          <p:nvPr/>
        </p:nvPicPr>
        <p:blipFill>
          <a:blip r:embed="rId2"/>
          <a:stretch>
            <a:fillRect/>
          </a:stretch>
        </p:blipFill>
        <p:spPr>
          <a:xfrm>
            <a:off x="198552" y="1197218"/>
            <a:ext cx="11794896" cy="556934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385347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70855-77AA-871B-4C06-65B38E57559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8AD421D-D661-6293-D202-274EAB02BE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216" y="1023493"/>
            <a:ext cx="2687731" cy="5679058"/>
          </a:xfrm>
          <a:prstGeom prst="rect">
            <a:avLst/>
          </a:prstGeom>
          <a:ln>
            <a:noFill/>
          </a:ln>
          <a:effectLst>
            <a:outerShdw blurRad="190500" algn="tl" rotWithShape="0">
              <a:srgbClr val="000000">
                <a:alpha val="70000"/>
              </a:srgbClr>
            </a:outerShdw>
          </a:effectLst>
        </p:spPr>
      </p:pic>
      <p:pic>
        <p:nvPicPr>
          <p:cNvPr id="10" name="Picture 9">
            <a:extLst>
              <a:ext uri="{FF2B5EF4-FFF2-40B4-BE49-F238E27FC236}">
                <a16:creationId xmlns:a16="http://schemas.microsoft.com/office/drawing/2014/main" id="{FC6D5631-213D-A37E-B294-AD9673DDC5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0785" y="1023493"/>
            <a:ext cx="2692850" cy="5834507"/>
          </a:xfrm>
          <a:prstGeom prst="rect">
            <a:avLst/>
          </a:prstGeom>
          <a:ln>
            <a:noFill/>
          </a:ln>
          <a:effectLst>
            <a:outerShdw blurRad="190500" algn="tl" rotWithShape="0">
              <a:srgbClr val="000000">
                <a:alpha val="70000"/>
              </a:srgbClr>
            </a:outerShdw>
          </a:effectLst>
        </p:spPr>
      </p:pic>
      <p:cxnSp>
        <p:nvCxnSpPr>
          <p:cNvPr id="11" name="Straight Arrow Connector 10">
            <a:extLst>
              <a:ext uri="{FF2B5EF4-FFF2-40B4-BE49-F238E27FC236}">
                <a16:creationId xmlns:a16="http://schemas.microsoft.com/office/drawing/2014/main" id="{3CCDAFB2-4CB8-D6B8-13E9-732EEA483515}"/>
              </a:ext>
            </a:extLst>
          </p:cNvPr>
          <p:cNvCxnSpPr>
            <a:cxnSpLocks/>
          </p:cNvCxnSpPr>
          <p:nvPr/>
        </p:nvCxnSpPr>
        <p:spPr>
          <a:xfrm>
            <a:off x="2780478" y="2815217"/>
            <a:ext cx="972212" cy="1381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C6BA62E-E721-E6E3-B999-662900D9D3CA}"/>
              </a:ext>
            </a:extLst>
          </p:cNvPr>
          <p:cNvSpPr txBox="1"/>
          <p:nvPr/>
        </p:nvSpPr>
        <p:spPr>
          <a:xfrm>
            <a:off x="3088328" y="4271705"/>
            <a:ext cx="2532888" cy="1169551"/>
          </a:xfrm>
          <a:prstGeom prst="rect">
            <a:avLst/>
          </a:prstGeom>
          <a:noFill/>
        </p:spPr>
        <p:txBody>
          <a:bodyPr wrap="square" rtlCol="0">
            <a:spAutoFit/>
          </a:bodyPr>
          <a:lstStyle/>
          <a:p>
            <a:pPr algn="just"/>
            <a:r>
              <a:rPr lang="hi-IN" sz="1400" dirty="0"/>
              <a:t>स्वच्छता</a:t>
            </a:r>
            <a:r>
              <a:rPr lang="en-IN" sz="1400" dirty="0"/>
              <a:t> </a:t>
            </a:r>
            <a:r>
              <a:rPr lang="hi-IN" sz="1400" dirty="0"/>
              <a:t>साथी</a:t>
            </a:r>
            <a:r>
              <a:rPr lang="en-IN" sz="1400" dirty="0"/>
              <a:t> </a:t>
            </a:r>
            <a:r>
              <a:rPr lang="en-US" sz="1400" dirty="0"/>
              <a:t>Visualize the cleaning request.</a:t>
            </a:r>
          </a:p>
          <a:p>
            <a:pPr algn="just"/>
            <a:r>
              <a:rPr lang="en-US" sz="1400" dirty="0"/>
              <a:t>On “Click” Request the GIS map view opens and shows the path. </a:t>
            </a:r>
          </a:p>
          <a:p>
            <a:pPr algn="just"/>
            <a:endParaRPr lang="en-IN" sz="1400" dirty="0"/>
          </a:p>
        </p:txBody>
      </p:sp>
      <p:sp>
        <p:nvSpPr>
          <p:cNvPr id="13" name="Title 4">
            <a:extLst>
              <a:ext uri="{FF2B5EF4-FFF2-40B4-BE49-F238E27FC236}">
                <a16:creationId xmlns:a16="http://schemas.microsoft.com/office/drawing/2014/main" id="{6895473A-6471-EE7F-EBFC-1EB501B3E9B3}"/>
              </a:ext>
            </a:extLst>
          </p:cNvPr>
          <p:cNvSpPr txBox="1">
            <a:spLocks/>
          </p:cNvSpPr>
          <p:nvPr/>
        </p:nvSpPr>
        <p:spPr>
          <a:xfrm>
            <a:off x="107384" y="21273"/>
            <a:ext cx="10515600" cy="6590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i-IN" sz="3200" dirty="0"/>
              <a:t>स्वच्छता</a:t>
            </a:r>
            <a:r>
              <a:rPr lang="en-IN" sz="3200" dirty="0"/>
              <a:t> </a:t>
            </a:r>
            <a:r>
              <a:rPr lang="hi-IN" sz="3200" dirty="0"/>
              <a:t>साथी</a:t>
            </a:r>
            <a:r>
              <a:rPr lang="en-IN" sz="3200" dirty="0"/>
              <a:t> </a:t>
            </a:r>
            <a:r>
              <a:rPr lang="en-US" sz="3200" dirty="0"/>
              <a:t>conducts the cleaning work and submits </a:t>
            </a:r>
            <a:endParaRPr lang="en-IN" sz="3200" dirty="0"/>
          </a:p>
        </p:txBody>
      </p:sp>
      <p:sp>
        <p:nvSpPr>
          <p:cNvPr id="14" name="TextBox 13">
            <a:extLst>
              <a:ext uri="{FF2B5EF4-FFF2-40B4-BE49-F238E27FC236}">
                <a16:creationId xmlns:a16="http://schemas.microsoft.com/office/drawing/2014/main" id="{8BF5FB4C-BCE2-ABF4-0603-D08B5C4FFC45}"/>
              </a:ext>
            </a:extLst>
          </p:cNvPr>
          <p:cNvSpPr txBox="1"/>
          <p:nvPr/>
        </p:nvSpPr>
        <p:spPr>
          <a:xfrm>
            <a:off x="9550088" y="3093791"/>
            <a:ext cx="2532888" cy="738664"/>
          </a:xfrm>
          <a:prstGeom prst="rect">
            <a:avLst/>
          </a:prstGeom>
          <a:noFill/>
        </p:spPr>
        <p:txBody>
          <a:bodyPr wrap="square" rtlCol="0">
            <a:spAutoFit/>
          </a:bodyPr>
          <a:lstStyle/>
          <a:p>
            <a:pPr algn="just"/>
            <a:r>
              <a:rPr lang="en-US" sz="1400" dirty="0"/>
              <a:t>On “Click” Request the GIS map view opens and shows the path. </a:t>
            </a:r>
          </a:p>
          <a:p>
            <a:pPr algn="just"/>
            <a:endParaRPr lang="en-IN" sz="1400" dirty="0"/>
          </a:p>
        </p:txBody>
      </p:sp>
      <p:cxnSp>
        <p:nvCxnSpPr>
          <p:cNvPr id="15" name="Straight Arrow Connector 14">
            <a:extLst>
              <a:ext uri="{FF2B5EF4-FFF2-40B4-BE49-F238E27FC236}">
                <a16:creationId xmlns:a16="http://schemas.microsoft.com/office/drawing/2014/main" id="{B4D06E6A-0EE5-54E2-F205-68D6AB7D853D}"/>
              </a:ext>
            </a:extLst>
          </p:cNvPr>
          <p:cNvCxnSpPr>
            <a:cxnSpLocks/>
          </p:cNvCxnSpPr>
          <p:nvPr/>
        </p:nvCxnSpPr>
        <p:spPr>
          <a:xfrm>
            <a:off x="9263635" y="2800048"/>
            <a:ext cx="693620" cy="2785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A22828BF-AF58-8052-A0A5-99B5FB155C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3363909">
            <a:off x="4251297" y="2948342"/>
            <a:ext cx="705296" cy="685608"/>
          </a:xfrm>
          <a:prstGeom prst="rect">
            <a:avLst/>
          </a:prstGeom>
        </p:spPr>
      </p:pic>
    </p:spTree>
    <p:extLst>
      <p:ext uri="{BB962C8B-B14F-4D97-AF65-F5344CB8AC3E}">
        <p14:creationId xmlns:p14="http://schemas.microsoft.com/office/powerpoint/2010/main" val="3776328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8D88F-7CC5-CB39-FD31-B27EF43DB02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4CAFFD1-4C81-2542-2778-09D021345D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634" y="877189"/>
            <a:ext cx="2687731" cy="5834507"/>
          </a:xfrm>
          <a:prstGeom prst="rect">
            <a:avLst/>
          </a:prstGeom>
          <a:ln>
            <a:noFill/>
          </a:ln>
          <a:effectLst>
            <a:outerShdw blurRad="190500" algn="tl" rotWithShape="0">
              <a:srgbClr val="000000">
                <a:alpha val="70000"/>
              </a:srgbClr>
            </a:outerShdw>
          </a:effectLst>
        </p:spPr>
      </p:pic>
      <p:pic>
        <p:nvPicPr>
          <p:cNvPr id="7" name="Picture 6">
            <a:extLst>
              <a:ext uri="{FF2B5EF4-FFF2-40B4-BE49-F238E27FC236}">
                <a16:creationId xmlns:a16="http://schemas.microsoft.com/office/drawing/2014/main" id="{3F8245AE-EBA3-34C7-97AD-962BF21008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21318" y="831786"/>
            <a:ext cx="2687731" cy="5925312"/>
          </a:xfrm>
          <a:prstGeom prst="rect">
            <a:avLst/>
          </a:prstGeom>
          <a:ln>
            <a:noFill/>
          </a:ln>
          <a:effectLst>
            <a:outerShdw blurRad="190500" algn="tl" rotWithShape="0">
              <a:srgbClr val="000000">
                <a:alpha val="70000"/>
              </a:srgbClr>
            </a:outerShdw>
          </a:effectLst>
        </p:spPr>
      </p:pic>
      <p:sp>
        <p:nvSpPr>
          <p:cNvPr id="11" name="Title 4">
            <a:extLst>
              <a:ext uri="{FF2B5EF4-FFF2-40B4-BE49-F238E27FC236}">
                <a16:creationId xmlns:a16="http://schemas.microsoft.com/office/drawing/2014/main" id="{456057E5-4B5D-6297-3468-96A03AA1D80C}"/>
              </a:ext>
            </a:extLst>
          </p:cNvPr>
          <p:cNvSpPr txBox="1">
            <a:spLocks/>
          </p:cNvSpPr>
          <p:nvPr/>
        </p:nvSpPr>
        <p:spPr>
          <a:xfrm>
            <a:off x="107384" y="21273"/>
            <a:ext cx="10515600" cy="6590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hi-IN" sz="3200" dirty="0"/>
              <a:t>स्वच्छता</a:t>
            </a:r>
            <a:r>
              <a:rPr lang="en-IN" sz="3200" dirty="0"/>
              <a:t> </a:t>
            </a:r>
            <a:r>
              <a:rPr lang="hi-IN" sz="3200" dirty="0"/>
              <a:t>साथी</a:t>
            </a:r>
            <a:r>
              <a:rPr lang="en-IN" sz="3200" dirty="0"/>
              <a:t> </a:t>
            </a:r>
            <a:r>
              <a:rPr lang="en-US" sz="3200" dirty="0"/>
              <a:t>conducts the cleaning work and submits </a:t>
            </a:r>
            <a:endParaRPr lang="en-IN" sz="3200" dirty="0"/>
          </a:p>
        </p:txBody>
      </p:sp>
      <p:cxnSp>
        <p:nvCxnSpPr>
          <p:cNvPr id="14" name="Straight Arrow Connector 13">
            <a:extLst>
              <a:ext uri="{FF2B5EF4-FFF2-40B4-BE49-F238E27FC236}">
                <a16:creationId xmlns:a16="http://schemas.microsoft.com/office/drawing/2014/main" id="{97267AC3-7F52-0EC3-46BB-9F56A5A09923}"/>
              </a:ext>
            </a:extLst>
          </p:cNvPr>
          <p:cNvCxnSpPr>
            <a:cxnSpLocks/>
          </p:cNvCxnSpPr>
          <p:nvPr/>
        </p:nvCxnSpPr>
        <p:spPr>
          <a:xfrm>
            <a:off x="6709049" y="3079401"/>
            <a:ext cx="1328527" cy="4136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F06D192-B763-4D3E-E569-0B6F0D18473F}"/>
              </a:ext>
            </a:extLst>
          </p:cNvPr>
          <p:cNvSpPr txBox="1"/>
          <p:nvPr/>
        </p:nvSpPr>
        <p:spPr>
          <a:xfrm>
            <a:off x="7182612" y="3493008"/>
            <a:ext cx="2793492" cy="954107"/>
          </a:xfrm>
          <a:prstGeom prst="rect">
            <a:avLst/>
          </a:prstGeom>
          <a:noFill/>
        </p:spPr>
        <p:txBody>
          <a:bodyPr wrap="square">
            <a:spAutoFit/>
          </a:bodyPr>
          <a:lstStyle/>
          <a:p>
            <a:pPr algn="just"/>
            <a:r>
              <a:rPr lang="en-US" sz="1400" dirty="0"/>
              <a:t>Conducts the cleaning work and submits the form along with the GEO-tagged photo in the mobile app.</a:t>
            </a:r>
          </a:p>
        </p:txBody>
      </p:sp>
      <p:pic>
        <p:nvPicPr>
          <p:cNvPr id="18" name="Picture 17">
            <a:extLst>
              <a:ext uri="{FF2B5EF4-FFF2-40B4-BE49-F238E27FC236}">
                <a16:creationId xmlns:a16="http://schemas.microsoft.com/office/drawing/2014/main" id="{AB51D76A-5D43-401C-6449-DCD60B7C72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3363909">
            <a:off x="3122193" y="3434498"/>
            <a:ext cx="705296" cy="685608"/>
          </a:xfrm>
          <a:prstGeom prst="rect">
            <a:avLst/>
          </a:prstGeom>
        </p:spPr>
      </p:pic>
    </p:spTree>
    <p:extLst>
      <p:ext uri="{BB962C8B-B14F-4D97-AF65-F5344CB8AC3E}">
        <p14:creationId xmlns:p14="http://schemas.microsoft.com/office/powerpoint/2010/main" val="3302785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9937B-4627-BD08-A3D9-508ED239287A}"/>
            </a:ext>
          </a:extLst>
        </p:cNvPr>
        <p:cNvGrpSpPr/>
        <p:nvPr/>
      </p:nvGrpSpPr>
      <p:grpSpPr>
        <a:xfrm>
          <a:off x="0" y="0"/>
          <a:ext cx="0" cy="0"/>
          <a:chOff x="0" y="0"/>
          <a:chExt cx="0" cy="0"/>
        </a:xfrm>
      </p:grpSpPr>
      <p:sp>
        <p:nvSpPr>
          <p:cNvPr id="11" name="Title 4">
            <a:extLst>
              <a:ext uri="{FF2B5EF4-FFF2-40B4-BE49-F238E27FC236}">
                <a16:creationId xmlns:a16="http://schemas.microsoft.com/office/drawing/2014/main" id="{EF4FC9F1-53D3-456E-D34F-E1522D4479A9}"/>
              </a:ext>
            </a:extLst>
          </p:cNvPr>
          <p:cNvSpPr txBox="1">
            <a:spLocks/>
          </p:cNvSpPr>
          <p:nvPr/>
        </p:nvSpPr>
        <p:spPr>
          <a:xfrm>
            <a:off x="107384" y="21273"/>
            <a:ext cx="10515600" cy="65900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dirty="0"/>
              <a:t>Department Admin</a:t>
            </a:r>
          </a:p>
        </p:txBody>
      </p:sp>
      <p:sp>
        <p:nvSpPr>
          <p:cNvPr id="5" name="TextBox 4">
            <a:extLst>
              <a:ext uri="{FF2B5EF4-FFF2-40B4-BE49-F238E27FC236}">
                <a16:creationId xmlns:a16="http://schemas.microsoft.com/office/drawing/2014/main" id="{7C87FCDE-9599-B6B6-F65F-5CB393F239C3}"/>
              </a:ext>
            </a:extLst>
          </p:cNvPr>
          <p:cNvSpPr txBox="1"/>
          <p:nvPr/>
        </p:nvSpPr>
        <p:spPr>
          <a:xfrm>
            <a:off x="107384" y="671623"/>
            <a:ext cx="10919244" cy="369332"/>
          </a:xfrm>
          <a:prstGeom prst="rect">
            <a:avLst/>
          </a:prstGeom>
          <a:noFill/>
        </p:spPr>
        <p:txBody>
          <a:bodyPr wrap="square">
            <a:spAutoFit/>
          </a:bodyPr>
          <a:lstStyle/>
          <a:p>
            <a:r>
              <a:rPr lang="en-IN" sz="1800" dirty="0"/>
              <a:t>Officer at the State and District Levels sees the cleaning work Status.</a:t>
            </a:r>
            <a:endParaRPr lang="en-US" sz="1800" dirty="0"/>
          </a:p>
        </p:txBody>
      </p:sp>
      <p:pic>
        <p:nvPicPr>
          <p:cNvPr id="9" name="Picture 8">
            <a:extLst>
              <a:ext uri="{FF2B5EF4-FFF2-40B4-BE49-F238E27FC236}">
                <a16:creationId xmlns:a16="http://schemas.microsoft.com/office/drawing/2014/main" id="{951E47C0-D456-FFBE-5A36-7E9A5B5C36DE}"/>
              </a:ext>
            </a:extLst>
          </p:cNvPr>
          <p:cNvPicPr>
            <a:picLocks noChangeAspect="1"/>
          </p:cNvPicPr>
          <p:nvPr/>
        </p:nvPicPr>
        <p:blipFill>
          <a:blip r:embed="rId2"/>
          <a:stretch>
            <a:fillRect/>
          </a:stretch>
        </p:blipFill>
        <p:spPr>
          <a:xfrm>
            <a:off x="197772" y="1102785"/>
            <a:ext cx="11664028" cy="538839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7660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14761</TotalTime>
  <Words>549</Words>
  <Application>Microsoft Office PowerPoint</Application>
  <PresentationFormat>Widescreen</PresentationFormat>
  <Paragraphs>48</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Microsoft Sans Serif</vt:lpstr>
      <vt:lpstr>Poppins</vt:lpstr>
      <vt:lpstr>Wingdings</vt:lpstr>
      <vt:lpstr>Office Theme</vt:lpstr>
      <vt:lpstr>PowerPoint Presentation</vt:lpstr>
      <vt:lpstr>PowerPoint Presentation</vt:lpstr>
      <vt:lpstr>Citizen – Mobile Work-flow</vt:lpstr>
      <vt:lpstr>Citizen – Mobile Work-flow</vt:lpstr>
      <vt:lpstr>Citizen – Mobile Work-flow</vt:lpstr>
      <vt:lpstr>Web Panel for Cluster officer assigns the request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Ajeet Singh</dc:creator>
  <cp:lastModifiedBy>Asif Khan</cp:lastModifiedBy>
  <cp:revision>11</cp:revision>
  <dcterms:created xsi:type="dcterms:W3CDTF">2024-10-25T07:51:20Z</dcterms:created>
  <dcterms:modified xsi:type="dcterms:W3CDTF">2025-08-20T06:11:37Z</dcterms:modified>
</cp:coreProperties>
</file>