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70" r:id="rId2"/>
    <p:sldId id="268" r:id="rId3"/>
    <p:sldId id="269" r:id="rId4"/>
    <p:sldId id="267" r:id="rId5"/>
    <p:sldId id="257" r:id="rId6"/>
    <p:sldId id="258" r:id="rId7"/>
    <p:sldId id="260" r:id="rId8"/>
    <p:sldId id="256" r:id="rId9"/>
    <p:sldId id="262" r:id="rId10"/>
    <p:sldId id="259" r:id="rId11"/>
    <p:sldId id="261" r:id="rId12"/>
    <p:sldId id="263" r:id="rId13"/>
    <p:sldId id="264" r:id="rId14"/>
    <p:sldId id="266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1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9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2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67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7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1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32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4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6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7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6090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61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8019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95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10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6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753ED-B492-49FA-B05A-577CF37BB47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E919E9B-0B9A-4650-A368-E33F781DD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2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4BA855-CF61-4F44-B8EF-0AD531D35F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800" y="1751299"/>
            <a:ext cx="4893386" cy="372950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22779" y="1454595"/>
            <a:ext cx="10031275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i-IN" sz="6600" b="1" dirty="0"/>
              <a:t>जन विश्वास अभियान</a:t>
            </a:r>
            <a:r>
              <a:rPr lang="en-US" sz="6600" b="1" dirty="0"/>
              <a:t>-2026</a:t>
            </a:r>
            <a:endParaRPr lang="hi-IN" sz="6600" b="1" dirty="0"/>
          </a:p>
          <a:p>
            <a:r>
              <a:rPr lang="en-US" sz="4000" b="1" dirty="0"/>
              <a:t>PARAKH </a:t>
            </a:r>
            <a:r>
              <a:rPr lang="hi-IN" sz="4000" b="1" dirty="0"/>
              <a:t>आधारित </a:t>
            </a:r>
            <a:r>
              <a:rPr lang="en-US" sz="4000" b="1" dirty="0"/>
              <a:t>Field Inspection &amp;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9A561-5B0C-44AE-AFC0-1A8AB696D4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1" y="119169"/>
            <a:ext cx="918323" cy="918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93C027-BAA5-437B-8A9E-0E83B1B92D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546" y="0"/>
            <a:ext cx="1749993" cy="13484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0328" y="5480807"/>
            <a:ext cx="1618211" cy="12801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31" y="4657847"/>
            <a:ext cx="1048708" cy="210312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81A3F56-39A1-48BA-A341-4F36B309EBCC}"/>
              </a:ext>
            </a:extLst>
          </p:cNvPr>
          <p:cNvSpPr/>
          <p:nvPr/>
        </p:nvSpPr>
        <p:spPr>
          <a:xfrm>
            <a:off x="2186474" y="5613055"/>
            <a:ext cx="61873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E14747"/>
                </a:solidFill>
                <a:latin typeface="Algerian" panose="04020705040A02060702" pitchFamily="82" charset="0"/>
                <a:ea typeface="Times New Roman" panose="02020603050405020304" pitchFamily="18" charset="0"/>
                <a:cs typeface="Times" panose="02020603050405020304" pitchFamily="18" charset="0"/>
              </a:rPr>
              <a:t>GWALIOR DIVISION</a:t>
            </a:r>
          </a:p>
          <a:p>
            <a:pPr algn="ctr"/>
            <a:r>
              <a:rPr lang="en-US" sz="1200" b="1" dirty="0">
                <a:solidFill>
                  <a:srgbClr val="002060"/>
                </a:solidFill>
              </a:rPr>
              <a:t>Guna, Ashoknagar, Datia, Shivpuri</a:t>
            </a:r>
          </a:p>
          <a:p>
            <a:pPr algn="ctr"/>
            <a:endParaRPr lang="en-US" sz="1200" b="1" dirty="0">
              <a:solidFill>
                <a:schemeClr val="accent5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Bahnschrift" panose="020B0502040204020203" pitchFamily="34" charset="0"/>
              </a:rPr>
              <a:t>ANKITA BHARDWAJ</a:t>
            </a:r>
          </a:p>
          <a:p>
            <a:pPr algn="ctr"/>
            <a:r>
              <a:rPr lang="en-US" sz="1200" b="1" dirty="0">
                <a:latin typeface="Bahnschrift" panose="020B0502040204020203" pitchFamily="34" charset="0"/>
              </a:rPr>
              <a:t>Designation – GIS Data Specialist </a:t>
            </a:r>
          </a:p>
        </p:txBody>
      </p:sp>
    </p:spTree>
    <p:extLst>
      <p:ext uri="{BB962C8B-B14F-4D97-AF65-F5344CB8AC3E}">
        <p14:creationId xmlns:p14="http://schemas.microsoft.com/office/powerpoint/2010/main" val="268723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2960" y="765846"/>
            <a:ext cx="8778240" cy="54575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i-IN" dirty="0"/>
              <a:t>जन विश्वास अभियान के अंतर्गत </a:t>
            </a:r>
            <a:r>
              <a:rPr lang="en-US" dirty="0"/>
              <a:t>field-level inspection </a:t>
            </a:r>
            <a:r>
              <a:rPr lang="hi-IN" dirty="0"/>
              <a:t>एवं </a:t>
            </a:r>
            <a:r>
              <a:rPr lang="en-US" dirty="0"/>
              <a:t>survey </a:t>
            </a:r>
            <a:r>
              <a:rPr lang="hi-IN" dirty="0"/>
              <a:t>को अधिक </a:t>
            </a:r>
            <a:r>
              <a:rPr lang="en-US" b="1" dirty="0"/>
              <a:t>systematic, transparent </a:t>
            </a:r>
            <a:r>
              <a:rPr lang="hi-IN" b="1" dirty="0"/>
              <a:t>और </a:t>
            </a:r>
            <a:r>
              <a:rPr lang="en-US" b="1" dirty="0"/>
              <a:t>evidence-based</a:t>
            </a:r>
            <a:r>
              <a:rPr lang="en-US" dirty="0"/>
              <a:t> </a:t>
            </a:r>
            <a:r>
              <a:rPr lang="hi-IN" dirty="0"/>
              <a:t>बनाने के उद्देश्य से </a:t>
            </a:r>
            <a:r>
              <a:rPr lang="en-US" dirty="0"/>
              <a:t>PARAKH application </a:t>
            </a:r>
            <a:r>
              <a:rPr lang="hi-IN" dirty="0"/>
              <a:t>के माध्यम से </a:t>
            </a:r>
            <a:r>
              <a:rPr lang="en-US" dirty="0"/>
              <a:t>digital inspection mechanism </a:t>
            </a:r>
            <a:r>
              <a:rPr lang="hi-IN" dirty="0"/>
              <a:t>तैयार किया गया है।</a:t>
            </a:r>
            <a:endParaRPr lang="en-US" dirty="0"/>
          </a:p>
          <a:p>
            <a:pPr>
              <a:lnSpc>
                <a:spcPct val="150000"/>
              </a:lnSpc>
            </a:pPr>
            <a:endParaRPr lang="hi-IN" dirty="0"/>
          </a:p>
          <a:p>
            <a:pPr>
              <a:lnSpc>
                <a:spcPct val="150000"/>
              </a:lnSpc>
            </a:pPr>
            <a:r>
              <a:rPr lang="hi-IN" b="1" i="1" dirty="0">
                <a:solidFill>
                  <a:schemeClr val="accent2"/>
                </a:solidFill>
              </a:rPr>
              <a:t>अभियान के अंतर्गत अभी तक </a:t>
            </a:r>
            <a:r>
              <a:rPr lang="en-IN" b="1" i="1" dirty="0">
                <a:solidFill>
                  <a:schemeClr val="accent2"/>
                </a:solidFill>
              </a:rPr>
              <a:t>13</a:t>
            </a:r>
            <a:r>
              <a:rPr lang="hi-IN" b="1" i="1" dirty="0">
                <a:solidFill>
                  <a:schemeClr val="accent2"/>
                </a:solidFill>
              </a:rPr>
              <a:t> अलग-अलग विभागों के </a:t>
            </a:r>
            <a:r>
              <a:rPr lang="en-US" b="1" i="1" dirty="0">
                <a:solidFill>
                  <a:schemeClr val="accent2"/>
                </a:solidFill>
              </a:rPr>
              <a:t>Department-specific Inspection Forms </a:t>
            </a:r>
            <a:r>
              <a:rPr lang="hi-IN" b="1" i="1" dirty="0">
                <a:solidFill>
                  <a:schemeClr val="accent2"/>
                </a:solidFill>
              </a:rPr>
              <a:t>तैयार किए जा चुके हैं।</a:t>
            </a:r>
            <a:endParaRPr lang="en-US" b="1" i="1" dirty="0">
              <a:solidFill>
                <a:schemeClr val="accent2"/>
              </a:solidFill>
            </a:endParaRPr>
          </a:p>
          <a:p>
            <a:pPr>
              <a:lnSpc>
                <a:spcPct val="150000"/>
              </a:lnSpc>
            </a:pPr>
            <a:endParaRPr lang="hi-IN" dirty="0"/>
          </a:p>
          <a:p>
            <a:pPr>
              <a:lnSpc>
                <a:spcPct val="150000"/>
              </a:lnSpc>
            </a:pPr>
            <a:r>
              <a:rPr lang="hi-IN" dirty="0"/>
              <a:t>इन </a:t>
            </a:r>
            <a:r>
              <a:rPr lang="en-IN" dirty="0"/>
              <a:t>13</a:t>
            </a:r>
            <a:r>
              <a:rPr lang="hi-IN" dirty="0"/>
              <a:t> </a:t>
            </a:r>
            <a:r>
              <a:rPr lang="en-US" dirty="0"/>
              <a:t>forms </a:t>
            </a:r>
            <a:r>
              <a:rPr lang="hi-IN" dirty="0"/>
              <a:t>को संबंधित विभागों की आवश्यकता एवं </a:t>
            </a:r>
            <a:r>
              <a:rPr lang="en-US" dirty="0"/>
              <a:t>field inspection requirements </a:t>
            </a:r>
            <a:r>
              <a:rPr lang="hi-IN" dirty="0"/>
              <a:t>को ध्यान में रखते हुए तैयार किया गया है, ताकि </a:t>
            </a:r>
            <a:r>
              <a:rPr lang="en-US" dirty="0"/>
              <a:t>field officers </a:t>
            </a:r>
            <a:r>
              <a:rPr lang="hi-IN" dirty="0"/>
              <a:t>द्वारा </a:t>
            </a:r>
            <a:r>
              <a:rPr lang="en-US" dirty="0"/>
              <a:t>information </a:t>
            </a:r>
            <a:r>
              <a:rPr lang="hi-IN" dirty="0"/>
              <a:t>को </a:t>
            </a:r>
            <a:r>
              <a:rPr lang="en-US" b="1" dirty="0"/>
              <a:t>standardized digital format</a:t>
            </a:r>
            <a:r>
              <a:rPr lang="en-US" dirty="0"/>
              <a:t> </a:t>
            </a:r>
            <a:r>
              <a:rPr lang="hi-IN" dirty="0"/>
              <a:t>में </a:t>
            </a:r>
            <a:r>
              <a:rPr lang="en-US" dirty="0"/>
              <a:t>capture </a:t>
            </a:r>
            <a:r>
              <a:rPr lang="hi-IN" dirty="0"/>
              <a:t>किया जा सके।</a:t>
            </a:r>
            <a:endParaRPr lang="en-US" dirty="0"/>
          </a:p>
          <a:p>
            <a:pPr>
              <a:lnSpc>
                <a:spcPct val="150000"/>
              </a:lnSpc>
            </a:pPr>
            <a:endParaRPr lang="hi-IN" dirty="0"/>
          </a:p>
          <a:p>
            <a:pPr>
              <a:lnSpc>
                <a:spcPct val="150000"/>
              </a:lnSpc>
            </a:pPr>
            <a:r>
              <a:rPr lang="hi-IN" dirty="0"/>
              <a:t>इन </a:t>
            </a:r>
            <a:r>
              <a:rPr lang="en-US" dirty="0"/>
              <a:t>forms </a:t>
            </a:r>
            <a:r>
              <a:rPr lang="hi-IN" dirty="0"/>
              <a:t>के माध्यम से अलग-अलग विभागों में होने वाले </a:t>
            </a:r>
            <a:r>
              <a:rPr lang="en-US" dirty="0"/>
              <a:t>inspections </a:t>
            </a:r>
            <a:r>
              <a:rPr lang="hi-IN" dirty="0"/>
              <a:t>को एक </a:t>
            </a:r>
            <a:r>
              <a:rPr lang="en-US" dirty="0"/>
              <a:t>common digital workflow </a:t>
            </a:r>
            <a:r>
              <a:rPr lang="hi-IN" dirty="0"/>
              <a:t>के अंतर्गत लाने का प्रयास किया गया है।</a:t>
            </a:r>
          </a:p>
        </p:txBody>
      </p:sp>
    </p:spTree>
    <p:extLst>
      <p:ext uri="{BB962C8B-B14F-4D97-AF65-F5344CB8AC3E}">
        <p14:creationId xmlns:p14="http://schemas.microsoft.com/office/powerpoint/2010/main" val="2939690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4260" y="256193"/>
            <a:ext cx="9939528" cy="660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Developed Forms : 9 Departmental Forms Ready</a:t>
            </a:r>
          </a:p>
          <a:p>
            <a:endParaRPr lang="en-US" dirty="0"/>
          </a:p>
          <a:p>
            <a:r>
              <a:rPr lang="hi-IN" dirty="0"/>
              <a:t>अभी तक निम्न 9 विभागों के लिए </a:t>
            </a:r>
            <a:r>
              <a:rPr lang="en-US" dirty="0"/>
              <a:t>inspection forms </a:t>
            </a:r>
            <a:r>
              <a:rPr lang="hi-IN" dirty="0"/>
              <a:t>तैयार किए गए हैं:</a:t>
            </a:r>
            <a:endParaRPr lang="en-US" dirty="0"/>
          </a:p>
          <a:p>
            <a:endParaRPr lang="hi-IN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i-IN" b="1" dirty="0"/>
              <a:t>मदिरा दुकानें – </a:t>
            </a:r>
            <a:r>
              <a:rPr lang="en-US" b="1" dirty="0"/>
              <a:t>Liquor Shops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i-IN" b="1" dirty="0"/>
              <a:t>स्वास्थ्य विभाग – </a:t>
            </a:r>
            <a:r>
              <a:rPr lang="en-US" b="1" dirty="0"/>
              <a:t>Health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i-IN" b="1" dirty="0"/>
              <a:t>आंगनबाड़ी – </a:t>
            </a:r>
            <a:r>
              <a:rPr lang="en-US" b="1" dirty="0" err="1"/>
              <a:t>Anganwadi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i-IN" b="1" dirty="0"/>
              <a:t>प्राथमिक कृषि साख सहकारी समिति – </a:t>
            </a:r>
            <a:r>
              <a:rPr lang="en-US" b="1" dirty="0"/>
              <a:t>PACS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i-IN" b="1" dirty="0"/>
              <a:t>गौशाला – </a:t>
            </a:r>
            <a:r>
              <a:rPr lang="en-US" b="1" dirty="0"/>
              <a:t>Goshala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i-IN" b="1" dirty="0"/>
              <a:t>विद्यालय – </a:t>
            </a:r>
            <a:r>
              <a:rPr lang="en-US" b="1" dirty="0"/>
              <a:t>School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i-IN" b="1" dirty="0"/>
              <a:t>नलजल प्रदाय योजना – </a:t>
            </a:r>
            <a:r>
              <a:rPr lang="en-US" b="1" dirty="0" err="1"/>
              <a:t>Nal</a:t>
            </a:r>
            <a:r>
              <a:rPr lang="en-US" b="1" dirty="0"/>
              <a:t> Jal </a:t>
            </a:r>
            <a:r>
              <a:rPr lang="en-US" b="1" dirty="0" err="1"/>
              <a:t>Praday</a:t>
            </a:r>
            <a:r>
              <a:rPr lang="en-US" b="1" dirty="0"/>
              <a:t> </a:t>
            </a:r>
            <a:r>
              <a:rPr lang="en-US" b="1" dirty="0" err="1"/>
              <a:t>Yojana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i-IN" b="1" dirty="0"/>
              <a:t>कार्यालय जिला पंचायत – </a:t>
            </a:r>
            <a:r>
              <a:rPr lang="en-US" b="1" dirty="0"/>
              <a:t>District Panchayat Office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hi-IN" b="1" dirty="0"/>
              <a:t>छात्रावास / आश्रम – </a:t>
            </a:r>
            <a:r>
              <a:rPr lang="en-US" b="1" dirty="0"/>
              <a:t>Hostel / Ashram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IN" b="1" dirty="0"/>
              <a:t>शासकीय </a:t>
            </a:r>
            <a:r>
              <a:rPr lang="en-IN" b="1" dirty="0" err="1"/>
              <a:t>उचित</a:t>
            </a:r>
            <a:r>
              <a:rPr lang="en-IN" b="1" dirty="0"/>
              <a:t> </a:t>
            </a:r>
            <a:r>
              <a:rPr lang="en-IN" b="1" dirty="0" err="1"/>
              <a:t>मूल्य</a:t>
            </a:r>
            <a:r>
              <a:rPr lang="en-IN" b="1" dirty="0"/>
              <a:t> </a:t>
            </a:r>
            <a:r>
              <a:rPr lang="en-IN" b="1" dirty="0" err="1"/>
              <a:t>दुकान</a:t>
            </a:r>
            <a:r>
              <a:rPr lang="en-IN" b="1" dirty="0"/>
              <a:t> </a:t>
            </a:r>
            <a:r>
              <a:rPr lang="en-IN" b="1" dirty="0" err="1"/>
              <a:t>का</a:t>
            </a:r>
            <a:r>
              <a:rPr lang="en-IN" b="1" dirty="0"/>
              <a:t> </a:t>
            </a:r>
            <a:r>
              <a:rPr lang="en-IN" b="1" dirty="0" err="1"/>
              <a:t>निरीक्षण</a:t>
            </a:r>
            <a:r>
              <a:rPr lang="en-IN" b="1" dirty="0"/>
              <a:t> </a:t>
            </a:r>
            <a:r>
              <a:rPr lang="en-IN" b="1" dirty="0" err="1"/>
              <a:t>प्रति</a:t>
            </a:r>
            <a:endParaRPr lang="en-IN" b="1" dirty="0"/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IN" b="1" dirty="0" err="1"/>
              <a:t>पेट्रोल</a:t>
            </a:r>
            <a:r>
              <a:rPr lang="en-IN" b="1" dirty="0"/>
              <a:t> / </a:t>
            </a:r>
            <a:r>
              <a:rPr lang="en-IN" b="1" dirty="0" err="1"/>
              <a:t>डीजल</a:t>
            </a:r>
            <a:r>
              <a:rPr lang="en-IN" b="1" dirty="0"/>
              <a:t> </a:t>
            </a:r>
            <a:r>
              <a:rPr lang="en-IN" b="1" dirty="0" err="1"/>
              <a:t>पम्पों</a:t>
            </a:r>
            <a:r>
              <a:rPr lang="en-IN" b="1" dirty="0"/>
              <a:t> </a:t>
            </a:r>
            <a:r>
              <a:rPr lang="en-IN" b="1" dirty="0" err="1"/>
              <a:t>का</a:t>
            </a:r>
            <a:r>
              <a:rPr lang="en-IN" b="1" dirty="0"/>
              <a:t> </a:t>
            </a:r>
            <a:r>
              <a:rPr lang="en-IN" b="1" dirty="0" err="1"/>
              <a:t>निरीक्षण</a:t>
            </a:r>
            <a:r>
              <a:rPr lang="en-IN" b="1" dirty="0"/>
              <a:t> </a:t>
            </a:r>
            <a:r>
              <a:rPr lang="en-IN" b="1" dirty="0" err="1"/>
              <a:t>प्रपत्र</a:t>
            </a:r>
            <a:endParaRPr lang="en-IN" b="1" dirty="0"/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IN" b="1" dirty="0" err="1"/>
              <a:t>मछुआ</a:t>
            </a:r>
            <a:r>
              <a:rPr lang="en-IN" b="1" dirty="0"/>
              <a:t> </a:t>
            </a:r>
            <a:r>
              <a:rPr lang="en-IN" b="1" dirty="0" err="1"/>
              <a:t>कल्याण</a:t>
            </a:r>
            <a:r>
              <a:rPr lang="en-IN" b="1" dirty="0"/>
              <a:t> </a:t>
            </a:r>
            <a:r>
              <a:rPr lang="en-IN" b="1" dirty="0" err="1"/>
              <a:t>एवं</a:t>
            </a:r>
            <a:r>
              <a:rPr lang="en-IN" b="1" dirty="0"/>
              <a:t> </a:t>
            </a:r>
            <a:r>
              <a:rPr lang="en-IN" b="1" dirty="0" err="1"/>
              <a:t>मत्स्य</a:t>
            </a:r>
            <a:r>
              <a:rPr lang="en-IN" b="1" dirty="0"/>
              <a:t> </a:t>
            </a:r>
            <a:r>
              <a:rPr lang="en-IN" b="1" dirty="0" err="1"/>
              <a:t>विकास</a:t>
            </a:r>
            <a:r>
              <a:rPr lang="en-IN" b="1" dirty="0"/>
              <a:t> 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IN" b="1" dirty="0" err="1"/>
              <a:t>एल.पी.जी</a:t>
            </a:r>
            <a:r>
              <a:rPr lang="en-IN" b="1" dirty="0"/>
              <a:t>. </a:t>
            </a:r>
            <a:r>
              <a:rPr lang="en-IN" b="1" dirty="0" err="1"/>
              <a:t>डीलर्स</a:t>
            </a:r>
            <a:r>
              <a:rPr lang="en-IN" b="1" dirty="0"/>
              <a:t> </a:t>
            </a:r>
            <a:r>
              <a:rPr lang="en-IN" b="1" dirty="0" err="1"/>
              <a:t>का</a:t>
            </a:r>
            <a:r>
              <a:rPr lang="en-IN" b="1" dirty="0"/>
              <a:t> </a:t>
            </a:r>
            <a:r>
              <a:rPr lang="en-IN" b="1" dirty="0" err="1"/>
              <a:t>निरीक्षण</a:t>
            </a:r>
            <a:r>
              <a:rPr lang="en-IN" b="1" dirty="0"/>
              <a:t> </a:t>
            </a:r>
            <a:r>
              <a:rPr lang="en-IN" b="1" dirty="0" err="1"/>
              <a:t>प्रपत्र</a:t>
            </a:r>
            <a:endParaRPr lang="en-US" dirty="0"/>
          </a:p>
          <a:p>
            <a:endParaRPr lang="en-US" dirty="0"/>
          </a:p>
          <a:p>
            <a:r>
              <a:rPr lang="hi-IN" dirty="0"/>
              <a:t>इन सभी </a:t>
            </a:r>
            <a:r>
              <a:rPr lang="en-US" dirty="0"/>
              <a:t>forms </a:t>
            </a:r>
            <a:r>
              <a:rPr lang="hi-IN" dirty="0"/>
              <a:t>में संबंधित </a:t>
            </a:r>
            <a:r>
              <a:rPr lang="en-US" dirty="0"/>
              <a:t>department </a:t>
            </a:r>
            <a:r>
              <a:rPr lang="hi-IN" dirty="0"/>
              <a:t>के अनुसार </a:t>
            </a:r>
            <a:r>
              <a:rPr lang="en-US" b="1" dirty="0"/>
              <a:t>specific inspection parameters</a:t>
            </a:r>
            <a:r>
              <a:rPr lang="en-US" dirty="0"/>
              <a:t> </a:t>
            </a:r>
            <a:r>
              <a:rPr lang="hi-IN" dirty="0"/>
              <a:t>रखे गए हैं।</a:t>
            </a:r>
          </a:p>
        </p:txBody>
      </p:sp>
    </p:spTree>
    <p:extLst>
      <p:ext uri="{BB962C8B-B14F-4D97-AF65-F5344CB8AC3E}">
        <p14:creationId xmlns:p14="http://schemas.microsoft.com/office/powerpoint/2010/main" val="356792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044" y="1237780"/>
            <a:ext cx="2374484" cy="51206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2"/>
          <a:stretch/>
        </p:blipFill>
        <p:spPr>
          <a:xfrm>
            <a:off x="4051627" y="1237780"/>
            <a:ext cx="2449077" cy="512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803" y="1237780"/>
            <a:ext cx="2287538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967432" y="283061"/>
            <a:ext cx="144871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000" dirty="0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DISTRICT GIS PARAKH APP</a:t>
            </a:r>
            <a:endParaRPr lang="en-US" sz="5400" dirty="0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239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567714" y="109325"/>
            <a:ext cx="14487194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000" dirty="0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Inspection &amp; Survey Workflow </a:t>
            </a:r>
          </a:p>
          <a:p>
            <a:pPr algn="ctr">
              <a:spcBef>
                <a:spcPct val="0"/>
              </a:spcBef>
            </a:pPr>
            <a:r>
              <a:rPr lang="en-US" sz="4000" dirty="0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(Department Users</a:t>
            </a:r>
            <a:r>
              <a:rPr lang="en-US" sz="5400" dirty="0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39A7132-6183-6E4D-3BA7-08C62AACC8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1061" y="1887861"/>
            <a:ext cx="1348740" cy="13487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B34A9A-6F09-C039-98CE-F78B51A75388}"/>
              </a:ext>
            </a:extLst>
          </p:cNvPr>
          <p:cNvSpPr txBox="1"/>
          <p:nvPr/>
        </p:nvSpPr>
        <p:spPr>
          <a:xfrm flipH="1">
            <a:off x="70114" y="3214356"/>
            <a:ext cx="21491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Nodal Officer assign work to field officer via web portal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7DB9E96-9298-E11E-DE0A-D4C69FFA18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81828" y="1960782"/>
            <a:ext cx="1048106" cy="109574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40A4B9D-E0DC-D813-D677-DC907824F7CC}"/>
              </a:ext>
            </a:extLst>
          </p:cNvPr>
          <p:cNvSpPr txBox="1"/>
          <p:nvPr/>
        </p:nvSpPr>
        <p:spPr>
          <a:xfrm flipH="1">
            <a:off x="2013181" y="3187128"/>
            <a:ext cx="30371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Field Officer sees the assigned work with all the information of the site under PARAKH application.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05E4870-006E-4622-7C66-956B6E124F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06331" y="1942313"/>
            <a:ext cx="1140071" cy="114007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B18C7B4-3697-5B5A-D194-9C7496AA3A77}"/>
              </a:ext>
            </a:extLst>
          </p:cNvPr>
          <p:cNvSpPr txBox="1"/>
          <p:nvPr/>
        </p:nvSpPr>
        <p:spPr>
          <a:xfrm flipH="1">
            <a:off x="5050332" y="3256162"/>
            <a:ext cx="33553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Field officer input and capture GIS-based Inspection/Survey details through the mobile application.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EF148BA-ECC7-E779-9EBF-3DB914247E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84115" y="1903603"/>
            <a:ext cx="1166475" cy="11664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11E1EAB-A487-A01E-F0BD-FBE66AA67B7C}"/>
              </a:ext>
            </a:extLst>
          </p:cNvPr>
          <p:cNvSpPr txBox="1"/>
          <p:nvPr/>
        </p:nvSpPr>
        <p:spPr>
          <a:xfrm flipH="1">
            <a:off x="8183593" y="2966528"/>
            <a:ext cx="34892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sz="2000" dirty="0"/>
              <a:t>Following the submission of the Inspection/Survey by the field officer, the nodal officer undertakes a review and verifies the submitted data.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5B10099-8F9D-5365-0421-BFB4BEB96D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15706" flipH="1">
            <a:off x="1401865" y="2094592"/>
            <a:ext cx="922215" cy="9222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5B10099-8F9D-5365-0421-BFB4BEB96D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15706" flipH="1">
            <a:off x="4426368" y="2101761"/>
            <a:ext cx="922215" cy="9222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5B10099-8F9D-5365-0421-BFB4BEB96D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15706" flipH="1">
            <a:off x="7258959" y="2142957"/>
            <a:ext cx="922215" cy="92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40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47956" y="1387214"/>
            <a:ext cx="9449288" cy="4919135"/>
            <a:chOff x="978779" y="1176199"/>
            <a:chExt cx="9449288" cy="491913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8779" y="1202870"/>
              <a:ext cx="2286198" cy="4892464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81717" y="1202870"/>
              <a:ext cx="2263336" cy="488484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1793" y="1176199"/>
              <a:ext cx="2263336" cy="491913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41869" y="1202870"/>
              <a:ext cx="2286198" cy="4854361"/>
            </a:xfrm>
            <a:prstGeom prst="rect">
              <a:avLst/>
            </a:prstGeom>
          </p:spPr>
        </p:pic>
      </p:grpSp>
      <p:sp>
        <p:nvSpPr>
          <p:cNvPr id="7" name="Rectangle 6"/>
          <p:cNvSpPr/>
          <p:nvPr/>
        </p:nvSpPr>
        <p:spPr>
          <a:xfrm>
            <a:off x="2643548" y="254977"/>
            <a:ext cx="45736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i-IN" sz="5400" b="1" dirty="0">
                <a:solidFill>
                  <a:schemeClr val="accent4">
                    <a:lumMod val="50000"/>
                  </a:schemeClr>
                </a:solidFill>
              </a:rPr>
              <a:t>स्वास्थ्य विभाग</a:t>
            </a:r>
            <a:endParaRPr lang="en-US" sz="5400" dirty="0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118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19012" y="1434807"/>
            <a:ext cx="11550554" cy="4953429"/>
            <a:chOff x="250482" y="1084169"/>
            <a:chExt cx="11550554" cy="4953429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482" y="1114652"/>
              <a:ext cx="2248095" cy="4892464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0782" y="1114652"/>
              <a:ext cx="2248095" cy="4854361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73124" y="1122273"/>
              <a:ext cx="2263336" cy="488484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36460" y="1084169"/>
              <a:ext cx="2255715" cy="495342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52941" y="1122273"/>
              <a:ext cx="2248095" cy="4892464"/>
            </a:xfrm>
            <a:prstGeom prst="rect">
              <a:avLst/>
            </a:prstGeom>
          </p:spPr>
        </p:pic>
      </p:grpSp>
      <p:sp>
        <p:nvSpPr>
          <p:cNvPr id="8" name="Rectangle 7"/>
          <p:cNvSpPr/>
          <p:nvPr/>
        </p:nvSpPr>
        <p:spPr>
          <a:xfrm>
            <a:off x="1549558" y="444364"/>
            <a:ext cx="848501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i-IN" sz="4400" b="1" dirty="0">
                <a:solidFill>
                  <a:schemeClr val="accent4">
                    <a:lumMod val="50000"/>
                  </a:schemeClr>
                </a:solidFill>
              </a:rPr>
              <a:t>प्राथमिक कृषि साख सहकारी समिति</a:t>
            </a:r>
            <a:endParaRPr lang="en-US" sz="4400" dirty="0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276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72247" y="1318983"/>
            <a:ext cx="7955280" cy="5120640"/>
            <a:chOff x="2132037" y="1566870"/>
            <a:chExt cx="7011182" cy="489246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2037" y="1566870"/>
              <a:ext cx="2248095" cy="488484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8805" y="1566870"/>
              <a:ext cx="2362405" cy="489246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9883" y="1566870"/>
              <a:ext cx="2263336" cy="4884843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3314856" y="246184"/>
            <a:ext cx="37481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i-IN" sz="5400" b="1" dirty="0">
                <a:solidFill>
                  <a:schemeClr val="accent4">
                    <a:lumMod val="50000"/>
                  </a:schemeClr>
                </a:solidFill>
              </a:rPr>
              <a:t>मदिरा दुकानें</a:t>
            </a:r>
            <a:endParaRPr lang="en-US" sz="5400" b="0" cap="none" spc="0" dirty="0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663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606669" y="914400"/>
            <a:ext cx="9418320" cy="5943600"/>
            <a:chOff x="70338" y="0"/>
            <a:chExt cx="12665868" cy="68580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38" y="0"/>
              <a:ext cx="3166467" cy="685800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6805" y="0"/>
              <a:ext cx="3166467" cy="68580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3272" y="0"/>
              <a:ext cx="3166467" cy="685800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9739" y="0"/>
              <a:ext cx="3166467" cy="6858000"/>
            </a:xfrm>
            <a:prstGeom prst="rect">
              <a:avLst/>
            </a:prstGeom>
          </p:spPr>
        </p:pic>
      </p:grpSp>
      <p:sp>
        <p:nvSpPr>
          <p:cNvPr id="7" name="Rectangle 6"/>
          <p:cNvSpPr/>
          <p:nvPr/>
        </p:nvSpPr>
        <p:spPr>
          <a:xfrm>
            <a:off x="3833861" y="0"/>
            <a:ext cx="28408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i-IN" sz="5400" b="1" dirty="0">
                <a:solidFill>
                  <a:schemeClr val="accent4">
                    <a:lumMod val="50000"/>
                  </a:schemeClr>
                </a:solidFill>
              </a:rPr>
              <a:t>विद्यालय</a:t>
            </a:r>
            <a:endParaRPr lang="en-US" sz="5400" dirty="0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443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2432148" y="1222322"/>
            <a:ext cx="5231971" cy="5517188"/>
            <a:chOff x="2432148" y="1222322"/>
            <a:chExt cx="5231971" cy="551718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2148" y="1222322"/>
              <a:ext cx="2560320" cy="5517188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3799" y="1222322"/>
              <a:ext cx="2560320" cy="5513223"/>
            </a:xfrm>
            <a:prstGeom prst="rect">
              <a:avLst/>
            </a:prstGeom>
          </p:spPr>
        </p:pic>
      </p:grpSp>
      <p:sp>
        <p:nvSpPr>
          <p:cNvPr id="4" name="Rectangle 3"/>
          <p:cNvSpPr/>
          <p:nvPr/>
        </p:nvSpPr>
        <p:spPr>
          <a:xfrm>
            <a:off x="3363580" y="369277"/>
            <a:ext cx="30203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i-IN" sz="5400" b="1" dirty="0">
                <a:solidFill>
                  <a:schemeClr val="accent4">
                    <a:lumMod val="50000"/>
                  </a:schemeClr>
                </a:solidFill>
              </a:rPr>
              <a:t>आंगनबाड़ी</a:t>
            </a:r>
            <a:endParaRPr lang="en-US" sz="5400" dirty="0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18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16575" y="846351"/>
            <a:ext cx="8229600" cy="5852160"/>
            <a:chOff x="1679282" y="362774"/>
            <a:chExt cx="8950541" cy="630936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9282" y="362774"/>
              <a:ext cx="2913147" cy="630936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2429" y="362774"/>
              <a:ext cx="2870927" cy="630936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3356" y="362774"/>
              <a:ext cx="3166467" cy="6309360"/>
            </a:xfrm>
            <a:prstGeom prst="rect">
              <a:avLst/>
            </a:prstGeom>
          </p:spPr>
        </p:pic>
      </p:grpSp>
      <p:sp>
        <p:nvSpPr>
          <p:cNvPr id="5" name="Rectangle 4"/>
          <p:cNvSpPr/>
          <p:nvPr/>
        </p:nvSpPr>
        <p:spPr>
          <a:xfrm>
            <a:off x="3878991" y="0"/>
            <a:ext cx="222208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i-IN" sz="5400" b="1" dirty="0">
                <a:solidFill>
                  <a:schemeClr val="accent4">
                    <a:lumMod val="50000"/>
                  </a:schemeClr>
                </a:solidFill>
              </a:rPr>
              <a:t>गौशाला</a:t>
            </a:r>
            <a:endParaRPr lang="en-US" sz="54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096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61" y="937260"/>
            <a:ext cx="2659829" cy="57607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463" y="937260"/>
            <a:ext cx="2659829" cy="57607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065" y="937260"/>
            <a:ext cx="2659829" cy="5760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96941" y="75476"/>
            <a:ext cx="62087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i-IN" sz="5400" b="1" dirty="0">
                <a:solidFill>
                  <a:schemeClr val="accent4">
                    <a:lumMod val="50000"/>
                  </a:schemeClr>
                </a:solidFill>
              </a:rPr>
              <a:t>नलजल प्रदाय योजना</a:t>
            </a:r>
            <a:endParaRPr lang="en-US" sz="5400" dirty="0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967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40616" y="1178307"/>
            <a:ext cx="10620897" cy="5486400"/>
            <a:chOff x="238393" y="923330"/>
            <a:chExt cx="10620897" cy="548640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393" y="923330"/>
              <a:ext cx="2062435" cy="54864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1199" y="923330"/>
              <a:ext cx="2062435" cy="548640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4005" y="923330"/>
              <a:ext cx="2062435" cy="54864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0430" y="923330"/>
              <a:ext cx="2062435" cy="548640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6855" y="923330"/>
              <a:ext cx="2062435" cy="5486400"/>
            </a:xfrm>
            <a:prstGeom prst="rect">
              <a:avLst/>
            </a:prstGeom>
          </p:spPr>
        </p:pic>
      </p:grpSp>
      <p:sp>
        <p:nvSpPr>
          <p:cNvPr id="16" name="Rectangle 15"/>
          <p:cNvSpPr/>
          <p:nvPr/>
        </p:nvSpPr>
        <p:spPr>
          <a:xfrm>
            <a:off x="1884141" y="254977"/>
            <a:ext cx="6686446" cy="923330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/>
            <a:r>
              <a:rPr lang="hi-IN" sz="5400" b="1" dirty="0">
                <a:solidFill>
                  <a:schemeClr val="accent4">
                    <a:lumMod val="50000"/>
                  </a:schemeClr>
                </a:solidFill>
              </a:rPr>
              <a:t>कार्यालय जिला पंचायत</a:t>
            </a:r>
            <a:endParaRPr lang="en-US" sz="5400" dirty="0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470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876" y="1494697"/>
            <a:ext cx="2194560" cy="47530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95" y="1494697"/>
            <a:ext cx="2194560" cy="475302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857" y="1494697"/>
            <a:ext cx="2194560" cy="475302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838" y="1494697"/>
            <a:ext cx="2194560" cy="47530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78634" y="439615"/>
            <a:ext cx="6686446" cy="923330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/>
            <a:r>
              <a:rPr lang="hi-IN" sz="5400" b="1" dirty="0">
                <a:solidFill>
                  <a:schemeClr val="accent4">
                    <a:lumMod val="50000"/>
                  </a:schemeClr>
                </a:solidFill>
              </a:rPr>
              <a:t>कार्यालय जिला पंचायत</a:t>
            </a:r>
            <a:endParaRPr lang="en-US" sz="5400" dirty="0">
              <a:ln w="0"/>
              <a:solidFill>
                <a:schemeClr val="accent4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677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81" y="1512282"/>
            <a:ext cx="1942098" cy="42062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463" y="1512282"/>
            <a:ext cx="1942098" cy="42062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045" y="1512282"/>
            <a:ext cx="1942098" cy="42062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940" y="1512282"/>
            <a:ext cx="1942098" cy="42062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835" y="1512282"/>
            <a:ext cx="1942098" cy="4206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938292" y="439589"/>
            <a:ext cx="554671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i-IN" sz="5400" b="1" dirty="0">
                <a:solidFill>
                  <a:schemeClr val="accent4">
                    <a:lumMod val="50000"/>
                  </a:schemeClr>
                </a:solidFill>
              </a:rPr>
              <a:t>छात्रावास / आश्रम </a:t>
            </a:r>
            <a:endParaRPr lang="en-US" sz="54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5924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217</TotalTime>
  <Words>355</Words>
  <Application>Microsoft Office PowerPoint</Application>
  <PresentationFormat>Widescreen</PresentationFormat>
  <Paragraphs>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Arial</vt:lpstr>
      <vt:lpstr>Arial Black</vt:lpstr>
      <vt:lpstr>Bahnschrift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Dheeraj Motiyani</cp:lastModifiedBy>
  <cp:revision>54</cp:revision>
  <dcterms:created xsi:type="dcterms:W3CDTF">2026-08-31T07:32:45Z</dcterms:created>
  <dcterms:modified xsi:type="dcterms:W3CDTF">2026-10-21T11:00:19Z</dcterms:modified>
</cp:coreProperties>
</file>