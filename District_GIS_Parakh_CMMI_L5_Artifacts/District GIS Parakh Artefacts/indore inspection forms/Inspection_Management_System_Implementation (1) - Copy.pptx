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6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4120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87088-267D-862D-4ED6-AC2C5C9F4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AF8CA9-4D41-7CE2-3D38-E3875DA4A3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192B63-855F-224C-6A02-9FF099EE20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D359F-405E-16D3-EB9F-DB9676EE43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2635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645920" y="4754880"/>
            <a:ext cx="4114800" cy="41148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40080" y="64008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GIS  ·  PARAKH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10515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Indore Division Inspection Monitoring 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58368" y="41605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Overview — mapped to the approved SOP workflow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58368" y="4800600"/>
            <a:ext cx="201168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58368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review  ·  Indore Division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18488" cy="329184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6184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REFERENCE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Workflow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defined in the Inspection Management Workflow SOP document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2050085" cy="3291840"/>
          </a:xfrm>
          <a:prstGeom prst="roundRect">
            <a:avLst>
              <a:gd name="adj" fmla="val 446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189634" y="242316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189634" y="24231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66928" y="3200400"/>
            <a:ext cx="183062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Select</a:t>
            </a:r>
            <a:endParaRPr lang="en-US" sz="13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0"/>
            <a:ext cx="1830629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 logs in and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the department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488997" y="3474720"/>
            <a:ext cx="3291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2763317" y="2148840"/>
            <a:ext cx="2050085" cy="3291840"/>
          </a:xfrm>
          <a:prstGeom prst="roundRect">
            <a:avLst>
              <a:gd name="adj" fmla="val 446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495751" y="242316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495751" y="24231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873045" y="3200400"/>
            <a:ext cx="183062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</a:t>
            </a:r>
            <a:endParaRPr lang="en-US" sz="13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873045" y="4023360"/>
            <a:ext cx="1830629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Checklist, remarks, photos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proposed action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95114" y="3474720"/>
            <a:ext cx="3291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5069434" y="2148840"/>
            <a:ext cx="2050085" cy="3291840"/>
          </a:xfrm>
          <a:prstGeom prst="roundRect">
            <a:avLst>
              <a:gd name="adj" fmla="val 446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801868" y="242316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801868" y="24231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179162" y="3200400"/>
            <a:ext cx="183062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&amp;</a:t>
            </a:r>
            <a:endParaRPr lang="en-US" sz="13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Report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179162" y="4023360"/>
            <a:ext cx="1830629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report synced to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server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101230" y="3474720"/>
            <a:ext cx="3291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7375550" y="2148840"/>
            <a:ext cx="2050085" cy="3291840"/>
          </a:xfrm>
          <a:prstGeom prst="roundRect">
            <a:avLst>
              <a:gd name="adj" fmla="val 446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107985" y="242316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107985" y="24231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485278" y="3200400"/>
            <a:ext cx="183062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ts val="1600"/>
              </a:lnSpc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Action to be taken by Reporting officer belongs to that department in that district   &amp; </a:t>
            </a:r>
            <a:b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Review by collectorate (Nodal) commissioner</a:t>
            </a:r>
            <a:endParaRPr lang="en-US" sz="1350" dirty="0"/>
          </a:p>
          <a:p>
            <a:pPr marL="0" indent="0" algn="ctr">
              <a:lnSpc>
                <a:spcPts val="1600"/>
              </a:lnSpc>
              <a:buNone/>
            </a:pP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485278" y="4023360"/>
            <a:ext cx="1830629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 monitors;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Officer takes action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407347" y="3474720"/>
            <a:ext cx="3291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9681667" y="2148840"/>
            <a:ext cx="2050085" cy="3291840"/>
          </a:xfrm>
          <a:prstGeom prst="roundRect">
            <a:avLst>
              <a:gd name="adj" fmla="val 446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1" name="Shape 29"/>
          <p:cNvSpPr/>
          <p:nvPr/>
        </p:nvSpPr>
        <p:spPr>
          <a:xfrm>
            <a:off x="10414102" y="242316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10414102" y="24231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9791395" y="3200400"/>
            <a:ext cx="183062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endParaRPr lang="en-US" sz="13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9791395" y="4023360"/>
            <a:ext cx="1830629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monitoring ; Commissioner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division dashboard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presents the modules built to implement each stage of this workflow.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Management System  |  District GIS · PARAKH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59152" cy="329184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3591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· STEP 1–2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Department-wise Inspection Forms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checklists in the District GIS Parakh mobile application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5029200" cy="4160520"/>
          </a:xfrm>
          <a:prstGeom prst="roundRect">
            <a:avLst>
              <a:gd name="adj" fmla="val 2198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Shape 5"/>
          <p:cNvSpPr/>
          <p:nvPr/>
        </p:nvSpPr>
        <p:spPr>
          <a:xfrm>
            <a:off x="731520" y="231343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05839" y="2185416"/>
            <a:ext cx="4400349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department gets its own inspection checklist form inside the District GIS Parakh mobile app. </a:t>
            </a:r>
            <a:r>
              <a:rPr lang="en-US" sz="1250" b="1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(Work In Progress – Forms)</a:t>
            </a:r>
            <a:endParaRPr lang="en-US" sz="1250" b="1" dirty="0"/>
          </a:p>
        </p:txBody>
      </p:sp>
      <p:sp>
        <p:nvSpPr>
          <p:cNvPr id="9" name="Shape 7"/>
          <p:cNvSpPr/>
          <p:nvPr/>
        </p:nvSpPr>
        <p:spPr>
          <a:xfrm>
            <a:off x="731520" y="3081528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05840" y="2953512"/>
            <a:ext cx="4206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cover multiple domains — Education, Agriculture, Health, PNRD, UADD, and more.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1520" y="3849624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005840" y="3721608"/>
            <a:ext cx="4206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 selects the department, institution type, and fills the structured checklist on-site.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" y="461772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005840" y="4489704"/>
            <a:ext cx="4206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dropdowns, remarks/suggestions, and photo/document capture per field.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1520" y="5385816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005840" y="5257800"/>
            <a:ext cx="4206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maps to SOP steps: Select Department → Conduct Inspection.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555480" y="1309998"/>
            <a:ext cx="2295144" cy="4809744"/>
          </a:xfrm>
          <a:prstGeom prst="roundRect">
            <a:avLst>
              <a:gd name="adj" fmla="val 3187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1270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8" name="Image 0" descr="1786119171531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8632" y="1371600"/>
            <a:ext cx="2148840" cy="466344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Management System  |  District GIS · PARAKH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22" name="Picture 21" descr="The image contains a list of Hindi words and phrases, which are titles for various types of checklists, such as agriculture, forest, and education.&#10;&#10;AI-generated content may be incorrect.">
            <a:extLst>
              <a:ext uri="{FF2B5EF4-FFF2-40B4-BE49-F238E27FC236}">
                <a16:creationId xmlns:a16="http://schemas.microsoft.com/office/drawing/2014/main" id="{3F2412AF-CE4D-15CE-D730-AF365BB20E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6222" y="1371600"/>
            <a:ext cx="2946381" cy="47355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199" y="411480"/>
            <a:ext cx="3088105" cy="329184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199" y="411480"/>
            <a:ext cx="32244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IN PROGRESS · STEP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Checklist Capture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Education Department comprehensive inspection form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6035040" cy="4160520"/>
          </a:xfrm>
          <a:prstGeom prst="roundRect">
            <a:avLst>
              <a:gd name="adj" fmla="val 2198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31520" y="235915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05840" y="2231136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fields are department-specific: विभाग (Department), संस्था के प्रकार (Institution Type), सुझाव (Suggestions).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7355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05840" y="3145536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Dropdown-driven, mandatory-field validation (marked with *).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418795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005840" y="4059936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'Save As Draft' lets inspectors resume incomplete inspections.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510235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005840" y="4974336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'Submit' pushes the record to the central PARAKH server for reporting.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33488" y="1344168"/>
            <a:ext cx="2295144" cy="4809744"/>
          </a:xfrm>
          <a:prstGeom prst="roundRect">
            <a:avLst>
              <a:gd name="adj" fmla="val 3187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1270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0" descr="1786119289854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417320"/>
            <a:ext cx="2148840" cy="466344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Management System  |  District GIS · PARAKH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606040" cy="329184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· ACTOR SETUP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 User Created as Department HOD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Officer mapped to Department &amp; Sub-Department in PARAKH Master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84048" y="1892808"/>
            <a:ext cx="7095744" cy="4507992"/>
          </a:xfrm>
          <a:prstGeom prst="roundRect">
            <a:avLst>
              <a:gd name="adj" fmla="val 1623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1270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1786119377550_create_user_department_wi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65960"/>
            <a:ext cx="6949440" cy="436168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72400" y="1965960"/>
            <a:ext cx="3931920" cy="4361688"/>
          </a:xfrm>
          <a:prstGeom prst="roundRect">
            <a:avLst>
              <a:gd name="adj" fmla="val 2326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8028432" y="2295144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8284464" y="2167128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Type/Role set to 'Reporting Officer' — acting as HOD for the linked department.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028432" y="327355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8284464" y="3145536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'Belongs to a Government Department' and 'Sub-Department' fields tie the RO - HOD to a specific unit (e.g. Higher Education Dept.).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028432" y="425196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8284464" y="4123944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District, Tehsil, Block and Urban/Rural scope define the RO's jurisdiction.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028432" y="5230368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8284464" y="5102352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RO becomes the approving &amp; raise action authority for inspections raised under that department.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Management System  |  District GIS · PARAKH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688336" cy="329184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688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· VERIFICATION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 HODs Visible in User List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can search, verify and export all Reporting Officers created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84048" y="1938528"/>
            <a:ext cx="7964424" cy="4443984"/>
          </a:xfrm>
          <a:prstGeom prst="roundRect">
            <a:avLst>
              <a:gd name="adj" fmla="val 1646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1270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1786119377550_user_crea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0"/>
            <a:ext cx="7818120" cy="42976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595360" y="2011680"/>
            <a:ext cx="3108960" cy="4297680"/>
          </a:xfrm>
          <a:prstGeom prst="roundRect">
            <a:avLst>
              <a:gd name="adj" fmla="val 2941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8823960" y="2340864"/>
            <a:ext cx="118872" cy="11887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9052560" y="2212848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RO/HOD created shows Department, Sub-Department, District/Block/Tehsil and Role.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823960" y="3319272"/>
            <a:ext cx="118872" cy="11887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9052560" y="3191256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 by Department, Role, Designation for quick audit.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823960" y="4297680"/>
            <a:ext cx="118872" cy="11887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9052560" y="4169664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'Export to Excel' supports offline record-keeping.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823960" y="5276088"/>
            <a:ext cx="118872" cy="11887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9052560" y="5148072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each department has its own accountable HOD before inspections go live.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Management System  |  District GIS · PARAKH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59152" cy="329184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3591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· STEP 3–4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 Form Report — Reviewed &amp; Actioned by HOD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HOD (RO) views submissions and takes action in one screen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84048" y="1892808"/>
            <a:ext cx="8467344" cy="4489704"/>
          </a:xfrm>
          <a:prstGeom prst="roundRect">
            <a:avLst>
              <a:gd name="adj" fmla="val 1629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1270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1786119377551_Hod_view___take_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65960"/>
            <a:ext cx="8321040" cy="4343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052560" y="1965960"/>
            <a:ext cx="2697480" cy="4343400"/>
          </a:xfrm>
          <a:prstGeom prst="roundRect">
            <a:avLst>
              <a:gd name="adj" fmla="val 339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9253728" y="2276856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9454896" y="2130552"/>
            <a:ext cx="21031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 logs in as Reporting Officer, scoped to their own department.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9253728" y="3300984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9454896" y="3154680"/>
            <a:ext cx="21031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→ General Form Report lists every submitted inspection with photos, remarks &amp; status.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9253728" y="4325112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9454896" y="4178808"/>
            <a:ext cx="21031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'Action' button lets the HOD Verify / Reject / Remark on each record.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9253728" y="5349240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9454896" y="5202936"/>
            <a:ext cx="21031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updates flow back — matching SOP's 'District Department Officer: Review &amp; Necessary Action'.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Management System  |  District GIS · PARAKH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1474EF-70DD-8B7F-34F3-B901ECA61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10FE3FA-3A2D-7455-312D-3859FFC58985}"/>
              </a:ext>
            </a:extLst>
          </p:cNvPr>
          <p:cNvSpPr/>
          <p:nvPr/>
        </p:nvSpPr>
        <p:spPr>
          <a:xfrm>
            <a:off x="457200" y="411480"/>
            <a:ext cx="2359152" cy="329184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2B0F32F-CC8F-DD48-35D1-89D966FC6A3D}"/>
              </a:ext>
            </a:extLst>
          </p:cNvPr>
          <p:cNvSpPr/>
          <p:nvPr/>
        </p:nvSpPr>
        <p:spPr>
          <a:xfrm>
            <a:off x="457200" y="411480"/>
            <a:ext cx="23591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· STEP 3–4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6BCF7A7-F1F9-7994-780B-13B0B5A7D03F}"/>
              </a:ext>
            </a:extLst>
          </p:cNvPr>
          <p:cNvSpPr/>
          <p:nvPr/>
        </p:nvSpPr>
        <p:spPr>
          <a:xfrm>
            <a:off x="457200" y="7772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 Form Report — Reviewed &amp; Actioned by HOD</a:t>
            </a:r>
            <a:endParaRPr lang="en-US" sz="3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93CDA0D-6FAE-A57E-77C2-CCB17682600D}"/>
              </a:ext>
            </a:extLst>
          </p:cNvPr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HOD (RO) views submissions and takes action in one screen  -  Action Button Verify Inspection Status Verified by checker Reject and IN Progress or Pending</a:t>
            </a:r>
            <a:endParaRPr lang="en-US" sz="14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7E9776C-C92D-5480-0C38-8B1BFF1B0B1C}"/>
              </a:ext>
            </a:extLst>
          </p:cNvPr>
          <p:cNvSpPr/>
          <p:nvPr/>
        </p:nvSpPr>
        <p:spPr>
          <a:xfrm>
            <a:off x="384048" y="1892808"/>
            <a:ext cx="8467344" cy="4489704"/>
          </a:xfrm>
          <a:prstGeom prst="roundRect">
            <a:avLst>
              <a:gd name="adj" fmla="val 1629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1270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pic>
        <p:nvPicPr>
          <p:cNvPr id="7" name="Image 0" descr="1786119377551_Hod_view___take_action.png">
            <a:extLst>
              <a:ext uri="{FF2B5EF4-FFF2-40B4-BE49-F238E27FC236}">
                <a16:creationId xmlns:a16="http://schemas.microsoft.com/office/drawing/2014/main" id="{6619A72A-296D-941B-8149-05AD4F7659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65960"/>
            <a:ext cx="5342021" cy="4343400"/>
          </a:xfrm>
          <a:prstGeom prst="rect">
            <a:avLst/>
          </a:prstGeom>
        </p:spPr>
      </p:pic>
      <p:sp>
        <p:nvSpPr>
          <p:cNvPr id="8" name="Shape 5">
            <a:extLst>
              <a:ext uri="{FF2B5EF4-FFF2-40B4-BE49-F238E27FC236}">
                <a16:creationId xmlns:a16="http://schemas.microsoft.com/office/drawing/2014/main" id="{7B382C95-8104-FF3F-17CB-18A174F9660D}"/>
              </a:ext>
            </a:extLst>
          </p:cNvPr>
          <p:cNvSpPr/>
          <p:nvPr/>
        </p:nvSpPr>
        <p:spPr>
          <a:xfrm>
            <a:off x="9052560" y="1965960"/>
            <a:ext cx="2697480" cy="4343400"/>
          </a:xfrm>
          <a:prstGeom prst="roundRect">
            <a:avLst>
              <a:gd name="adj" fmla="val 339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E412A8AB-8C2B-ACFC-5D7D-796B0048ABC5}"/>
              </a:ext>
            </a:extLst>
          </p:cNvPr>
          <p:cNvSpPr/>
          <p:nvPr/>
        </p:nvSpPr>
        <p:spPr>
          <a:xfrm>
            <a:off x="9253728" y="2276856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17E2927-DF2D-AD42-3B32-079A323801CE}"/>
              </a:ext>
            </a:extLst>
          </p:cNvPr>
          <p:cNvSpPr/>
          <p:nvPr/>
        </p:nvSpPr>
        <p:spPr>
          <a:xfrm>
            <a:off x="9454896" y="2130552"/>
            <a:ext cx="21031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 logs in as Reporting Officer, scoped to their own department.</a:t>
            </a:r>
            <a:endParaRPr lang="en-US" sz="105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9C016105-E64A-7744-0BEF-713EBEDE1AAC}"/>
              </a:ext>
            </a:extLst>
          </p:cNvPr>
          <p:cNvSpPr/>
          <p:nvPr/>
        </p:nvSpPr>
        <p:spPr>
          <a:xfrm>
            <a:off x="9253728" y="3300984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D9C09AC6-19C2-79D4-0760-26E0E4D290C6}"/>
              </a:ext>
            </a:extLst>
          </p:cNvPr>
          <p:cNvSpPr/>
          <p:nvPr/>
        </p:nvSpPr>
        <p:spPr>
          <a:xfrm>
            <a:off x="9454896" y="3154680"/>
            <a:ext cx="21031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→ General Form Report lists every submitted inspection with photos, remarks &amp; status.</a:t>
            </a:r>
            <a:endParaRPr lang="en-US" sz="105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05DA1DFB-B626-163B-7E23-80E73DD740B7}"/>
              </a:ext>
            </a:extLst>
          </p:cNvPr>
          <p:cNvSpPr/>
          <p:nvPr/>
        </p:nvSpPr>
        <p:spPr>
          <a:xfrm>
            <a:off x="9253728" y="4325112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4824C3CF-FA88-DB2E-8524-C7648AE69AC6}"/>
              </a:ext>
            </a:extLst>
          </p:cNvPr>
          <p:cNvSpPr/>
          <p:nvPr/>
        </p:nvSpPr>
        <p:spPr>
          <a:xfrm>
            <a:off x="9454896" y="4178808"/>
            <a:ext cx="21031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'Action' button lets the HOD Verify / Reject / Remark on each record.</a:t>
            </a:r>
            <a:endParaRPr lang="en-US" sz="105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0ECC8A08-FF73-CDDB-834D-72BBE3A02F7E}"/>
              </a:ext>
            </a:extLst>
          </p:cNvPr>
          <p:cNvSpPr/>
          <p:nvPr/>
        </p:nvSpPr>
        <p:spPr>
          <a:xfrm>
            <a:off x="9253728" y="5349240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EE286574-A664-45F6-53A2-9630A35622EF}"/>
              </a:ext>
            </a:extLst>
          </p:cNvPr>
          <p:cNvSpPr/>
          <p:nvPr/>
        </p:nvSpPr>
        <p:spPr>
          <a:xfrm>
            <a:off x="9454896" y="5202936"/>
            <a:ext cx="21031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updates flow back — matching SOP's 'District Department Officer: Review &amp; Necessary Action'.</a:t>
            </a:r>
            <a:endParaRPr lang="en-US" sz="105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88B1DC99-9D3B-8FB9-3911-8373C0FDCBAD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Management System  |  District GIS · PARAKH</a:t>
            </a:r>
            <a:endParaRPr lang="en-US" sz="9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9D3646CF-D6CE-CE5B-E779-9E7ED58F3067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20" name="Picture 19" descr="in progress.&#10;&#10;AI-generated content may be incorrect.">
            <a:extLst>
              <a:ext uri="{FF2B5EF4-FFF2-40B4-BE49-F238E27FC236}">
                <a16:creationId xmlns:a16="http://schemas.microsoft.com/office/drawing/2014/main" id="{7B6FD432-9083-D96C-29C1-865118A865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6879" y="2276856"/>
            <a:ext cx="3079961" cy="2944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52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264408" cy="329184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3264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· STEP 4 (MONITORING)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Visible to Collector Sir's ID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General Form Report, viewed under the State Admin / Collector login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84048" y="1892808"/>
            <a:ext cx="8467344" cy="4489704"/>
          </a:xfrm>
          <a:prstGeom prst="roundRect">
            <a:avLst>
              <a:gd name="adj" fmla="val 1629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1270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1786119377550_collector_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65960"/>
            <a:ext cx="8321040" cy="4343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052560" y="1965960"/>
            <a:ext cx="2697480" cy="4343400"/>
          </a:xfrm>
          <a:prstGeom prst="roundRect">
            <a:avLst>
              <a:gd name="adj" fmla="val 339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9253728" y="2276856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9454896" y="2130552"/>
            <a:ext cx="21031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Collector's ID has  district-level access across all departments and forms.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9253728" y="3300984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9454896" y="3154680"/>
            <a:ext cx="21031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report screen (General Form Report) — filterable by institution type, with status and remarks.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9253728" y="4325112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9454896" y="4178808"/>
            <a:ext cx="21031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the Collector a consolidated, real-time monitoring view without waiting for offline compilation.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9253728" y="5349240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9454896" y="5202936"/>
            <a:ext cx="21031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Fulfils SOP's 'District Collector — Monitoring' role.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Management System  |  District GIS · PARAKH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264408" cy="329184"/>
          </a:xfrm>
          <a:prstGeom prst="roundRect">
            <a:avLst>
              <a:gd name="adj" fmla="val 50000"/>
            </a:avLst>
          </a:prstGeom>
          <a:solidFill>
            <a:srgbClr val="FFF4E2"/>
          </a:solidFill>
          <a:ln w="12700">
            <a:solidFill>
              <a:srgbClr val="F0CB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3264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· FINAL STEP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Division-Level Review &amp; Commissioner Dashboard (Now Completed)</a:t>
            </a:r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View-only dashboard for Divisional Commissioner Sir — build under way, targeted for completion next week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84048" y="1892808"/>
            <a:ext cx="8467344" cy="4489704"/>
          </a:xfrm>
          <a:prstGeom prst="roundRect">
            <a:avLst>
              <a:gd name="adj" fmla="val 1629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1270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cope Text"/>
          <p:cNvSpPr txBox="1"/>
          <p:nvPr/>
        </p:nvSpPr>
        <p:spPr>
          <a:xfrm>
            <a:off x="685800" y="2131060"/>
            <a:ext cx="7864728" cy="40221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this module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13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Aggregated, division-wide view of inspection data pulled in from every district under the division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3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login being provisioned for the Divisional Commissioner Sir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3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status analytics, sliceable by district, department and inspection status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3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for department, district, date range and inspection status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3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Fulfils SOP's final step — "Divisional Commissioner: View Dashboard &amp; Division Monitoring"</a:t>
            </a:r>
          </a:p>
        </p:txBody>
      </p:sp>
      <p:sp>
        <p:nvSpPr>
          <p:cNvPr id="8" name="Shape 5"/>
          <p:cNvSpPr/>
          <p:nvPr/>
        </p:nvSpPr>
        <p:spPr>
          <a:xfrm>
            <a:off x="9052560" y="1965960"/>
            <a:ext cx="2697480" cy="4343400"/>
          </a:xfrm>
          <a:prstGeom prst="roundRect">
            <a:avLst>
              <a:gd name="adj" fmla="val 3390"/>
            </a:avLst>
          </a:prstGeom>
          <a:solidFill>
            <a:srgbClr val="FFF9F0"/>
          </a:solidFill>
          <a:ln w="12700">
            <a:solidFill>
              <a:srgbClr val="F0CB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9253728" y="2276856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9454896" y="2130552"/>
            <a:ext cx="21031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30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completion: next week.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9253728" y="3300984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9454896" y="3154680"/>
            <a:ext cx="21031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build and division-level data rollup are currently in progress.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9253728" y="4325112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9454896" y="4178808"/>
            <a:ext cx="21031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give Commissioner Sir a consolidated, real-time view across the full division.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9253728" y="5349240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9454896" y="5202936"/>
            <a:ext cx="21031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Fulfils SOP's final 'Divisional Commissioner' review step.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Management System  |  District GIS · PARAKH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24712" cy="329184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47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SOP Requirement → What's Built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control point in the approved workflow now has a working module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518629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WORKFLOW STEP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4476" y="1828800"/>
            <a:ext cx="518629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11274552" cy="749808"/>
          </a:xfrm>
          <a:prstGeom prst="rect">
            <a:avLst/>
          </a:prstGeom>
          <a:solidFill>
            <a:srgbClr val="EEF3FC"/>
          </a:solidFill>
          <a:ln w="9525">
            <a:solidFill>
              <a:srgbClr val="E4E9F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Shape 8"/>
          <p:cNvSpPr/>
          <p:nvPr/>
        </p:nvSpPr>
        <p:spPr>
          <a:xfrm>
            <a:off x="658368" y="2569464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58368" y="25694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2331720"/>
            <a:ext cx="454621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Department &amp; Conduct Inspection </a:t>
            </a: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(Work In Progress)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094476" y="2331720"/>
            <a:ext cx="541178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Department-wise inspection forms live in District GIS mobile app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081528"/>
            <a:ext cx="1127455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4E9F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5" name="Shape 13"/>
          <p:cNvSpPr/>
          <p:nvPr/>
        </p:nvSpPr>
        <p:spPr>
          <a:xfrm>
            <a:off x="658368" y="3319272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58368" y="3319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3081528"/>
            <a:ext cx="454621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Officer </a:t>
            </a: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(Review &amp; Action)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4476" y="3081528"/>
            <a:ext cx="541178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 user created as HOD — mapped to Department &amp; Sub-Department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831336"/>
            <a:ext cx="11274552" cy="749808"/>
          </a:xfrm>
          <a:prstGeom prst="rect">
            <a:avLst/>
          </a:prstGeom>
          <a:solidFill>
            <a:srgbClr val="EEF3FC"/>
          </a:solidFill>
          <a:ln w="9525">
            <a:solidFill>
              <a:srgbClr val="E4E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58368" y="4069080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58368" y="4069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3831336"/>
            <a:ext cx="454621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&amp; Sync </a:t>
            </a: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(Report)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094476" y="3831336"/>
            <a:ext cx="541178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Submissions flow into General Form Report on PARAKH web portal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581144"/>
            <a:ext cx="1127455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4E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58368" y="4818888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58368" y="48188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97280" y="4581144"/>
            <a:ext cx="454621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Department Officer </a:t>
            </a: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(Takes Action)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094476" y="4581144"/>
            <a:ext cx="541178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 (RO) reviews &amp; actions records from General Form Report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5330952"/>
            <a:ext cx="11274552" cy="749808"/>
          </a:xfrm>
          <a:prstGeom prst="rect">
            <a:avLst/>
          </a:prstGeom>
          <a:solidFill>
            <a:srgbClr val="EEF3FC"/>
          </a:solidFill>
          <a:ln w="9525">
            <a:solidFill>
              <a:srgbClr val="E4E9F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0" name="Shape 28"/>
          <p:cNvSpPr/>
          <p:nvPr/>
        </p:nvSpPr>
        <p:spPr>
          <a:xfrm>
            <a:off x="658368" y="5568696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58368" y="55686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97280" y="5330952"/>
            <a:ext cx="454621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Collector / Divisional Commissioner  </a:t>
            </a: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(Monitoring – WIP)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094476" y="5330952"/>
            <a:ext cx="541178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 Sir's ID views the same report with full oversight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Management System  |  District GIS · PARAKH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875520" y="4114800"/>
            <a:ext cx="4572000" cy="45720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Implemented End-to-End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41248" y="32918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Forms → HOD (RO) Setup → General Form Report &amp; Action → Collector Monitoring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41248" y="3886200"/>
            <a:ext cx="201168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42062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1112</Words>
  <Application>Microsoft Office PowerPoint</Application>
  <PresentationFormat>Widescreen</PresentationFormat>
  <Paragraphs>154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Dheeraj Motiyani</cp:lastModifiedBy>
  <cp:revision>5</cp:revision>
  <dcterms:created xsi:type="dcterms:W3CDTF">2026-08-07T16:19:51Z</dcterms:created>
  <dcterms:modified xsi:type="dcterms:W3CDTF">2026-09-18T15:09:00Z</dcterms:modified>
</cp:coreProperties>
</file>