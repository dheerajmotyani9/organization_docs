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1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21E5-7A7C-8F4E-F8F8-50BC04B5A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CE74B-C193-1C1D-963B-F7E69E234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2AE5-139C-4F41-F2EC-12FE8AC8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B0EA4-87FD-3C07-EDD9-27B1E8F2A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89C15-9AAD-AE43-6DC4-1DCE1EA2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250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C8DB-431A-0690-4176-8CF66AED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82F87-CBFB-F7D7-3C82-2CFA49718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3D877-17B5-6C71-DDA2-ADCA36058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1FA8B-A741-1D68-FED0-66B68EE6F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CA6F9-1AB5-F9EF-FA3D-0EF12F62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55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A766-D5C8-7C1B-BDE0-0DE61A82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216FA-92BA-89AB-0FA2-57A411DA3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7C91-EB47-5BE4-8F23-17CEFE9A7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80B09-528D-09A1-7482-FD32AEE5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86EA0-ED76-1828-0E28-9FBF5489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24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1295-B5F5-C019-538F-71DC5067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29092-6E45-AC14-F5DC-D3D835135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7E381-945D-32BC-9C92-6D90F08BF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F0705-5B14-379E-5050-755B34E6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0AF9B-3C78-5674-F3B7-77633AC2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06863-1742-8111-B42C-F4D3C446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15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C515-5013-9311-04A8-9979F13F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1AAA8-A2BD-1625-A003-C836447B9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ED5D3-5F79-77B7-2441-8E97C7C0F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8BD02-695D-C99A-0A1C-271DA712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701B44-8788-928A-2777-A4ADDE4D2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AD8FA-E134-BC75-E830-5C6AB578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C8BFF-C598-4155-7BB3-BA85938A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7F51C-4B5C-F08A-F82D-5E721511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11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AFF5-1DD7-E620-5E28-84006144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EA5E9-664B-8AEE-8E2A-C76FE5B3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68D36-2C12-F681-3F9E-E52F804DC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EC8E4-663A-CCB9-5C76-1A99FBCCB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57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26256-E98E-ADC1-F729-AE7C0677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75937-DFDE-7564-90A5-180184CD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EE9F-15C5-A3C6-B738-94D98504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83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EFDB-B009-763A-6F8C-8852715C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A6800-D95F-B6A6-9A0D-5011DBB0E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FF365-B5F1-D849-B776-ABA6D45DD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8908D-FB2D-A870-F8CA-22EF4D93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CFB76-ACE4-D7E6-32BC-61FC24DB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476AF-A533-C5B3-E56A-01F279F6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8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5650-6960-946D-CF9D-D607EAC77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1409D-BDB7-2CF3-28C6-82BF818BD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F6870-F78F-C62E-615B-ED0CE5790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F0812-D295-4A56-C532-63684BED3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37C0C-0260-7765-E81B-1E111DED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14631-3C25-B127-CB5D-BC9D166F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16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A598C-3A16-E768-5EEE-582025B0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66A4A-D1DC-6BF2-2969-CBD313B4F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509AD-2A31-EDFA-9B50-11F70203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9155C-78DC-EB50-D6CC-D7B86BE9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B4E6B-BE41-A8EA-2B08-0FE7B37C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35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0854E-041F-5DB4-A996-1E2766F26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4D981-AD52-F488-8EB3-917E56C39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C0B34-D3DC-DCE5-3920-D03F8FB1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2ECC5-8113-78B6-E24B-951E779F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4D1D-DD89-E28C-3F04-05A1779C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162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8/13/2025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51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B726C-A09C-18DF-9A08-8A38E161D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266A5-3243-F4DC-8ECD-3EDE7037B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71F25-86EC-0655-2EB8-C8D84BBB0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8BC09-876F-425A-95CC-D6A4DBAEBA2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A4FF2-F341-832E-91D7-9E8ABA486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1963-BB55-6C72-3999-A449D9377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F34BA-CE7E-4887-8F91-CDAF1C7A6D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29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play.google.com/store/apps/details?id=com.mpssdi.parakh&amp;pcampaignid=web_shar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B709CD-6694-3EB7-3F21-62413522B3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0" b="15625"/>
          <a:stretch/>
        </p:blipFill>
        <p:spPr>
          <a:xfrm>
            <a:off x="1" y="5103322"/>
            <a:ext cx="12191999" cy="1754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61EEBC-F237-8480-EF7B-D0AC3FB6B88E}"/>
              </a:ext>
            </a:extLst>
          </p:cNvPr>
          <p:cNvSpPr txBox="1"/>
          <p:nvPr/>
        </p:nvSpPr>
        <p:spPr>
          <a:xfrm>
            <a:off x="3004461" y="112151"/>
            <a:ext cx="8181154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600" b="1" spc="-145" dirty="0">
                <a:solidFill>
                  <a:srgbClr val="02245C"/>
                </a:solidFill>
                <a:latin typeface="Poppins" pitchFamily="2" charset="77"/>
                <a:cs typeface="Poppins" pitchFamily="2" charset="77"/>
              </a:rPr>
              <a:t>Dynamic Forms </a:t>
            </a:r>
          </a:p>
          <a:p>
            <a:r>
              <a:rPr lang="en-US" sz="2000" b="1" spc="-145" dirty="0">
                <a:solidFill>
                  <a:srgbClr val="0886FC"/>
                </a:solidFill>
                <a:latin typeface="Poppins" pitchFamily="2" charset="77"/>
                <a:cs typeface="Poppins" pitchFamily="2" charset="77"/>
              </a:rPr>
              <a:t>Survey, Inspection and General Purposes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A9624C-FB94-2E91-8CB7-447F58905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307" y="1361215"/>
            <a:ext cx="4219668" cy="27172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82BD2D-37E7-8100-3639-E02E95809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77" y="157792"/>
            <a:ext cx="2743206" cy="908466"/>
          </a:xfrm>
          <a:prstGeom prst="rect">
            <a:avLst/>
          </a:prstGeom>
        </p:spPr>
      </p:pic>
      <p:sp>
        <p:nvSpPr>
          <p:cNvPr id="24" name="Freeform 4">
            <a:extLst>
              <a:ext uri="{FF2B5EF4-FFF2-40B4-BE49-F238E27FC236}">
                <a16:creationId xmlns:a16="http://schemas.microsoft.com/office/drawing/2014/main" id="{81159861-E471-B9CB-6B25-A926FAB78FB6}"/>
              </a:ext>
            </a:extLst>
          </p:cNvPr>
          <p:cNvSpPr/>
          <p:nvPr/>
        </p:nvSpPr>
        <p:spPr>
          <a:xfrm>
            <a:off x="10776857" y="112152"/>
            <a:ext cx="1083118" cy="856678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94C6ED-BF7C-349E-F758-F4871A9EEE80}"/>
              </a:ext>
            </a:extLst>
          </p:cNvPr>
          <p:cNvSpPr txBox="1"/>
          <p:nvPr/>
        </p:nvSpPr>
        <p:spPr>
          <a:xfrm>
            <a:off x="131794" y="1193783"/>
            <a:ext cx="11928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12356"/>
                </a:solidFill>
                <a:latin typeface="Berlin Sans FB" panose="020E0602020502020306" pitchFamily="34" charset="0"/>
              </a:rPr>
              <a:t>On-The-Fly Launch GIS Enabled Mobile Application using Dynamic Forms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A33174-9E33-E196-4EB5-078543E2B2DC}"/>
              </a:ext>
            </a:extLst>
          </p:cNvPr>
          <p:cNvSpPr txBox="1"/>
          <p:nvPr/>
        </p:nvSpPr>
        <p:spPr>
          <a:xfrm>
            <a:off x="7434944" y="4045767"/>
            <a:ext cx="49638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Few Implementations: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Ujjain Auto Mela -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Vehicle Dispatch &amp; Sale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Borewell Management System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PHE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Farm Survey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Beej Nigam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Site Inspection App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Alirajpur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 Collectorate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14 Inspection forms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Labour Department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Survey Of India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to conduct geographical survey</a:t>
            </a: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241C7A-FA55-1A7D-3392-53EB8524F4B2}"/>
              </a:ext>
            </a:extLst>
          </p:cNvPr>
          <p:cNvGrpSpPr/>
          <p:nvPr/>
        </p:nvGrpSpPr>
        <p:grpSpPr>
          <a:xfrm>
            <a:off x="97975" y="1962057"/>
            <a:ext cx="6971956" cy="4862870"/>
            <a:chOff x="97975" y="2070917"/>
            <a:chExt cx="6971956" cy="486287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D90E7C-F37D-ACF5-75F8-27647F2F2615}"/>
                </a:ext>
              </a:extLst>
            </p:cNvPr>
            <p:cNvSpPr txBox="1"/>
            <p:nvPr/>
          </p:nvSpPr>
          <p:spPr>
            <a:xfrm>
              <a:off x="97975" y="2070917"/>
              <a:ext cx="6971956" cy="48628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00038" indent="-300038">
                <a:buFont typeface="Wingdings" panose="05000000000000000000" pitchFamily="2" charset="2"/>
                <a:buChar char="v"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+mn-cs"/>
                </a:rPr>
                <a:t>Ease of Use: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+mn-cs"/>
                </a:rPr>
                <a:t> </a:t>
              </a:r>
              <a:r>
                <a:rPr lang="en-US" sz="2000" dirty="0">
                  <a:solidFill>
                    <a:schemeClr val="tx2"/>
                  </a:solidFill>
                  <a:latin typeface="Calibri" panose="020F0502020204030204" pitchFamily="34" charset="0"/>
                </a:rPr>
                <a:t>Department’s admin Or business user can create their own custom forms.  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+mn-cs"/>
                </a:rPr>
                <a:t>No dependencies on code/development/build. </a:t>
              </a:r>
              <a:r>
                <a:rPr lang="en-US" sz="1400" dirty="0">
                  <a:solidFill>
                    <a:schemeClr val="tx2"/>
                  </a:solidFill>
                  <a:latin typeface="Calibri" panose="020F0502020204030204" pitchFamily="34" charset="0"/>
                </a:rPr>
                <a:t>Usage could be for Survey, Inspection, Data Collection, Questionnaire or General Purpose.  </a:t>
              </a:r>
            </a:p>
            <a:p>
              <a:pPr marL="300038" indent="-300038">
                <a:buFont typeface="Wingdings" panose="05000000000000000000" pitchFamily="2" charset="2"/>
                <a:buChar char="v"/>
              </a:pPr>
              <a:endParaRPr lang="en-US" sz="1400" dirty="0">
                <a:solidFill>
                  <a:schemeClr val="tx2"/>
                </a:solidFill>
                <a:latin typeface="Calibri" panose="020F0502020204030204" pitchFamily="34" charset="0"/>
              </a:endParaRPr>
            </a:p>
            <a:p>
              <a:pPr marL="300038" indent="-300038">
                <a:buFont typeface="Wingdings" panose="05000000000000000000" pitchFamily="2" charset="2"/>
                <a:buChar char="v"/>
              </a:pPr>
              <a:r>
                <a:rPr lang="en-US" sz="2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Workflow:</a:t>
              </a:r>
              <a:r>
                <a:rPr lang="en-US" sz="24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Parakh Survey and Inspection forms are equipped with a workflow. The Admin can “initiate &amp; assign” a survey, inspection, or initiate a general form.</a:t>
              </a:r>
              <a:b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b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endParaRPr lang="en-US" sz="16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300038" indent="-300038">
                <a:buFont typeface="Wingdings" panose="05000000000000000000" pitchFamily="2" charset="2"/>
                <a:buChar char="v"/>
              </a:pPr>
              <a:r>
                <a:rPr lang="en-US" sz="20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Reach:</a:t>
              </a:r>
              <a:r>
                <a:rPr lang="en-US" sz="2400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Enables “Citizens” and “Age             </a:t>
              </a:r>
              <a:r>
                <a:rPr lang="en-US" sz="200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ncies</a:t>
              </a:r>
              <a:r>
                <a:rPr lang="en-US" sz="2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” to fill out the forms.</a:t>
              </a:r>
            </a:p>
            <a:p>
              <a:r>
                <a:rPr lang="en-US" sz="14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br>
                <a:rPr lang="en-US" sz="140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endParaRPr lang="en-US" sz="3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300038" indent="-300038">
                <a:buFont typeface="Wingdings" panose="05000000000000000000" pitchFamily="2" charset="2"/>
                <a:buChar char="v"/>
              </a:pPr>
              <a:r>
                <a:rPr lang="en-US" sz="2000" b="1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</a:rPr>
                <a:t>Solution:</a:t>
              </a:r>
              <a:r>
                <a:rPr lang="en-US" sz="2400" b="1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Versatile solution designed for both Mobile and Web. </a:t>
              </a:r>
              <a:endParaRPr lang="en-US" sz="18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300038" indent="-300038">
                <a:buFont typeface="Wingdings" panose="05000000000000000000" pitchFamily="2" charset="2"/>
                <a:buChar char="v"/>
              </a:pPr>
              <a:endParaRPr lang="en-US" sz="8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300038" indent="-300038">
                <a:buFont typeface="Wingdings" panose="05000000000000000000" pitchFamily="2" charset="2"/>
                <a:buChar char="v"/>
              </a:pPr>
              <a:r>
                <a:rPr lang="en-US" sz="2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Quick to Launch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+mn-cs"/>
                </a:rPr>
                <a:t>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+mn-cs"/>
                </a:rPr>
                <a:t>  </a:t>
              </a:r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Create a form using UI interface(web) and launch it on Mobile. </a:t>
              </a:r>
              <a:endParaRPr lang="en-IN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63A710A4-74A9-E9E1-E3C7-0C74C022D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14381" y="4448162"/>
              <a:ext cx="3350248" cy="690951"/>
            </a:xfrm>
            <a:prstGeom prst="rect">
              <a:avLst/>
            </a:prstGeom>
          </p:spPr>
        </p:pic>
      </p:grpSp>
      <p:pic>
        <p:nvPicPr>
          <p:cNvPr id="3" name="Picture 2">
            <a:hlinkClick r:id="rId7"/>
            <a:extLst>
              <a:ext uri="{FF2B5EF4-FFF2-40B4-BE49-F238E27FC236}">
                <a16:creationId xmlns:a16="http://schemas.microsoft.com/office/drawing/2014/main" id="{609FDC6F-BF5B-7360-A837-C484E9E61B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3247" y="6414057"/>
            <a:ext cx="1332602" cy="3717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33061D-5920-78B2-9C45-8C20AD9E78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671" y="6413871"/>
            <a:ext cx="1261494" cy="35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Berlin Sans FB</vt:lpstr>
      <vt:lpstr>Calibri</vt:lpstr>
      <vt:lpstr>Calibri Light</vt:lpstr>
      <vt:lpstr>Poppins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Asif Khan</dc:creator>
  <cp:lastModifiedBy>Asif Khan</cp:lastModifiedBy>
  <cp:revision>1</cp:revision>
  <dcterms:created xsi:type="dcterms:W3CDTF">2025-08-13T06:05:36Z</dcterms:created>
  <dcterms:modified xsi:type="dcterms:W3CDTF">2025-08-13T06:05:43Z</dcterms:modified>
</cp:coreProperties>
</file>