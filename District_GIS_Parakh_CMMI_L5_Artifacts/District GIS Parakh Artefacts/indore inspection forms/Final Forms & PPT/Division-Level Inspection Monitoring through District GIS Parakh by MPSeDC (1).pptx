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72247"/>
            <a:ext cx="11426810" cy="47705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2500" b="1">
                <a:solidFill>
                  <a:srgbClr val="113054"/>
                </a:solidFill>
                <a:latin typeface="Aptos"/>
              </a:defRPr>
            </a:pPr>
            <a:r>
              <a:rPr lang="en-IN" sz="2500" b="1" u="sng" dirty="0">
                <a:solidFill>
                  <a:srgbClr val="FF0000"/>
                </a:solidFill>
                <a:latin typeface="Aptos"/>
              </a:rPr>
              <a:t>Division-Level Inspection Monitoring through District GIS Parakh by </a:t>
            </a:r>
            <a:r>
              <a:rPr lang="en-IN" sz="2500" b="1" u="sng" dirty="0" err="1">
                <a:solidFill>
                  <a:srgbClr val="FF0000"/>
                </a:solidFill>
                <a:latin typeface="Aptos"/>
              </a:rPr>
              <a:t>MPSeDC</a:t>
            </a:r>
            <a:r>
              <a:rPr lang="en-IN" sz="2500" b="1" u="sng" dirty="0">
                <a:solidFill>
                  <a:srgbClr val="FF0000"/>
                </a:solidFill>
                <a:latin typeface="Aptos"/>
              </a:rPr>
              <a:t> 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4186" y="1643492"/>
            <a:ext cx="10716203" cy="33855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>
              <a:defRPr sz="1080" b="1">
                <a:solidFill>
                  <a:srgbClr val="187E67"/>
                </a:solidFill>
                <a:latin typeface="Aptos"/>
              </a:defRPr>
            </a:pPr>
            <a:r>
              <a:rPr sz="1600" dirty="0"/>
              <a:t>End-to-End Inspection Workflow: Field Capture → Review &amp; Action → Collectorate Monitoring → Divisional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99" y="1965759"/>
            <a:ext cx="26334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3499" y="1965759"/>
            <a:ext cx="2633472" cy="64008"/>
          </a:xfrm>
          <a:prstGeom prst="rect">
            <a:avLst/>
          </a:prstGeom>
          <a:solidFill>
            <a:srgbClr val="2D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3227" y="2115041"/>
            <a:ext cx="2414015" cy="24688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50" b="1">
                <a:solidFill>
                  <a:srgbClr val="2D67A0"/>
                </a:solidFill>
                <a:latin typeface="Aptos"/>
              </a:defRPr>
            </a:pPr>
            <a:r>
              <a:t>1  FIELD INSPECTION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515" y="2425937"/>
            <a:ext cx="2377439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919" b="0">
                <a:solidFill>
                  <a:srgbClr val="2D3744"/>
                </a:solidFill>
                <a:latin typeface="Aptos"/>
              </a:defRPr>
            </a:pPr>
            <a:r>
              <a:t>Department-specific checklist</a:t>
            </a:r>
            <a:br/>
            <a:r>
              <a:t>Remarks • Photos/Documents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8106" y="1965759"/>
            <a:ext cx="26334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18380" y="1965759"/>
            <a:ext cx="2633472" cy="64008"/>
          </a:xfrm>
          <a:prstGeom prst="rect">
            <a:avLst/>
          </a:prstGeom>
          <a:solidFill>
            <a:srgbClr val="2C8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18384" y="2115041"/>
            <a:ext cx="2414015" cy="24688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50" b="1">
                <a:solidFill>
                  <a:srgbClr val="2C8263"/>
                </a:solidFill>
                <a:latin typeface="Aptos"/>
              </a:defRPr>
            </a:pPr>
            <a:r>
              <a:rPr dirty="0"/>
              <a:t>2  REVIEW &amp;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2350" y="2396076"/>
            <a:ext cx="2377439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919" b="0">
                <a:solidFill>
                  <a:srgbClr val="2D3744"/>
                </a:solidFill>
                <a:latin typeface="Aptos"/>
              </a:defRPr>
            </a:pPr>
            <a:r>
              <a:rPr dirty="0"/>
              <a:t>Reporting Officer reviews</a:t>
            </a:r>
            <a:br>
              <a:rPr dirty="0"/>
            </a:br>
            <a:r>
              <a:rPr dirty="0"/>
              <a:t>Verifies / Rejects with remarks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8194" y="1965759"/>
            <a:ext cx="26334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87920" y="1965759"/>
            <a:ext cx="2633472" cy="64008"/>
          </a:xfrm>
          <a:prstGeom prst="rect">
            <a:avLst/>
          </a:prstGeom>
          <a:solidFill>
            <a:srgbClr val="C67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4908" y="2115041"/>
            <a:ext cx="2414015" cy="24688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50" b="1">
                <a:solidFill>
                  <a:srgbClr val="C67526"/>
                </a:solidFill>
                <a:latin typeface="Aptos"/>
              </a:defRPr>
            </a:pPr>
            <a:r>
              <a:rPr dirty="0"/>
              <a:t>3  COLLECTORATE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5113" y="2425937"/>
            <a:ext cx="2377439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919" b="0">
                <a:solidFill>
                  <a:srgbClr val="2D3744"/>
                </a:solidFill>
                <a:latin typeface="Aptos"/>
              </a:defRPr>
            </a:pPr>
            <a:r>
              <a:rPr dirty="0"/>
              <a:t>State Admin / Nodal Officer</a:t>
            </a:r>
            <a:br>
              <a:rPr dirty="0"/>
            </a:br>
            <a:r>
              <a:rPr dirty="0"/>
              <a:t>Consolidated district-level oversight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80065" y="1965759"/>
            <a:ext cx="26334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480065" y="1965759"/>
            <a:ext cx="2633472" cy="64008"/>
          </a:xfrm>
          <a:prstGeom prst="rect">
            <a:avLst/>
          </a:prstGeom>
          <a:solidFill>
            <a:srgbClr val="67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89793" y="2115041"/>
            <a:ext cx="2414015" cy="24688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50" b="1">
                <a:solidFill>
                  <a:srgbClr val="674E96"/>
                </a:solidFill>
                <a:latin typeface="Aptos"/>
              </a:defRPr>
            </a:pPr>
            <a:r>
              <a:t>4  DIVISIONAL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8081" y="2425937"/>
            <a:ext cx="2377439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919" b="0">
                <a:solidFill>
                  <a:srgbClr val="2D3744"/>
                </a:solidFill>
                <a:latin typeface="Aptos"/>
              </a:defRPr>
            </a:pPr>
            <a:r>
              <a:t>8 districts + departments</a:t>
            </a:r>
            <a:br/>
            <a:r>
              <a:t>Division-level report &amp; analytics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99" y="2907803"/>
            <a:ext cx="2633472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4939" y="3017531"/>
            <a:ext cx="2450592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19" b="1">
                <a:solidFill>
                  <a:srgbClr val="2D67A0"/>
                </a:solidFill>
                <a:latin typeface="Aptos"/>
              </a:defRPr>
            </a:pPr>
            <a:r>
              <a:t>INSPECTION 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939" y="3264419"/>
            <a:ext cx="2450592" cy="34747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19" b="0">
                <a:solidFill>
                  <a:srgbClr val="2D3744"/>
                </a:solidFill>
                <a:latin typeface="Aptos"/>
              </a:defRPr>
            </a:pPr>
            <a:r>
              <a:t>Published department inspection form / checklist</a:t>
            </a:r>
          </a:p>
        </p:txBody>
      </p:sp>
      <p:pic>
        <p:nvPicPr>
          <p:cNvPr id="24" name="Picture 23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39" y="3675899"/>
            <a:ext cx="2450592" cy="21031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14939" y="5888747"/>
            <a:ext cx="245059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80" b="1">
                <a:solidFill>
                  <a:srgbClr val="2D67A0"/>
                </a:solidFill>
                <a:latin typeface="Aptos"/>
              </a:defRPr>
            </a:pPr>
            <a:r>
              <a:t>Form / Checklist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48411" y="2907803"/>
            <a:ext cx="3325318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22834" y="3017531"/>
            <a:ext cx="2450592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19" b="1">
                <a:solidFill>
                  <a:srgbClr val="2C8263"/>
                </a:solidFill>
                <a:latin typeface="Aptos"/>
              </a:defRPr>
            </a:pPr>
            <a:r>
              <a:t>REPORTING OFFICER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2834" y="3264419"/>
            <a:ext cx="2450592" cy="34747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19" b="0">
                <a:solidFill>
                  <a:srgbClr val="2D3744"/>
                </a:solidFill>
                <a:latin typeface="Aptos"/>
              </a:defRPr>
            </a:pPr>
            <a:r>
              <a:t>Verify Inspection: status + remarks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4577" y="5789536"/>
            <a:ext cx="245059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80" b="1">
                <a:solidFill>
                  <a:srgbClr val="2C8263"/>
                </a:solidFill>
                <a:latin typeface="Aptos"/>
              </a:defRPr>
            </a:pPr>
            <a:r>
              <a:rPr dirty="0"/>
              <a:t>RO Action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7136" y="2907803"/>
            <a:ext cx="3207784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76619" y="3017531"/>
            <a:ext cx="2450592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19" b="1">
                <a:solidFill>
                  <a:srgbClr val="C67526"/>
                </a:solidFill>
                <a:latin typeface="Aptos"/>
              </a:defRPr>
            </a:pPr>
            <a:r>
              <a:t>COLLECTORATE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6619" y="3264419"/>
            <a:ext cx="2450592" cy="34747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19" b="0">
                <a:solidFill>
                  <a:srgbClr val="2D3744"/>
                </a:solidFill>
                <a:latin typeface="Aptos"/>
              </a:defRPr>
            </a:pPr>
            <a:r>
              <a:t>State Admin view: Verified / Accept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6619" y="5888747"/>
            <a:ext cx="245059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80" b="1">
                <a:solidFill>
                  <a:srgbClr val="C67526"/>
                </a:solidFill>
                <a:latin typeface="Aptos"/>
              </a:defRPr>
            </a:pPr>
            <a:r>
              <a:t>District Monitoring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80065" y="2907803"/>
            <a:ext cx="2633472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71505" y="3017531"/>
            <a:ext cx="2450592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19" b="1">
                <a:solidFill>
                  <a:srgbClr val="674E96"/>
                </a:solidFill>
                <a:latin typeface="Aptos"/>
              </a:defRPr>
            </a:pPr>
            <a:r>
              <a:t>DIVISIONAL MONITORING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1505" y="3264419"/>
            <a:ext cx="2450592" cy="34747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19" b="0">
                <a:solidFill>
                  <a:srgbClr val="2D3744"/>
                </a:solidFill>
                <a:latin typeface="Aptos"/>
              </a:defRPr>
            </a:pPr>
            <a:r>
              <a:rPr dirty="0"/>
              <a:t>Division-level Department General Report</a:t>
            </a:r>
          </a:p>
        </p:txBody>
      </p:sp>
      <p:pic>
        <p:nvPicPr>
          <p:cNvPr id="39" name="Picture 38" descr="image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793" y="3557027"/>
            <a:ext cx="2450592" cy="21031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571505" y="5888747"/>
            <a:ext cx="245059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80" b="1">
                <a:solidFill>
                  <a:srgbClr val="674E96"/>
                </a:solidFill>
                <a:latin typeface="Aptos"/>
              </a:defRPr>
            </a:pPr>
            <a:r>
              <a:t>Division Monitoring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6393584"/>
            <a:ext cx="11183112" cy="457200"/>
          </a:xfrm>
          <a:prstGeom prst="roundRect">
            <a:avLst/>
          </a:prstGeom>
          <a:solidFill>
            <a:srgbClr val="11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" y="6469924"/>
            <a:ext cx="10771632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dirty="0"/>
              <a:t>ONE PLATFORM  •  MULTIPLE DEPARTMENTS  •  8 DISTRICTS  •  UNIFIED MONITORING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B1A66E-EECF-93A3-2EF4-7205EEF2D775}"/>
              </a:ext>
            </a:extLst>
          </p:cNvPr>
          <p:cNvSpPr txBox="1"/>
          <p:nvPr/>
        </p:nvSpPr>
        <p:spPr>
          <a:xfrm>
            <a:off x="410524" y="605049"/>
            <a:ext cx="111687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solidFill>
                  <a:schemeClr val="accent1"/>
                </a:solidFill>
              </a:rPr>
              <a:t>Use Cases- </a:t>
            </a:r>
            <a:r>
              <a:rPr lang="en-IN" b="1" dirty="0"/>
              <a:t>District GIS Parakh enables centralized inspection monitoring across all 8 districts of Indore Division through a unified divisional hierarchy.</a:t>
            </a:r>
            <a:r>
              <a:rPr lang="en-IN" dirty="0"/>
              <a:t> It provides </a:t>
            </a:r>
            <a:r>
              <a:rPr lang="en-IN" b="1" dirty="0"/>
              <a:t>district- and department-wise visibility, division-scoped user management, and consolidated inspection reports</a:t>
            </a:r>
            <a:r>
              <a:rPr lang="en-IN" dirty="0"/>
              <a:t> for effective review and administrative monitoring.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79EC2F-8038-8918-12F5-D7EA9482C6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48410" y="3513325"/>
            <a:ext cx="3300486" cy="2002435"/>
          </a:xfrm>
          <a:prstGeom prst="rect">
            <a:avLst/>
          </a:prstGeom>
        </p:spPr>
      </p:pic>
      <p:pic>
        <p:nvPicPr>
          <p:cNvPr id="45" name="Picture 44" descr="image17.png">
            <a:extLst>
              <a:ext uri="{FF2B5EF4-FFF2-40B4-BE49-F238E27FC236}">
                <a16:creationId xmlns:a16="http://schemas.microsoft.com/office/drawing/2014/main" id="{7C0B6509-9DDC-FCDB-FCEE-DB2C2BFF7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531" y="4971950"/>
            <a:ext cx="1613605" cy="1171833"/>
          </a:xfrm>
          <a:prstGeom prst="rect">
            <a:avLst/>
          </a:prstGeom>
        </p:spPr>
      </p:pic>
      <p:pic>
        <p:nvPicPr>
          <p:cNvPr id="46" name="Picture 45" descr="The image shows a dashboard interface with various columns displaying data related to school management, including user information, school categories, and verification status.&#10;&#10;AI-generated content may be incorrect.">
            <a:extLst>
              <a:ext uri="{FF2B5EF4-FFF2-40B4-BE49-F238E27FC236}">
                <a16:creationId xmlns:a16="http://schemas.microsoft.com/office/drawing/2014/main" id="{7D578FAE-F82B-A310-5A5F-F96CE40BAB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194041" y="3513325"/>
            <a:ext cx="3233987" cy="19547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115568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>
              <a:defRPr sz="2500" b="1">
                <a:solidFill>
                  <a:srgbClr val="113054"/>
                </a:solidFill>
                <a:latin typeface="Aptos"/>
              </a:defRPr>
            </a:pPr>
            <a:r>
              <a:t>Official Letters | Inspection Management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21792"/>
            <a:ext cx="10972800" cy="24688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>
              <a:defRPr sz="1100" b="1">
                <a:solidFill>
                  <a:srgbClr val="187E67"/>
                </a:solidFill>
                <a:latin typeface="Aptos"/>
              </a:defRPr>
            </a:pPr>
            <a:r>
              <a:t>Official communication supporting the Inspection Management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5504688" cy="5413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16152"/>
            <a:ext cx="5138928" cy="31089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150" b="1">
                <a:solidFill>
                  <a:srgbClr val="674E96"/>
                </a:solidFill>
                <a:latin typeface="Aptos"/>
              </a:defRPr>
            </a:pPr>
            <a:r>
              <a:t>LETTER FROM COMMISSIONER, INDORE DIVISION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17621" y="1207008"/>
            <a:ext cx="5495544" cy="5413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3368" y="1216152"/>
            <a:ext cx="5129784" cy="31089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150" b="1">
                <a:solidFill>
                  <a:srgbClr val="2D67A0"/>
                </a:solidFill>
                <a:latin typeface="Aptos"/>
              </a:defRPr>
            </a:pPr>
            <a:r>
              <a:rPr dirty="0"/>
              <a:t>LETTER FROM </a:t>
            </a:r>
            <a:r>
              <a:rPr dirty="0" err="1"/>
              <a:t>MPSeDC</a:t>
            </a:r>
            <a:endParaRPr dirty="0"/>
          </a:p>
        </p:txBody>
      </p:sp>
      <p:pic>
        <p:nvPicPr>
          <p:cNvPr id="9" name="Picture 8" descr="WhatsApp Image 2026-09-10 at 12.44.26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741" y="1527048"/>
            <a:ext cx="3461046" cy="4800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11064240" cy="1645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>
              <a:defRPr sz="750" b="0">
                <a:solidFill>
                  <a:srgbClr val="697380"/>
                </a:solidFill>
                <a:latin typeface="Aptos"/>
              </a:defRPr>
            </a:pPr>
            <a:r>
              <a:t>Official documents provided with the District GIS Parakh project materials</a:t>
            </a:r>
          </a:p>
        </p:txBody>
      </p:sp>
      <p:pic>
        <p:nvPicPr>
          <p:cNvPr id="12" name="Picture 11" descr="letter_mpsedc_highres.png">
            <a:extLst>
              <a:ext uri="{FF2B5EF4-FFF2-40B4-BE49-F238E27FC236}">
                <a16:creationId xmlns:a16="http://schemas.microsoft.com/office/drawing/2014/main" id="{A5408EE4-9D82-0992-4CB3-43A39D53E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562" y="1536192"/>
            <a:ext cx="3573395" cy="480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201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Nitin Chauhan</cp:lastModifiedBy>
  <cp:revision>3</cp:revision>
  <dcterms:created xsi:type="dcterms:W3CDTF">2013-01-27T09:14:16Z</dcterms:created>
  <dcterms:modified xsi:type="dcterms:W3CDTF">2026-09-10T07:54:09Z</dcterms:modified>
  <cp:category/>
</cp:coreProperties>
</file>