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3" r:id="rId2"/>
  </p:sldMasterIdLst>
  <p:notesMasterIdLst>
    <p:notesMasterId r:id="rId13"/>
  </p:notesMasterIdLst>
  <p:sldIdLst>
    <p:sldId id="256" r:id="rId3"/>
    <p:sldId id="2147481705" r:id="rId4"/>
    <p:sldId id="258" r:id="rId5"/>
    <p:sldId id="2147481707" r:id="rId6"/>
    <p:sldId id="2147481708" r:id="rId7"/>
    <p:sldId id="261" r:id="rId8"/>
    <p:sldId id="262" r:id="rId9"/>
    <p:sldId id="264" r:id="rId10"/>
    <p:sldId id="265" r:id="rId11"/>
    <p:sldId id="266" r:id="rId12"/>
  </p:sldIdLst>
  <p:sldSz cx="9144000" cy="5143500" type="screen16x9"/>
  <p:notesSz cx="6858000" cy="9947275"/>
  <p:embeddedFontLst>
    <p:embeddedFont>
      <p:font typeface="Aptos" panose="020B0004020202020204" pitchFamily="34" charset="0"/>
      <p:regular r:id="rId14"/>
      <p:bold r:id="rId15"/>
      <p:italic r:id="rId16"/>
      <p:boldItalic r:id="rId17"/>
    </p:embeddedFont>
    <p:embeddedFont>
      <p:font typeface="Barlow Semi Condensed Medium" panose="020F0502020204030204" pitchFamily="34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Fjalla One" panose="02000506040000020004" pitchFamily="2" charset="0"/>
      <p:regular r:id="rId26"/>
    </p:embeddedFont>
    <p:embeddedFont>
      <p:font typeface="Poppins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gIVXX+eRkDrNyVnPVFmEM8Yj09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6A362D-EF2E-49FF-A73B-C6A77E459770}">
  <a:tblStyle styleId="{FE6A362D-EF2E-49FF-A73B-C6A77E45977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5"/>
  </p:normalViewPr>
  <p:slideViewPr>
    <p:cSldViewPr snapToGrid="0">
      <p:cViewPr varScale="1">
        <p:scale>
          <a:sx n="129" d="100"/>
          <a:sy n="129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D9296-2035-46E6-F4A2-5CB4E1C4A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148CC-D449-3FB1-A232-1E4E48987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E696A-02F3-3A87-BC10-7FB87488A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153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3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4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002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5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6699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6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7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8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9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10:notes"/>
          <p:cNvSpPr txBox="1">
            <a:spLocks noGrp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1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1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1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" name="Google Shape;13;p1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1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1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1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1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1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5;p1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1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1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1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6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45" name="Google Shape;45;p16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16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7" name="Google Shape;47;p16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48" name="Google Shape;48;p1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1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1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" name="Google Shape;52;p16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53" name="Google Shape;53;p1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1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1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Google Shape;57;p16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58" name="Google Shape;58;p1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1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7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66" name="Google Shape;66;p17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7" name="Google Shape;67;p17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68" name="Google Shape;68;p1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1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17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75" name="Google Shape;75;p1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79;p17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80" name="Google Shape;80;p1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4" name="Google Shape;84;p17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5" name="Google Shape;85;p17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86" name="Google Shape;86;p1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92;p17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93" name="Google Shape;93;p1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" name="Google Shape;97;p17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98" name="Google Shape;98;p1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" name="Google Shape;102;p17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03" name="Google Shape;103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" name="Google Shape;106;p17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07" name="Google Shape;107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17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11" name="Google Shape;111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" name="Google Shape;114;p17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15" name="Google Shape;115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8" name="Google Shape;118;p17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17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0" name="Google Shape;120;p17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26" name="Google Shape;126;p1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1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1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1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30" name="Google Shape;130;p1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31" name="Google Shape;131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" name="Google Shape;137;p1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38" name="Google Shape;138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" name="Google Shape;142;p1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3" name="Google Shape;143;p1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" name="Google Shape;147;p1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48" name="Google Shape;148;p1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1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5" name="Google Shape;155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8" name="Google Shape;158;p1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9" name="Google Shape;159;p1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" name="Google Shape;160;p1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61" name="Google Shape;161;p1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62" name="Google Shape;162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" name="Google Shape;168;p1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1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74" name="Google Shape;174;p1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8" name="Google Shape;178;p1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4" name="Google Shape;184;p1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85" name="Google Shape;185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1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89" name="Google Shape;189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9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44" name="Google Shape;244;p24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45" name="Google Shape;24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25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52" name="Google Shape;252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7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" descr="A computer chip on a map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"/>
          <p:cNvSpPr txBox="1">
            <a:spLocks noGrp="1"/>
          </p:cNvSpPr>
          <p:nvPr>
            <p:ph type="ctrTitle"/>
          </p:nvPr>
        </p:nvSpPr>
        <p:spPr>
          <a:xfrm>
            <a:off x="372674" y="1419608"/>
            <a:ext cx="5811934" cy="83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MPSSDI – GIS </a:t>
            </a:r>
            <a:r>
              <a:rPr lang="en-US" sz="2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Projects</a:t>
            </a:r>
            <a:endParaRPr sz="2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"/>
          <p:cNvSpPr txBox="1"/>
          <p:nvPr/>
        </p:nvSpPr>
        <p:spPr>
          <a:xfrm>
            <a:off x="427288" y="4244063"/>
            <a:ext cx="7768127" cy="49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 Medium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Department of Science &amp; Technology , </a:t>
            </a:r>
            <a:endParaRPr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 Medium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Government of Madhya Pradesh</a:t>
            </a: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4" name="Google Shape;274;p1" descr="A circular emblem with a lion and a tre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411" y="245360"/>
            <a:ext cx="762002" cy="76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E1EF-0061-6840-957A-112F86AA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67EE14-8B2C-8C05-3621-397C040E43E8}"/>
              </a:ext>
            </a:extLst>
          </p:cNvPr>
          <p:cNvSpPr txBox="1">
            <a:spLocks/>
          </p:cNvSpPr>
          <p:nvPr/>
        </p:nvSpPr>
        <p:spPr>
          <a:xfrm>
            <a:off x="137160" y="102395"/>
            <a:ext cx="8892540" cy="489810"/>
          </a:xfrm>
          <a:prstGeom prst="rect">
            <a:avLst/>
          </a:prstGeom>
        </p:spPr>
        <p:style>
          <a:lnRef idx="0">
            <a:schemeClr val="dk1"/>
          </a:lnRef>
          <a:fillRef idx="1001">
            <a:schemeClr val="dk2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600" b="1">
                <a:solidFill>
                  <a:srgbClr val="00468C"/>
                </a:solidFill>
              </a:defRPr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j-ea"/>
                <a:cs typeface="Arial"/>
                <a:sym typeface="Arial"/>
              </a:rPr>
              <a:t>MPSSDI _ Manager Level / Development / Data Team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F26772-538E-049A-355A-62D0AADE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95701" y="4767261"/>
            <a:ext cx="2057400" cy="27384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E040F3-9F5F-4069-A5B8-1C4A603455DB}" type="slidenum">
              <a:rPr kumimoji="0" lang="en-IN" sz="9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IN" sz="9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D95452-11F6-83E2-F1C0-CE4035113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792800"/>
              </p:ext>
            </p:extLst>
          </p:nvPr>
        </p:nvGraphicFramePr>
        <p:xfrm>
          <a:off x="137161" y="736012"/>
          <a:ext cx="2827266" cy="4031258"/>
        </p:xfrm>
        <a:graphic>
          <a:graphicData uri="http://schemas.openxmlformats.org/drawingml/2006/table">
            <a:tbl>
              <a:tblPr/>
              <a:tblGrid>
                <a:gridCol w="456932">
                  <a:extLst>
                    <a:ext uri="{9D8B030D-6E8A-4147-A177-3AD203B41FA5}">
                      <a16:colId xmlns:a16="http://schemas.microsoft.com/office/drawing/2014/main" val="2277292917"/>
                    </a:ext>
                  </a:extLst>
                </a:gridCol>
                <a:gridCol w="1332718">
                  <a:extLst>
                    <a:ext uri="{9D8B030D-6E8A-4147-A177-3AD203B41FA5}">
                      <a16:colId xmlns:a16="http://schemas.microsoft.com/office/drawing/2014/main" val="3973463976"/>
                    </a:ext>
                  </a:extLst>
                </a:gridCol>
                <a:gridCol w="1037616">
                  <a:extLst>
                    <a:ext uri="{9D8B030D-6E8A-4147-A177-3AD203B41FA5}">
                      <a16:colId xmlns:a16="http://schemas.microsoft.com/office/drawing/2014/main" val="557169578"/>
                    </a:ext>
                  </a:extLst>
                </a:gridCol>
              </a:tblGrid>
              <a:tr h="2143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+mn-lt"/>
                        </a:rPr>
                        <a:t>S. No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552" marR="7552" marT="7552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u="none" strike="noStrike">
                          <a:effectLst/>
                          <a:latin typeface="+mn-lt"/>
                        </a:rPr>
                        <a:t>Development Team 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552" marR="7552" marT="7552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+mn-lt"/>
                        </a:rPr>
                        <a:t>Count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552" marR="7552" marT="7552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564956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Technical Lead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1502719712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Dot Net Developer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1465621836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GIS Developer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1663695401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Mobile Developer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3691334933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Testing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2217412620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Business Analyst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2779541218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 Developer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4066249768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Desktop Developer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2232009520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Dot Net Developer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700305977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GIS Developer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2317084286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Mobile Developer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3739412998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Analyst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1125813331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Testing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1152653773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 Administrator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2660399208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UI/UX Designer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2750370965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Cloud Solution Architect</a:t>
                      </a: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1366092067"/>
                  </a:ext>
                </a:extLst>
              </a:tr>
              <a:tr h="224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2" marR="7552" marT="7552" marB="0" anchor="ctr"/>
                </a:tc>
                <a:extLst>
                  <a:ext uri="{0D108BD9-81ED-4DB2-BD59-A6C34878D82A}">
                    <a16:rowId xmlns:a16="http://schemas.microsoft.com/office/drawing/2014/main" val="254753615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A06FA2-A5C8-7AEC-63EA-60621C633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390578"/>
              </p:ext>
            </p:extLst>
          </p:nvPr>
        </p:nvGraphicFramePr>
        <p:xfrm>
          <a:off x="3076472" y="736012"/>
          <a:ext cx="3103104" cy="1958980"/>
        </p:xfrm>
        <a:graphic>
          <a:graphicData uri="http://schemas.openxmlformats.org/drawingml/2006/table">
            <a:tbl>
              <a:tblPr/>
              <a:tblGrid>
                <a:gridCol w="478936">
                  <a:extLst>
                    <a:ext uri="{9D8B030D-6E8A-4147-A177-3AD203B41FA5}">
                      <a16:colId xmlns:a16="http://schemas.microsoft.com/office/drawing/2014/main" val="3511427671"/>
                    </a:ext>
                  </a:extLst>
                </a:gridCol>
                <a:gridCol w="1842502">
                  <a:extLst>
                    <a:ext uri="{9D8B030D-6E8A-4147-A177-3AD203B41FA5}">
                      <a16:colId xmlns:a16="http://schemas.microsoft.com/office/drawing/2014/main" val="3647021867"/>
                    </a:ext>
                  </a:extLst>
                </a:gridCol>
                <a:gridCol w="781666">
                  <a:extLst>
                    <a:ext uri="{9D8B030D-6E8A-4147-A177-3AD203B41FA5}">
                      <a16:colId xmlns:a16="http://schemas.microsoft.com/office/drawing/2014/main" val="342991653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 No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Manager Level Team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0633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 Manager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049493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Software Manager (GIS)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672876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GIS Manager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756309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Manager-photogrammetry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224250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Manager Remote Sensing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045576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Analyst Lead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56441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PeMT</a:t>
                      </a: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-Consultant IT Management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300924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Manager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270166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8200419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44BC03-02D0-15F6-787C-A7A1EC763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254422"/>
              </p:ext>
            </p:extLst>
          </p:nvPr>
        </p:nvGraphicFramePr>
        <p:xfrm>
          <a:off x="3063968" y="2998939"/>
          <a:ext cx="3115607" cy="1768322"/>
        </p:xfrm>
        <a:graphic>
          <a:graphicData uri="http://schemas.openxmlformats.org/drawingml/2006/table">
            <a:tbl>
              <a:tblPr>
                <a:tableStyleId>{FE6A362D-EF2E-49FF-A73B-C6A77E459770}</a:tableStyleId>
              </a:tblPr>
              <a:tblGrid>
                <a:gridCol w="491919">
                  <a:extLst>
                    <a:ext uri="{9D8B030D-6E8A-4147-A177-3AD203B41FA5}">
                      <a16:colId xmlns:a16="http://schemas.microsoft.com/office/drawing/2014/main" val="1361469711"/>
                    </a:ext>
                  </a:extLst>
                </a:gridCol>
                <a:gridCol w="1843669">
                  <a:extLst>
                    <a:ext uri="{9D8B030D-6E8A-4147-A177-3AD203B41FA5}">
                      <a16:colId xmlns:a16="http://schemas.microsoft.com/office/drawing/2014/main" val="4190754302"/>
                    </a:ext>
                  </a:extLst>
                </a:gridCol>
                <a:gridCol w="780019">
                  <a:extLst>
                    <a:ext uri="{9D8B030D-6E8A-4147-A177-3AD203B41FA5}">
                      <a16:colId xmlns:a16="http://schemas.microsoft.com/office/drawing/2014/main" val="2305495977"/>
                    </a:ext>
                  </a:extLst>
                </a:gridCol>
              </a:tblGrid>
              <a:tr h="3468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 No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Associate Engineers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290458"/>
                  </a:ext>
                </a:extLst>
              </a:tr>
              <a:tr h="203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Analyst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05806198"/>
                  </a:ext>
                </a:extLst>
              </a:tr>
              <a:tr h="203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 Developer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1110390"/>
                  </a:ext>
                </a:extLst>
              </a:tr>
              <a:tr h="203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Mobile Developer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2118906"/>
                  </a:ext>
                </a:extLst>
              </a:tr>
              <a:tr h="203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Testing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22150240"/>
                  </a:ext>
                </a:extLst>
              </a:tr>
              <a:tr h="203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AI/ML Python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0172400"/>
                  </a:ext>
                </a:extLst>
              </a:tr>
              <a:tr h="203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Dot Net Developer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40390439"/>
                  </a:ext>
                </a:extLst>
              </a:tr>
              <a:tr h="203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5008352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C6234E-B0E6-2217-7670-4D481F73E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735976"/>
              </p:ext>
            </p:extLst>
          </p:nvPr>
        </p:nvGraphicFramePr>
        <p:xfrm>
          <a:off x="6291621" y="736011"/>
          <a:ext cx="2659091" cy="1828799"/>
        </p:xfrm>
        <a:graphic>
          <a:graphicData uri="http://schemas.openxmlformats.org/drawingml/2006/table">
            <a:tbl>
              <a:tblPr>
                <a:tableStyleId>{FE6A362D-EF2E-49FF-A73B-C6A77E459770}</a:tableStyleId>
              </a:tblPr>
              <a:tblGrid>
                <a:gridCol w="467013">
                  <a:extLst>
                    <a:ext uri="{9D8B030D-6E8A-4147-A177-3AD203B41FA5}">
                      <a16:colId xmlns:a16="http://schemas.microsoft.com/office/drawing/2014/main" val="2321561678"/>
                    </a:ext>
                  </a:extLst>
                </a:gridCol>
                <a:gridCol w="1624430">
                  <a:extLst>
                    <a:ext uri="{9D8B030D-6E8A-4147-A177-3AD203B41FA5}">
                      <a16:colId xmlns:a16="http://schemas.microsoft.com/office/drawing/2014/main" val="325794834"/>
                    </a:ext>
                  </a:extLst>
                </a:gridCol>
                <a:gridCol w="567648">
                  <a:extLst>
                    <a:ext uri="{9D8B030D-6E8A-4147-A177-3AD203B41FA5}">
                      <a16:colId xmlns:a16="http://schemas.microsoft.com/office/drawing/2014/main" val="3738586526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 No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Team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5136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Remote Sensing Analyst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1772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GIS Engineer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84214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GIS Data Specialist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06862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GIS Executive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61106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GIS Executive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21182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347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936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"/>
          <p:cNvSpPr txBox="1"/>
          <p:nvPr/>
        </p:nvSpPr>
        <p:spPr>
          <a:xfrm>
            <a:off x="137160" y="102395"/>
            <a:ext cx="8892540" cy="48981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Projects </a:t>
            </a:r>
            <a:endParaRPr/>
          </a:p>
        </p:txBody>
      </p:sp>
      <p:sp>
        <p:nvSpPr>
          <p:cNvPr id="286" name="Google Shape;286;p3"/>
          <p:cNvSpPr txBox="1">
            <a:spLocks noGrp="1"/>
          </p:cNvSpPr>
          <p:nvPr>
            <p:ph type="sldNum" idx="12"/>
          </p:nvPr>
        </p:nvSpPr>
        <p:spPr>
          <a:xfrm>
            <a:off x="6795701" y="476726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9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" name="Google Shape;287;p3"/>
          <p:cNvGraphicFramePr/>
          <p:nvPr>
            <p:extLst>
              <p:ext uri="{D42A27DB-BD31-4B8C-83A1-F6EECF244321}">
                <p14:modId xmlns:p14="http://schemas.microsoft.com/office/powerpoint/2010/main" val="1509898954"/>
              </p:ext>
            </p:extLst>
          </p:nvPr>
        </p:nvGraphicFramePr>
        <p:xfrm>
          <a:off x="137160" y="592205"/>
          <a:ext cx="8869700" cy="4214675"/>
        </p:xfrm>
        <a:graphic>
          <a:graphicData uri="http://schemas.openxmlformats.org/drawingml/2006/table">
            <a:tbl>
              <a:tblPr>
                <a:noFill/>
                <a:tableStyleId>{FE6A362D-EF2E-49FF-A73B-C6A77E459770}</a:tableStyleId>
              </a:tblPr>
              <a:tblGrid>
                <a:gridCol w="41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7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S. No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Project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Department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Project Cost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Current Status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% of Work Completion / Plan ahead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District GIS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Planning / MeitY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52.99 Cr (37.32 + 15.67)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In 41 District,  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8 Division , 5 </a:t>
                      </a:r>
                      <a:r>
                        <a:rPr lang="en-US" sz="100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Municipal Corporation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Resource Deployment in Remaining District, Division, and Municipal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corpo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.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NAKSHA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Land Resources (GoI)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31.825 Cr.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Customization for 21 states has been completed, along with API integration for 5 states, while customization for 2 states is currently in progress and 2 states have not opted for </a:t>
                      </a:r>
                      <a:r>
                        <a:rPr lang="en-US" sz="1000" u="none" strike="noStrike" cap="none" dirty="0" err="1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Naksha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43 Resources working Dedicated in NAKSHA Project</a:t>
                      </a:r>
                      <a:endParaRPr sz="1000" b="1" u="none" strike="noStrike" cap="none" dirty="0"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70% Completed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e</a:t>
                      </a: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-Khanij 2.0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Mineral Resources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30 Cr.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Under </a:t>
                      </a:r>
                      <a:r>
                        <a:rPr lang="en-US" sz="100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</a:t>
                      </a: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evelopment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60 % (Go-Live + Under UAT)</a:t>
                      </a:r>
                      <a:b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40 % (Plan Ahead)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4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E-Abkari MP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Excise Department 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 Cr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Development / Maintenance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Winery Module and Vehicle breakdown App are in Progress 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 FY 2026-27 rollout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of entire project in Angular &amp; React is in progress.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253514997"/>
                  </a:ext>
                </a:extLst>
              </a:tr>
              <a:tr h="23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5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Parakh App and Portal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Multi-Department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 From District GIS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15 districts are using for governance purposes. 2.15 lakh+ inspections completed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Wider departmental adoption is targeted.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6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SIPRI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P&amp;RD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84.86 Lakhs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Planner Integrations and Social Audit Mobile Application, DPR Report Finalization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60% is completed apart from SQM and Social Audit as there are dependencies from WSM Team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7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Gramin Handpump Nigrani (GHAN 2.0)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PHED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26.17 Lakhs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Under development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UAT is in progress.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9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8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Crop Loss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Home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174 Lakhs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Ongoing Support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1. Carried out Crop Damage assessment in 10 villages in Shivpuri in 2026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2. 12 Districts Crop Damage Analysis in 2025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3.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Narmadapuram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,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Ratlam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and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Rajgarh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Croploss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analysis in the 2024. </a:t>
                      </a: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"/>
          <p:cNvSpPr txBox="1"/>
          <p:nvPr/>
        </p:nvSpPr>
        <p:spPr>
          <a:xfrm>
            <a:off x="137160" y="102395"/>
            <a:ext cx="8892540" cy="48981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Projects </a:t>
            </a:r>
            <a:endParaRPr/>
          </a:p>
        </p:txBody>
      </p:sp>
      <p:sp>
        <p:nvSpPr>
          <p:cNvPr id="293" name="Google Shape;293;p4"/>
          <p:cNvSpPr txBox="1">
            <a:spLocks noGrp="1"/>
          </p:cNvSpPr>
          <p:nvPr>
            <p:ph type="sldNum" idx="12"/>
          </p:nvPr>
        </p:nvSpPr>
        <p:spPr>
          <a:xfrm>
            <a:off x="6795701" y="476726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9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4" name="Google Shape;294;p4"/>
          <p:cNvGraphicFramePr/>
          <p:nvPr>
            <p:extLst>
              <p:ext uri="{D42A27DB-BD31-4B8C-83A1-F6EECF244321}">
                <p14:modId xmlns:p14="http://schemas.microsoft.com/office/powerpoint/2010/main" val="3519165188"/>
              </p:ext>
            </p:extLst>
          </p:nvPr>
        </p:nvGraphicFramePr>
        <p:xfrm>
          <a:off x="137186" y="592206"/>
          <a:ext cx="8892500" cy="3863675"/>
        </p:xfrm>
        <a:graphic>
          <a:graphicData uri="http://schemas.openxmlformats.org/drawingml/2006/table">
            <a:tbl>
              <a:tblPr>
                <a:noFill/>
                <a:tableStyleId>{FE6A362D-EF2E-49FF-A73B-C6A77E459770}</a:tableStyleId>
              </a:tblPr>
              <a:tblGrid>
                <a:gridCol w="4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1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1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7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No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Cost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Status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Work Completion / Plan ahead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Sarthak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DST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&amp; Maintenance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 Dashboard </a:t>
                      </a:r>
                      <a:r>
                        <a:rPr lang="en-US" sz="100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updation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Employee's/staff/students/members of the various departments.  Active Users = 1.98 Lakhs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Disaster Warning &amp; Response System (DWRS) 2.0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103.03 Lakhs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1. DWRS 1.0 to 2.0 development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⁠Additional customization based on stakeholder's requirement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⁠Memorandum module for PRC-District Admin customization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highlight>
                            <a:srgbClr val="FFFF00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MP Agri GIS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Farmers Welfare and Agricultural Development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591 Lakhs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GIS-based tools for analyzing soil, irrigation, watershed, and climate parameters to support agricultural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&amp; Maintenance.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MPIDC-GeoPortal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MPIDC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52.29 Lakhs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1 : Planning for Land identification - Live.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2 : Drone Survey Module - Live.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3 : Layout Approval is under development. 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3:  70% complete. Continually follow-up with the department officials to obtain the signoff for Phase 1 &amp; 2 delivery. 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Timeline of P-3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Jal Rekha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Jal Nigam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114.38 Lakhs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modules live = 18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Customizing for PHE is in progress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completion 90%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 &amp; Support/Maintenance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AMRUT Rekha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Urban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41.92 Lakhs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 mapping live across 413 ULBs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 &amp; Support/Maintenance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Well Inventory System (WIS)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CGWB- </a:t>
                      </a:r>
                      <a:r>
                        <a:rPr lang="en-US" sz="10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GoI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20.39 Lakhs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Development - Mobile and Web application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80% wo</a:t>
                      </a:r>
                      <a:r>
                        <a:rPr lang="en-US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rk has been completed.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TDR System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Urban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 Lakhs</a:t>
                      </a:r>
                      <a:endParaRPr sz="100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DRC issuance &amp; transfers operational.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 is in progress.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&amp; Maintenance.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4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"/>
          <p:cNvSpPr txBox="1"/>
          <p:nvPr/>
        </p:nvSpPr>
        <p:spPr>
          <a:xfrm>
            <a:off x="137160" y="102395"/>
            <a:ext cx="8892540" cy="48981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Projects </a:t>
            </a:r>
            <a:endParaRPr/>
          </a:p>
        </p:txBody>
      </p:sp>
      <p:sp>
        <p:nvSpPr>
          <p:cNvPr id="300" name="Google Shape;300;p5"/>
          <p:cNvSpPr txBox="1">
            <a:spLocks noGrp="1"/>
          </p:cNvSpPr>
          <p:nvPr>
            <p:ph type="sldNum" idx="12"/>
          </p:nvPr>
        </p:nvSpPr>
        <p:spPr>
          <a:xfrm>
            <a:off x="6795701" y="476726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9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1" name="Google Shape;301;p5"/>
          <p:cNvGraphicFramePr/>
          <p:nvPr>
            <p:extLst>
              <p:ext uri="{D42A27DB-BD31-4B8C-83A1-F6EECF244321}">
                <p14:modId xmlns:p14="http://schemas.microsoft.com/office/powerpoint/2010/main" val="1414193443"/>
              </p:ext>
            </p:extLst>
          </p:nvPr>
        </p:nvGraphicFramePr>
        <p:xfrm>
          <a:off x="137160" y="592205"/>
          <a:ext cx="8869700" cy="4450900"/>
        </p:xfrm>
        <a:graphic>
          <a:graphicData uri="http://schemas.openxmlformats.org/drawingml/2006/table">
            <a:tbl>
              <a:tblPr>
                <a:noFill/>
                <a:tableStyleId>{FE6A362D-EF2E-49FF-A73B-C6A77E459770}</a:tableStyleId>
              </a:tblPr>
              <a:tblGrid>
                <a:gridCol w="41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No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Cost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Status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Work Completion / Plan ahead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CROPS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P&amp;RD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35.06 Lakhs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GIS-Enabled system designed for Indore. CR is in progress.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&amp; Maintenance.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ALPASS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Urban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1.55 + 1.64 Cr.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 &amp; </a:t>
                      </a:r>
                      <a:r>
                        <a:rPr lang="en-US" sz="10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Updation</a:t>
                      </a: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are in progress.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&amp; Maintenance.</a:t>
                      </a:r>
                      <a:endParaRPr sz="100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Building Notice Portal for Indore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IMC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8.96 Lakhs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 under progress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app under </a:t>
                      </a:r>
                      <a:r>
                        <a:rPr lang="en-US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UAT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Urban Survey MP (Map Correction)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Department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Data Updation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 ORI data into .tpk format, create sector-wise maps, and perform map corrections using district GT to ensure spatial accuracy. Upload the processed and validated maps to the SAARA portal for centralized access, management, and analysis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town-10 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sector-115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 completed-38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 correction - 26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uploaded on SAARA- 26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1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Forest to Revenue Village conversion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Department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1.12 cr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Enable tentative boundary (BND) creation, followed by district-level map verification to ensure spatial accuracy and consistency. Support parcel map creation and parcel-wise verification to validate land records and ensure precise geospatial mapping for administrative use.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District - 29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FRA Villages (Data Received) -762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(Interim Village Boundary) -762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village boundary by patwari verification - 631</a:t>
                      </a:r>
                      <a:b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 Final correction ( patwari) -154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1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Nakshavihin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,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Majra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-Tola,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Trutipurn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,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Chakbandi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Revenue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1.13 Lakhs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Targeted Villages -</a:t>
                      </a:r>
                      <a:r>
                        <a:rPr lang="en-US" sz="1000" b="1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280 </a:t>
                      </a:r>
                      <a:r>
                        <a:rPr lang="en-US" sz="1000" b="1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Villlages</a:t>
                      </a:r>
                      <a:r>
                        <a:rPr lang="en-US" sz="1000" b="1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Satellite based digitized map handover to district- </a:t>
                      </a:r>
                      <a:r>
                        <a:rPr lang="en-US" sz="1000" b="1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280 Villages  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Second level verification completed </a:t>
                      </a: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– 19 Villages 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 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575845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26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"/>
          <p:cNvSpPr txBox="1"/>
          <p:nvPr/>
        </p:nvSpPr>
        <p:spPr>
          <a:xfrm>
            <a:off x="137160" y="102395"/>
            <a:ext cx="8892540" cy="48981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Projects </a:t>
            </a:r>
            <a:endParaRPr/>
          </a:p>
        </p:txBody>
      </p:sp>
      <p:sp>
        <p:nvSpPr>
          <p:cNvPr id="307" name="Google Shape;307;p6"/>
          <p:cNvSpPr txBox="1">
            <a:spLocks noGrp="1"/>
          </p:cNvSpPr>
          <p:nvPr>
            <p:ph type="sldNum" idx="12"/>
          </p:nvPr>
        </p:nvSpPr>
        <p:spPr>
          <a:xfrm>
            <a:off x="6795701" y="476726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9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8" name="Google Shape;308;p6"/>
          <p:cNvGraphicFramePr/>
          <p:nvPr>
            <p:extLst>
              <p:ext uri="{D42A27DB-BD31-4B8C-83A1-F6EECF244321}">
                <p14:modId xmlns:p14="http://schemas.microsoft.com/office/powerpoint/2010/main" val="3355865144"/>
              </p:ext>
            </p:extLst>
          </p:nvPr>
        </p:nvGraphicFramePr>
        <p:xfrm>
          <a:off x="137160" y="584830"/>
          <a:ext cx="8869700" cy="4474187"/>
        </p:xfrm>
        <a:graphic>
          <a:graphicData uri="http://schemas.openxmlformats.org/drawingml/2006/table">
            <a:tbl>
              <a:tblPr>
                <a:noFill/>
                <a:tableStyleId>{FE6A362D-EF2E-49FF-A73B-C6A77E459770}</a:tableStyleId>
              </a:tblPr>
              <a:tblGrid>
                <a:gridCol w="41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1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S. No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Project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Department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Project Cost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Current Status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% of Work Completion / Plan ahead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12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23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Wetland (Ramsar Site)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EPCO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32.26 Lakhs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Wetland Portal is operational, along with the Quarterly Land Use (LU) Change Report system.</a:t>
                      </a:r>
                      <a:b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</a:br>
                      <a:b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</a:b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Under Development: Mobile App under UAT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90% completed.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Quarterly report preparation is in progress. 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12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24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Rural Road (PMGSY) </a:t>
                      </a:r>
                      <a:r>
                        <a:rPr lang="en-US" sz="10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Updation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Panchayat and Rural Development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13.37 Lakhs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GIS Executives have been deployed in MPRRDA for regular </a:t>
                      </a:r>
                      <a:r>
                        <a:rPr lang="en-US" sz="10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updation</a:t>
                      </a:r>
                      <a:r>
                        <a:rPr lang="en-US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PMGSY roads &amp; analysis.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830243573"/>
                  </a:ext>
                </a:extLst>
              </a:tr>
              <a:tr h="39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25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Simhasth Mobile App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District Admin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GIS-based app under trial run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26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KBL Drone survey</a:t>
                      </a:r>
                      <a:endParaRPr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Ken Betwa Link Project Authority - </a:t>
                      </a:r>
                      <a:r>
                        <a:rPr lang="en-US" sz="1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GoI</a:t>
                      </a: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-</a:t>
                      </a:r>
                      <a:endParaRPr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The drone survey for the entire alignment has been completed, and the data has been handed over to the department.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Rectifications and refinements are currently being carried out based on the discussion with the Authority.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1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27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Sand mine replenishment study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Mining Corporation 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-</a:t>
                      </a:r>
                      <a:endParaRPr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Mining Department has selected five districts initially Gwalior,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Sidhi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,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Singrauli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,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Sehore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, and Khargone for Sand Replenishment study.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Drone Survey completed for 5 districts.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Data Analysis and report preparations are is in progress.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53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Narmada River Drone Survey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DST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Cr. 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Drone Field Survey has been completed.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Processing is in progress.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Drone Survey = 99.99%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Image Processing = 70%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Digitization = 30%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25976991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 txBox="1"/>
          <p:nvPr/>
        </p:nvSpPr>
        <p:spPr>
          <a:xfrm>
            <a:off x="137160" y="102395"/>
            <a:ext cx="8892540" cy="48981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Projects </a:t>
            </a:r>
            <a:endParaRPr/>
          </a:p>
        </p:txBody>
      </p:sp>
      <p:sp>
        <p:nvSpPr>
          <p:cNvPr id="314" name="Google Shape;314;p7"/>
          <p:cNvSpPr txBox="1">
            <a:spLocks noGrp="1"/>
          </p:cNvSpPr>
          <p:nvPr>
            <p:ph type="sldNum" idx="12"/>
          </p:nvPr>
        </p:nvSpPr>
        <p:spPr>
          <a:xfrm>
            <a:off x="6795701" y="476726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9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" name="Google Shape;315;p7"/>
          <p:cNvGraphicFramePr/>
          <p:nvPr>
            <p:extLst>
              <p:ext uri="{D42A27DB-BD31-4B8C-83A1-F6EECF244321}">
                <p14:modId xmlns:p14="http://schemas.microsoft.com/office/powerpoint/2010/main" val="968594629"/>
              </p:ext>
            </p:extLst>
          </p:nvPr>
        </p:nvGraphicFramePr>
        <p:xfrm>
          <a:off x="148590" y="585176"/>
          <a:ext cx="8869700" cy="3460616"/>
        </p:xfrm>
        <a:graphic>
          <a:graphicData uri="http://schemas.openxmlformats.org/drawingml/2006/table">
            <a:tbl>
              <a:tblPr>
                <a:noFill/>
                <a:tableStyleId>{FE6A362D-EF2E-49FF-A73B-C6A77E459770}</a:tableStyleId>
              </a:tblPr>
              <a:tblGrid>
                <a:gridCol w="41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2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S. No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Project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Department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Project Cost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Current Status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% of Work Completion / Plan ahead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7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29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Kanh</a:t>
                      </a: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River Drone Survey &amp; </a:t>
                      </a:r>
                      <a:r>
                        <a:rPr lang="en-US" sz="1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Shahpura</a:t>
                      </a: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Lake Survey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IMC &amp; BMC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-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Indore – </a:t>
                      </a:r>
                      <a:r>
                        <a:rPr lang="en-US" sz="1000" u="none" strike="noStrike" cap="none" dirty="0" err="1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Kanh</a:t>
                      </a: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river survey is in progress.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lang="en-US" sz="1000" b="1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Bhopal – </a:t>
                      </a:r>
                      <a:r>
                        <a:rPr lang="en-US" sz="1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Shahpura</a:t>
                      </a: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lake survey has been completed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34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30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Drone procurement and lab establishment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MPSEDC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-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The RFP for procurement of five drones has been floated.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u="none" strike="noStrike" cap="none" dirty="0">
                        <a:latin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3 Drone (RGB Sensor) – 49.56 Lakhs (L1 bidder)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1 Drone MSS and 1 Drone LiDAR – 38.154 Lakhs (L1)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LoI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issued.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By 31</a:t>
                      </a:r>
                      <a:r>
                        <a:rPr lang="en-US" sz="1000" b="0" i="0" u="none" strike="noStrike" baseline="30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 August drone may be delivered.</a:t>
                      </a:r>
                      <a:endParaRPr sz="1000" b="0" i="0" u="none" strike="noStrik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31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SMS Services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Multi-Department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Service</a:t>
                      </a:r>
                      <a:endParaRPr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Services provide to 17 department , 24 directorate, 50 Districts and 56 Government organization = 147 total 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102 Cr SMS has been sent in FY 2025-26</a:t>
                      </a:r>
                      <a:endParaRPr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32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WhatsApp Services</a:t>
                      </a:r>
                      <a:endParaRPr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Multi-Department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endParaRPr sz="1000" b="0" i="0" u="none" strike="noStrik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Service</a:t>
                      </a:r>
                      <a:endParaRPr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Current Status Department On-boarded: 49 </a:t>
                      </a:r>
                      <a:br>
                        <a:rPr lang="en-US" sz="100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</a:br>
                      <a:r>
                        <a:rPr lang="en-US" sz="100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Current Status Chatbot Live: 12 </a:t>
                      </a:r>
                      <a:endParaRPr sz="1000"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On Going Request for Department Onboarding : 5 </a:t>
                      </a:r>
                      <a:endParaRPr sz="1000"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15 Cr Notification has been sent in FY 2025-26</a:t>
                      </a:r>
                      <a:endParaRPr sz="1000" b="0" i="0" u="none" strike="noStrik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 txBox="1"/>
          <p:nvPr/>
        </p:nvSpPr>
        <p:spPr>
          <a:xfrm>
            <a:off x="137160" y="102395"/>
            <a:ext cx="8892540" cy="48981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Projects With COE</a:t>
            </a:r>
            <a:endParaRPr/>
          </a:p>
        </p:txBody>
      </p:sp>
      <p:sp>
        <p:nvSpPr>
          <p:cNvPr id="328" name="Google Shape;328;p8"/>
          <p:cNvSpPr txBox="1">
            <a:spLocks noGrp="1"/>
          </p:cNvSpPr>
          <p:nvPr>
            <p:ph type="sldNum" idx="12"/>
          </p:nvPr>
        </p:nvSpPr>
        <p:spPr>
          <a:xfrm>
            <a:off x="6795701" y="476726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9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9" name="Google Shape;329;p8"/>
          <p:cNvGraphicFramePr/>
          <p:nvPr>
            <p:extLst>
              <p:ext uri="{D42A27DB-BD31-4B8C-83A1-F6EECF244321}">
                <p14:modId xmlns:p14="http://schemas.microsoft.com/office/powerpoint/2010/main" val="247709266"/>
              </p:ext>
            </p:extLst>
          </p:nvPr>
        </p:nvGraphicFramePr>
        <p:xfrm>
          <a:off x="137160" y="641555"/>
          <a:ext cx="8892550" cy="4270925"/>
        </p:xfrm>
        <a:graphic>
          <a:graphicData uri="http://schemas.openxmlformats.org/drawingml/2006/table">
            <a:tbl>
              <a:tblPr>
                <a:noFill/>
                <a:tableStyleId>{FE6A362D-EF2E-49FF-A73B-C6A77E459770}</a:tableStyleId>
              </a:tblPr>
              <a:tblGrid>
                <a:gridCol w="42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No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Entity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 Description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 Information Management System-MPHIDB</a:t>
                      </a:r>
                      <a:endParaRPr sz="10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Urban Development and Housing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 approximately 2 lakh MPHIDB property layout maps from CAD, PDF, and hardcopy formats into a georeferenced GIS database, enabling accurate spatial analysis and centralized property management. Develop integrated GIS-based web and mobile applications with advanced search, decision-support tools, lease management integration, land identification and scheme planning capabilities, along with dashboards and connectivity to MPBhulekh, ALPASS, PIMS, TDR, and CROPS systems.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Tribal WMS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Tribal Affairs Department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 a centralized Web Management System (WMS) with geo-fencing capabilities to monitor tribal development projects, enabling secure, location-validated field updates and progress tracking. Provide real-time visibility of project activities through authenticated access, ensuring effective monitoring and management of on-ground implementation in tribal areas.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District WMS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of Science and Technology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 a centralized Web Management System (WMS) for managing and monitoring district-level projects with geo-fenced project boundaries, secure authentication, and role-based access control. 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Ayush WMS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Ayush Department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 a centralized Web Management System (WMS) for managing and monitoring AYUSH projects and healthcare activities, with geo-fenced boundaries for facilities and field operations. Enable secure, role-based access, location-validated field updates, and real-time tracking of service delivery and on-ground AYUSH initiatives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Forest right act , DHARA-3.2 &amp; dhara-1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of trible development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 a mobile application for applicants and Forest Rights Committees (FRCs), along with a GIS-enabled web module for data collection and management of cases under Dhara-1 and Dhara-3.2 of the Forest Rights Act. Process satellite imagery covering approximately 1.08 lakh sq. km and create a web-based platform to provide public access to geospatial evidence, supporting transparency and documentary verification of FRA applications.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IGRS-GIS Enabled Guideline for Sampada 2.0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of Commercial Tax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 API-based integration of ULB, Ward, Tehsil, and District boundary changes with standardized update protocols in </a:t>
                      </a:r>
                      <a:r>
                        <a:rPr lang="en-US" sz="1000" u="none" strike="noStrik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Sampada</a:t>
                      </a:r>
                      <a:r>
                        <a:rPr lang="en-US" sz="1000" u="none" strike="noStrik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2.0, ensuring seamless synchronization of administrative boundary revisions.</a:t>
                      </a:r>
                      <a:endParaRPr sz="10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700" marR="3700" marT="370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"/>
          <p:cNvSpPr txBox="1"/>
          <p:nvPr/>
        </p:nvSpPr>
        <p:spPr>
          <a:xfrm>
            <a:off x="137160" y="102395"/>
            <a:ext cx="8892540" cy="48981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Projects With COE</a:t>
            </a:r>
            <a:endParaRPr/>
          </a:p>
        </p:txBody>
      </p:sp>
      <p:sp>
        <p:nvSpPr>
          <p:cNvPr id="335" name="Google Shape;335;p9"/>
          <p:cNvSpPr txBox="1">
            <a:spLocks noGrp="1"/>
          </p:cNvSpPr>
          <p:nvPr>
            <p:ph type="sldNum" idx="12"/>
          </p:nvPr>
        </p:nvSpPr>
        <p:spPr>
          <a:xfrm>
            <a:off x="6795701" y="476726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9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6" name="Google Shape;336;p9"/>
          <p:cNvGraphicFramePr/>
          <p:nvPr>
            <p:extLst>
              <p:ext uri="{D42A27DB-BD31-4B8C-83A1-F6EECF244321}">
                <p14:modId xmlns:p14="http://schemas.microsoft.com/office/powerpoint/2010/main" val="1377144104"/>
              </p:ext>
            </p:extLst>
          </p:nvPr>
        </p:nvGraphicFramePr>
        <p:xfrm>
          <a:off x="137160" y="662869"/>
          <a:ext cx="8892550" cy="4307600"/>
        </p:xfrm>
        <a:graphic>
          <a:graphicData uri="http://schemas.openxmlformats.org/drawingml/2006/table">
            <a:tbl>
              <a:tblPr>
                <a:noFill/>
                <a:tableStyleId>{FE6A362D-EF2E-49FF-A73B-C6A77E459770}</a:tableStyleId>
              </a:tblPr>
              <a:tblGrid>
                <a:gridCol w="42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No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Entity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 Description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IGRS-GIS Enabled Guideline for Sampada 2.0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of Commercial Tax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 API-based integration of ULB, Ward, Tehsil, and District boundary changes with standardized update protocols in Sampada 2.0, ensuring seamless synchronization of administrative boundary revisions.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 based Layout Management Portal (MSME)</a:t>
                      </a:r>
                      <a:endParaRPr sz="10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of Micro, Small &amp; Medium Enterprises (MSME)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GIS-based Layout Management Portal is a digital platform that uses geospatial technology to plan, manage, visualize, and monitor land layouts (such as residential plots, industrial areas, infrastructure layouts, etc.) on an interactive map. For a GIS-based Layout Management Portal, location-based allotment by selecting individual land parcels within industrial layout boundaries with different yypes of status vacant/allotted and owner information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SAARA (SVAMITVA, GIRDAVARI, Dharnadhikar, Rural &amp; Urban Survey)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Department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API and services from ArcGIS Server to consume within the different modules of the SAARA application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Anupppur WMS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Administration Department - General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 a centralized Work Management System (WMS) to manage and monitor projects with geo-fenced boundaries, map-based polygon creation tools, and secure user authentication. Enable real-time project tracking through location-based updates, progress monitoring, media uploads, and comprehensive visibility of field activities for efficient project management.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CCTNS (E-Rakshak App)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Department, Madhya Pradesh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 a centralized GIS-enabled system for geo-tagging police stations, mapping their precise locations, and integrating criminal databases with geographic information for enhanced spatial analysis.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MMSKY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 of Skill Development and Employment, Madhya Pradesh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 a GIS-based attendance system (MMSKY) with geo-fencing, GPS tracking, and face authentication to ensure secure and location-verified attendance marking through an Android mobile application. Enable real-time data synchronization via backend APIs for accurate employee tracking, monitoring, and reporting.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 Gas Distribution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Food and civil supply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With COE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strike="noStrik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GIS-based pipeline system to mark Right of Use (ROU), enable </a:t>
                      </a:r>
                      <a:r>
                        <a:rPr lang="en-US" sz="1000" u="none" strike="noStrik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khasra</a:t>
                      </a:r>
                      <a:r>
                        <a:rPr lang="en-US" sz="1000" u="none" strike="noStrik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-based land selection for NOC using land record services, and integrate with ALPASS for seamless data exchange.</a:t>
                      </a:r>
                      <a:endParaRPr sz="10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75" marR="4675" marT="467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0" descr="A computer chip on a map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>
            <a:spLocks noGrp="1"/>
          </p:cNvSpPr>
          <p:nvPr>
            <p:ph type="ctrTitle"/>
          </p:nvPr>
        </p:nvSpPr>
        <p:spPr>
          <a:xfrm>
            <a:off x="372674" y="1419608"/>
            <a:ext cx="5811934" cy="83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Thanks 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216411" y="4229315"/>
            <a:ext cx="7768127" cy="49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 Medium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Department of Science &amp; Technology , </a:t>
            </a:r>
            <a:endParaRPr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 Medium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Government of Madhya Pradesh</a:t>
            </a: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4" name="Google Shape;344;p10" descr="A circular emblem with a lion and a tre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411" y="245360"/>
            <a:ext cx="762002" cy="76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2276</Words>
  <Application>Microsoft Macintosh PowerPoint</Application>
  <PresentationFormat>On-screen Show (16:9)</PresentationFormat>
  <Paragraphs>474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Barlow Semi Condensed Medium</vt:lpstr>
      <vt:lpstr>Poppins</vt:lpstr>
      <vt:lpstr>Fjalla One</vt:lpstr>
      <vt:lpstr>Arimo Medium</vt:lpstr>
      <vt:lpstr>Aptos</vt:lpstr>
      <vt:lpstr>Calibri</vt:lpstr>
      <vt:lpstr>Technology Consulting by Slidesgo</vt:lpstr>
      <vt:lpstr>Office Theme</vt:lpstr>
      <vt:lpstr>MPSSDI – GIS Projects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MPSSDI – GIS Projects</dc:title>
  <dc:creator>Himanshu Patkar</dc:creator>
  <cp:lastModifiedBy>Rakesh Dubey</cp:lastModifiedBy>
  <cp:revision>11</cp:revision>
  <dcterms:modified xsi:type="dcterms:W3CDTF">2026-07-27T13:16:54Z</dcterms:modified>
</cp:coreProperties>
</file>